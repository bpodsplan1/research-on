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3" r:id="rId1"/>
  </p:sldMasterIdLst>
  <p:notesMasterIdLst>
    <p:notesMasterId r:id="rId15"/>
  </p:notesMasterIdLst>
  <p:sldIdLst>
    <p:sldId id="256" r:id="rId14"/>
    <p:sldId id="257" r:id="rId13"/>
    <p:sldId id="258" r:id="rId12"/>
    <p:sldId id="259" r:id="rId11"/>
    <p:sldId id="260" r:id="rId10"/>
    <p:sldId id="261" r:id="rId9"/>
    <p:sldId id="262" r:id="rId8"/>
    <p:sldId id="263" r:id="rId7"/>
    <p:sldId id="264" r:id="rId6"/>
    <p:sldId id="265" r:id="rId5"/>
    <p:sldId id="266" r:id="rId4"/>
    <p:sldId id="267" r:id="rId3"/>
    <p:sldId id="268" r:id="rId2"/>
    <p:sldId id="269" r:id="rId28"/>
    <p:sldId id="270" r:id="rId29"/>
  </p:sldIdLst>
  <p:sldSz cx="12192000" cy="6858000"/>
  <p:notesSz cx="6797675" cy="9926638"/>
  <p:embeddedFontLst>
    <p:embeddedFont>
      <p:font typeface="Pretendard SemiBold" panose="020B0600000101010101" charset="-127"/>
      <p:bold r:id="rId16"/>
    </p:embeddedFont>
    <p:embeddedFont>
      <p:font typeface="Pretendard" panose="02000503000000020004" pitchFamily="50" charset="-127"/>
      <p:regular r:id="rId17"/>
      <p:bold r:id="rId18"/>
    </p:embeddedFont>
    <p:embeddedFont>
      <p:font typeface="Pretendard ExtraBold" panose="02000903000000020004" pitchFamily="50" charset="-127"/>
      <p:bold r:id="rId19"/>
    </p:embeddedFont>
    <p:embeddedFont>
      <p:font typeface="Pretendard Light" panose="02000403000000020004" pitchFamily="50" charset="-127"/>
      <p:regular r:id="rId20"/>
    </p:embeddedFont>
    <p:embeddedFont>
      <p:font typeface="Pretendard Medium" panose="02000603000000020004" pitchFamily="50" charset="-127"/>
      <p:regular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 userDrawn="1">
          <p15:clr>
            <a:srgbClr val="A4A3A4"/>
          </p15:clr>
        </p15:guide>
        <p15:guide id="2" pos="7197" userDrawn="1">
          <p15:clr>
            <a:srgbClr val="A4A3A4"/>
          </p15:clr>
        </p15:guide>
        <p15:guide id="3" pos="982" userDrawn="1">
          <p15:clr>
            <a:srgbClr val="A4A3A4"/>
          </p15:clr>
        </p15:guide>
        <p15:guide id="5" orient="horz" pos="232" userDrawn="1">
          <p15:clr>
            <a:srgbClr val="A4A3A4"/>
          </p15:clr>
        </p15:guide>
        <p15:guide id="8" orient="horz" pos="3113" userDrawn="1">
          <p15:clr>
            <a:srgbClr val="A4A3A4"/>
          </p15:clr>
        </p15:guide>
        <p15:guide id="9" pos="1028" userDrawn="1">
          <p15:clr>
            <a:srgbClr val="A4A3A4"/>
          </p15:clr>
        </p15:guide>
        <p15:guide id="10" pos="824" userDrawn="1">
          <p15:clr>
            <a:srgbClr val="A4A3A4"/>
          </p15:clr>
        </p15:guide>
        <p15:guide id="11" orient="horz" pos="4133" userDrawn="1">
          <p15:clr>
            <a:srgbClr val="A4A3A4"/>
          </p15:clr>
        </p15:guide>
        <p15:guide id="12" orient="horz" pos="5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6BFF"/>
    <a:srgbClr val="1F2A44"/>
    <a:srgbClr val="F5F6F8"/>
    <a:srgbClr val="2296F6"/>
    <a:srgbClr val="F97316"/>
    <a:srgbClr val="FFF7ED"/>
    <a:srgbClr val="F9FAFB"/>
    <a:srgbClr val="F26F30"/>
    <a:srgbClr val="FFD5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3830" autoAdjust="0"/>
  </p:normalViewPr>
  <p:slideViewPr>
    <p:cSldViewPr snapToGrid="0" showGuides="1">
      <p:cViewPr varScale="1">
        <p:scale>
          <a:sx n="110" d="100"/>
          <a:sy n="110" d="100"/>
        </p:scale>
        <p:origin x="978" y="114"/>
      </p:cViewPr>
      <p:guideLst>
        <p:guide orient="horz" pos="1457"/>
        <p:guide pos="7197"/>
        <p:guide pos="982"/>
        <p:guide orient="horz" pos="232"/>
        <p:guide orient="horz" pos="3113"/>
        <p:guide pos="1028"/>
        <p:guide pos="824"/>
        <p:guide orient="horz" pos="4133"/>
        <p:guide orient="horz" pos="59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>
        <p:scale>
          <a:sx n="75" d="100"/>
          <a:sy n="75" d="100"/>
        </p:scale>
        <p:origin x="4026" y="1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13" Type="http://schemas.openxmlformats.org/officeDocument/2006/relationships/slide" Target="slides/slide2.xml"/><Relationship Id="rId14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4.xml"/><Relationship Id="rId29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5550" tIns="47776" rIns="95550" bIns="47776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5"/>
          </a:xfrm>
          <a:prstGeom prst="rect">
            <a:avLst/>
          </a:prstGeom>
        </p:spPr>
        <p:txBody>
          <a:bodyPr vert="horz" lIns="95550" tIns="47776" rIns="95550" bIns="47776" rtlCol="0"/>
          <a:lstStyle>
            <a:lvl1pPr algn="r">
              <a:defRPr sz="1300"/>
            </a:lvl1pPr>
          </a:lstStyle>
          <a:p>
            <a:fld id="{9BAAA546-D43D-47CC-B25D-0C288D87569B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59982" y="1279132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0" tIns="47776" rIns="95550" bIns="4777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5550" tIns="47776" rIns="95550" bIns="477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5550" tIns="47776" rIns="95550" bIns="47776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4"/>
          </a:xfrm>
          <a:prstGeom prst="rect">
            <a:avLst/>
          </a:prstGeom>
        </p:spPr>
        <p:txBody>
          <a:bodyPr vert="horz" lIns="95550" tIns="47776" rIns="95550" bIns="47776" rtlCol="0" anchor="b"/>
          <a:lstStyle>
            <a:lvl1pPr algn="r">
              <a:defRPr sz="1300"/>
            </a:lvl1pPr>
          </a:lstStyle>
          <a:p>
            <a:fld id="{41B03A8D-517D-4625-8E0B-26A3BB5BDC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61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표지">
    <p:bg>
      <p:bgPr>
        <a:solidFill>
          <a:srgbClr val="229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 4"/>
          <p:cNvSpPr/>
          <p:nvPr userDrawn="1"/>
        </p:nvSpPr>
        <p:spPr>
          <a:xfrm>
            <a:off x="7641132" y="1955800"/>
            <a:ext cx="6307736" cy="3442695"/>
          </a:xfrm>
          <a:custGeom>
            <a:avLst/>
            <a:gdLst>
              <a:gd name="connsiteX0" fmla="*/ 3035561 w 11123563"/>
              <a:gd name="connsiteY0" fmla="*/ 1074103 h 6071122"/>
              <a:gd name="connsiteX1" fmla="*/ 4997019 w 11123563"/>
              <a:gd name="connsiteY1" fmla="*/ 3035561 h 6071122"/>
              <a:gd name="connsiteX2" fmla="*/ 3035561 w 11123563"/>
              <a:gd name="connsiteY2" fmla="*/ 4997019 h 6071122"/>
              <a:gd name="connsiteX3" fmla="*/ 1074103 w 11123563"/>
              <a:gd name="connsiteY3" fmla="*/ 3035561 h 6071122"/>
              <a:gd name="connsiteX4" fmla="*/ 3035561 w 11123563"/>
              <a:gd name="connsiteY4" fmla="*/ 1074103 h 6071122"/>
              <a:gd name="connsiteX5" fmla="*/ 8088002 w 11123563"/>
              <a:gd name="connsiteY5" fmla="*/ 1074103 h 6071122"/>
              <a:gd name="connsiteX6" fmla="*/ 10049460 w 11123563"/>
              <a:gd name="connsiteY6" fmla="*/ 3035561 h 6071122"/>
              <a:gd name="connsiteX7" fmla="*/ 8088002 w 11123563"/>
              <a:gd name="connsiteY7" fmla="*/ 4997019 h 6071122"/>
              <a:gd name="connsiteX8" fmla="*/ 6126544 w 11123563"/>
              <a:gd name="connsiteY8" fmla="*/ 3035561 h 6071122"/>
              <a:gd name="connsiteX9" fmla="*/ 8088002 w 11123563"/>
              <a:gd name="connsiteY9" fmla="*/ 1074103 h 6071122"/>
              <a:gd name="connsiteX10" fmla="*/ 8088002 w 11123563"/>
              <a:gd name="connsiteY10" fmla="*/ 0 h 6071122"/>
              <a:gd name="connsiteX11" fmla="*/ 5570867 w 11123563"/>
              <a:gd name="connsiteY11" fmla="*/ 1338350 h 6071122"/>
              <a:gd name="connsiteX12" fmla="*/ 5561782 w 11123563"/>
              <a:gd name="connsiteY12" fmla="*/ 1353306 h 6071122"/>
              <a:gd name="connsiteX13" fmla="*/ 5552696 w 11123563"/>
              <a:gd name="connsiteY13" fmla="*/ 1338350 h 6071122"/>
              <a:gd name="connsiteX14" fmla="*/ 3035561 w 11123563"/>
              <a:gd name="connsiteY14" fmla="*/ 0 h 6071122"/>
              <a:gd name="connsiteX15" fmla="*/ 0 w 11123563"/>
              <a:gd name="connsiteY15" fmla="*/ 3035561 h 6071122"/>
              <a:gd name="connsiteX16" fmla="*/ 3035561 w 11123563"/>
              <a:gd name="connsiteY16" fmla="*/ 6071122 h 6071122"/>
              <a:gd name="connsiteX17" fmla="*/ 5552696 w 11123563"/>
              <a:gd name="connsiteY17" fmla="*/ 4732772 h 6071122"/>
              <a:gd name="connsiteX18" fmla="*/ 5561782 w 11123563"/>
              <a:gd name="connsiteY18" fmla="*/ 4717817 h 6071122"/>
              <a:gd name="connsiteX19" fmla="*/ 5570867 w 11123563"/>
              <a:gd name="connsiteY19" fmla="*/ 4732772 h 6071122"/>
              <a:gd name="connsiteX20" fmla="*/ 8088002 w 11123563"/>
              <a:gd name="connsiteY20" fmla="*/ 6071122 h 6071122"/>
              <a:gd name="connsiteX21" fmla="*/ 11123563 w 11123563"/>
              <a:gd name="connsiteY21" fmla="*/ 3035561 h 6071122"/>
              <a:gd name="connsiteX22" fmla="*/ 8088002 w 11123563"/>
              <a:gd name="connsiteY22" fmla="*/ 0 h 6071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123563" h="6071122">
                <a:moveTo>
                  <a:pt x="3035561" y="1074103"/>
                </a:moveTo>
                <a:cubicBezTo>
                  <a:pt x="4118844" y="1074103"/>
                  <a:pt x="4997019" y="1952278"/>
                  <a:pt x="4997019" y="3035561"/>
                </a:cubicBezTo>
                <a:cubicBezTo>
                  <a:pt x="4997019" y="4118844"/>
                  <a:pt x="4118844" y="4997019"/>
                  <a:pt x="3035561" y="4997019"/>
                </a:cubicBezTo>
                <a:cubicBezTo>
                  <a:pt x="1952278" y="4997019"/>
                  <a:pt x="1074103" y="4118844"/>
                  <a:pt x="1074103" y="3035561"/>
                </a:cubicBezTo>
                <a:cubicBezTo>
                  <a:pt x="1074103" y="1952278"/>
                  <a:pt x="1952278" y="1074103"/>
                  <a:pt x="3035561" y="1074103"/>
                </a:cubicBezTo>
                <a:close/>
                <a:moveTo>
                  <a:pt x="8088002" y="1074103"/>
                </a:moveTo>
                <a:cubicBezTo>
                  <a:pt x="9171285" y="1074103"/>
                  <a:pt x="10049460" y="1952278"/>
                  <a:pt x="10049460" y="3035561"/>
                </a:cubicBezTo>
                <a:cubicBezTo>
                  <a:pt x="10049460" y="4118844"/>
                  <a:pt x="9171285" y="4997019"/>
                  <a:pt x="8088002" y="4997019"/>
                </a:cubicBezTo>
                <a:cubicBezTo>
                  <a:pt x="7004719" y="4997019"/>
                  <a:pt x="6126544" y="4118844"/>
                  <a:pt x="6126544" y="3035561"/>
                </a:cubicBezTo>
                <a:cubicBezTo>
                  <a:pt x="6126544" y="1952278"/>
                  <a:pt x="7004719" y="1074103"/>
                  <a:pt x="8088002" y="1074103"/>
                </a:cubicBezTo>
                <a:close/>
                <a:moveTo>
                  <a:pt x="8088002" y="0"/>
                </a:moveTo>
                <a:cubicBezTo>
                  <a:pt x="7040193" y="0"/>
                  <a:pt x="6116380" y="530886"/>
                  <a:pt x="5570867" y="1338350"/>
                </a:cubicBezTo>
                <a:lnTo>
                  <a:pt x="5561782" y="1353306"/>
                </a:lnTo>
                <a:lnTo>
                  <a:pt x="5552696" y="1338350"/>
                </a:lnTo>
                <a:cubicBezTo>
                  <a:pt x="5007184" y="530886"/>
                  <a:pt x="4083370" y="0"/>
                  <a:pt x="3035561" y="0"/>
                </a:cubicBezTo>
                <a:cubicBezTo>
                  <a:pt x="1359067" y="0"/>
                  <a:pt x="0" y="1359067"/>
                  <a:pt x="0" y="3035561"/>
                </a:cubicBezTo>
                <a:cubicBezTo>
                  <a:pt x="0" y="4712055"/>
                  <a:pt x="1359067" y="6071122"/>
                  <a:pt x="3035561" y="6071122"/>
                </a:cubicBezTo>
                <a:cubicBezTo>
                  <a:pt x="4083370" y="6071122"/>
                  <a:pt x="5007184" y="5540237"/>
                  <a:pt x="5552696" y="4732772"/>
                </a:cubicBezTo>
                <a:lnTo>
                  <a:pt x="5561782" y="4717817"/>
                </a:lnTo>
                <a:lnTo>
                  <a:pt x="5570867" y="4732772"/>
                </a:lnTo>
                <a:cubicBezTo>
                  <a:pt x="6116380" y="5540237"/>
                  <a:pt x="7040193" y="6071122"/>
                  <a:pt x="8088002" y="6071122"/>
                </a:cubicBezTo>
                <a:cubicBezTo>
                  <a:pt x="9764496" y="6071122"/>
                  <a:pt x="11123563" y="4712055"/>
                  <a:pt x="11123563" y="3035561"/>
                </a:cubicBezTo>
                <a:cubicBezTo>
                  <a:pt x="11123563" y="1359067"/>
                  <a:pt x="9764496" y="0"/>
                  <a:pt x="8088002" y="0"/>
                </a:cubicBezTo>
                <a:close/>
              </a:path>
            </a:pathLst>
          </a:custGeom>
          <a:gradFill>
            <a:gsLst>
              <a:gs pos="0">
                <a:srgbClr val="2296F6"/>
              </a:gs>
              <a:gs pos="100000">
                <a:srgbClr val="C9E5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1676400" y="1955800"/>
            <a:ext cx="6307736" cy="3442695"/>
          </a:xfrm>
          <a:custGeom>
            <a:avLst/>
            <a:gdLst>
              <a:gd name="connsiteX0" fmla="*/ 3035561 w 11123563"/>
              <a:gd name="connsiteY0" fmla="*/ 1074103 h 6071122"/>
              <a:gd name="connsiteX1" fmla="*/ 4997019 w 11123563"/>
              <a:gd name="connsiteY1" fmla="*/ 3035561 h 6071122"/>
              <a:gd name="connsiteX2" fmla="*/ 3035561 w 11123563"/>
              <a:gd name="connsiteY2" fmla="*/ 4997019 h 6071122"/>
              <a:gd name="connsiteX3" fmla="*/ 1074103 w 11123563"/>
              <a:gd name="connsiteY3" fmla="*/ 3035561 h 6071122"/>
              <a:gd name="connsiteX4" fmla="*/ 3035561 w 11123563"/>
              <a:gd name="connsiteY4" fmla="*/ 1074103 h 6071122"/>
              <a:gd name="connsiteX5" fmla="*/ 8088002 w 11123563"/>
              <a:gd name="connsiteY5" fmla="*/ 1074103 h 6071122"/>
              <a:gd name="connsiteX6" fmla="*/ 10049460 w 11123563"/>
              <a:gd name="connsiteY6" fmla="*/ 3035561 h 6071122"/>
              <a:gd name="connsiteX7" fmla="*/ 8088002 w 11123563"/>
              <a:gd name="connsiteY7" fmla="*/ 4997019 h 6071122"/>
              <a:gd name="connsiteX8" fmla="*/ 6126544 w 11123563"/>
              <a:gd name="connsiteY8" fmla="*/ 3035561 h 6071122"/>
              <a:gd name="connsiteX9" fmla="*/ 8088002 w 11123563"/>
              <a:gd name="connsiteY9" fmla="*/ 1074103 h 6071122"/>
              <a:gd name="connsiteX10" fmla="*/ 8088002 w 11123563"/>
              <a:gd name="connsiteY10" fmla="*/ 0 h 6071122"/>
              <a:gd name="connsiteX11" fmla="*/ 5570867 w 11123563"/>
              <a:gd name="connsiteY11" fmla="*/ 1338350 h 6071122"/>
              <a:gd name="connsiteX12" fmla="*/ 5561782 w 11123563"/>
              <a:gd name="connsiteY12" fmla="*/ 1353306 h 6071122"/>
              <a:gd name="connsiteX13" fmla="*/ 5552696 w 11123563"/>
              <a:gd name="connsiteY13" fmla="*/ 1338350 h 6071122"/>
              <a:gd name="connsiteX14" fmla="*/ 3035561 w 11123563"/>
              <a:gd name="connsiteY14" fmla="*/ 0 h 6071122"/>
              <a:gd name="connsiteX15" fmla="*/ 0 w 11123563"/>
              <a:gd name="connsiteY15" fmla="*/ 3035561 h 6071122"/>
              <a:gd name="connsiteX16" fmla="*/ 3035561 w 11123563"/>
              <a:gd name="connsiteY16" fmla="*/ 6071122 h 6071122"/>
              <a:gd name="connsiteX17" fmla="*/ 5552696 w 11123563"/>
              <a:gd name="connsiteY17" fmla="*/ 4732772 h 6071122"/>
              <a:gd name="connsiteX18" fmla="*/ 5561782 w 11123563"/>
              <a:gd name="connsiteY18" fmla="*/ 4717817 h 6071122"/>
              <a:gd name="connsiteX19" fmla="*/ 5570867 w 11123563"/>
              <a:gd name="connsiteY19" fmla="*/ 4732772 h 6071122"/>
              <a:gd name="connsiteX20" fmla="*/ 8088002 w 11123563"/>
              <a:gd name="connsiteY20" fmla="*/ 6071122 h 6071122"/>
              <a:gd name="connsiteX21" fmla="*/ 11123563 w 11123563"/>
              <a:gd name="connsiteY21" fmla="*/ 3035561 h 6071122"/>
              <a:gd name="connsiteX22" fmla="*/ 8088002 w 11123563"/>
              <a:gd name="connsiteY22" fmla="*/ 0 h 6071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123563" h="6071122">
                <a:moveTo>
                  <a:pt x="3035561" y="1074103"/>
                </a:moveTo>
                <a:cubicBezTo>
                  <a:pt x="4118844" y="1074103"/>
                  <a:pt x="4997019" y="1952278"/>
                  <a:pt x="4997019" y="3035561"/>
                </a:cubicBezTo>
                <a:cubicBezTo>
                  <a:pt x="4997019" y="4118844"/>
                  <a:pt x="4118844" y="4997019"/>
                  <a:pt x="3035561" y="4997019"/>
                </a:cubicBezTo>
                <a:cubicBezTo>
                  <a:pt x="1952278" y="4997019"/>
                  <a:pt x="1074103" y="4118844"/>
                  <a:pt x="1074103" y="3035561"/>
                </a:cubicBezTo>
                <a:cubicBezTo>
                  <a:pt x="1074103" y="1952278"/>
                  <a:pt x="1952278" y="1074103"/>
                  <a:pt x="3035561" y="1074103"/>
                </a:cubicBezTo>
                <a:close/>
                <a:moveTo>
                  <a:pt x="8088002" y="1074103"/>
                </a:moveTo>
                <a:cubicBezTo>
                  <a:pt x="9171285" y="1074103"/>
                  <a:pt x="10049460" y="1952278"/>
                  <a:pt x="10049460" y="3035561"/>
                </a:cubicBezTo>
                <a:cubicBezTo>
                  <a:pt x="10049460" y="4118844"/>
                  <a:pt x="9171285" y="4997019"/>
                  <a:pt x="8088002" y="4997019"/>
                </a:cubicBezTo>
                <a:cubicBezTo>
                  <a:pt x="7004719" y="4997019"/>
                  <a:pt x="6126544" y="4118844"/>
                  <a:pt x="6126544" y="3035561"/>
                </a:cubicBezTo>
                <a:cubicBezTo>
                  <a:pt x="6126544" y="1952278"/>
                  <a:pt x="7004719" y="1074103"/>
                  <a:pt x="8088002" y="1074103"/>
                </a:cubicBezTo>
                <a:close/>
                <a:moveTo>
                  <a:pt x="8088002" y="0"/>
                </a:moveTo>
                <a:cubicBezTo>
                  <a:pt x="7040193" y="0"/>
                  <a:pt x="6116380" y="530886"/>
                  <a:pt x="5570867" y="1338350"/>
                </a:cubicBezTo>
                <a:lnTo>
                  <a:pt x="5561782" y="1353306"/>
                </a:lnTo>
                <a:lnTo>
                  <a:pt x="5552696" y="1338350"/>
                </a:lnTo>
                <a:cubicBezTo>
                  <a:pt x="5007184" y="530886"/>
                  <a:pt x="4083370" y="0"/>
                  <a:pt x="3035561" y="0"/>
                </a:cubicBezTo>
                <a:cubicBezTo>
                  <a:pt x="1359067" y="0"/>
                  <a:pt x="0" y="1359067"/>
                  <a:pt x="0" y="3035561"/>
                </a:cubicBezTo>
                <a:cubicBezTo>
                  <a:pt x="0" y="4712055"/>
                  <a:pt x="1359067" y="6071122"/>
                  <a:pt x="3035561" y="6071122"/>
                </a:cubicBezTo>
                <a:cubicBezTo>
                  <a:pt x="4083370" y="6071122"/>
                  <a:pt x="5007184" y="5540237"/>
                  <a:pt x="5552696" y="4732772"/>
                </a:cubicBezTo>
                <a:lnTo>
                  <a:pt x="5561782" y="4717817"/>
                </a:lnTo>
                <a:lnTo>
                  <a:pt x="5570867" y="4732772"/>
                </a:lnTo>
                <a:cubicBezTo>
                  <a:pt x="6116380" y="5540237"/>
                  <a:pt x="7040193" y="6071122"/>
                  <a:pt x="8088002" y="6071122"/>
                </a:cubicBezTo>
                <a:cubicBezTo>
                  <a:pt x="9764496" y="6071122"/>
                  <a:pt x="11123563" y="4712055"/>
                  <a:pt x="11123563" y="3035561"/>
                </a:cubicBezTo>
                <a:cubicBezTo>
                  <a:pt x="11123563" y="1359067"/>
                  <a:pt x="9764496" y="0"/>
                  <a:pt x="8088002" y="0"/>
                </a:cubicBezTo>
                <a:close/>
              </a:path>
            </a:pathLst>
          </a:custGeom>
          <a:gradFill>
            <a:gsLst>
              <a:gs pos="0">
                <a:srgbClr val="2296F6">
                  <a:alpha val="0"/>
                </a:srgbClr>
              </a:gs>
              <a:gs pos="100000">
                <a:srgbClr val="C9E5FD"/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Rectangle 2"/>
          <p:cNvSpPr/>
          <p:nvPr userDrawn="1"/>
        </p:nvSpPr>
        <p:spPr bwMode="auto">
          <a:xfrm>
            <a:off x="4831343" y="6370812"/>
            <a:ext cx="7360656" cy="4783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defTabSz="914446">
              <a:defRPr/>
            </a:pPr>
            <a:endParaRPr lang="en-US" sz="1400" b="1" dirty="0">
              <a:solidFill>
                <a:schemeClr val="bg1"/>
              </a:solidFill>
              <a:latin typeface="Pretendard Light" panose="02000403000000020004" charset="-127"/>
              <a:ea typeface="Pretendard Light" panose="02000403000000020004" charset="-127"/>
              <a:cs typeface="Pretendard Light" panose="02000403000000020004" charset="-127"/>
            </a:endParaRPr>
          </a:p>
          <a:p>
            <a:pPr algn="r" defTabSz="914446">
              <a:defRPr/>
            </a:pP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본 자료는 특정 메일 수신자에 한하여 제공되며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, </a:t>
            </a: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제공자의 허락없이 재전송 및 편집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·</a:t>
            </a: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가공할 수 없습니다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. </a:t>
            </a:r>
            <a:endParaRPr lang="en-US" sz="900" i="1" dirty="0">
              <a:solidFill>
                <a:schemeClr val="bg1"/>
              </a:solidFill>
              <a:latin typeface="Pretendard Light" panose="02000403000000020004" charset="-127"/>
              <a:ea typeface="Pretendard Light" panose="02000403000000020004" charset="-127"/>
              <a:cs typeface="Pretendard Light" panose="02000403000000020004" charset="-127"/>
            </a:endParaRPr>
          </a:p>
          <a:p>
            <a:pPr algn="r" defTabSz="914446">
              <a:defRPr/>
            </a:pP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charset="-127"/>
                <a:ea typeface="Pretendard Light" panose="02000403000000020004" charset="-127"/>
                <a:cs typeface="Pretendard Light" panose="02000403000000020004" charset="-127"/>
              </a:rPr>
              <a:t> 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-2103084" y="2606180"/>
            <a:ext cx="9116711" cy="1532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/>
          <a:p>
            <a:pPr algn="ctr"/>
            <a:endParaRPr lang="ko-KR" altLang="en-US" sz="2800" i="1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91643" y="369712"/>
            <a:ext cx="66524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>
                    <a:alpha val="67000"/>
                  </a:scheme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Beyond Borders, </a:t>
            </a:r>
          </a:p>
          <a:p>
            <a:r>
              <a:rPr lang="en-US" altLang="ko-KR" sz="3200" dirty="0">
                <a:solidFill>
                  <a:schemeClr val="bg1">
                    <a:alpha val="67000"/>
                  </a:schemeClr>
                </a:solidFill>
                <a:latin typeface="Pretendard SemiBold" panose="02000703000000020004" charset="-127"/>
                <a:ea typeface="Pretendard SemiBold" panose="02000703000000020004" charset="-127"/>
                <a:cs typeface="Pretendard SemiBold" panose="02000703000000020004" charset="-127"/>
              </a:rPr>
              <a:t>Beyond Expectations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191641" y="6423637"/>
            <a:ext cx="3249609" cy="2886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>
              <a:lnSpc>
                <a:spcPct val="116199"/>
              </a:lnSpc>
            </a:pPr>
            <a:r>
              <a:rPr lang="en-US" altLang="ko-KR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Copyright </a:t>
            </a:r>
            <a:r>
              <a:rPr lang="ko-KR" altLang="en-US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ⓒ </a:t>
            </a:r>
            <a:r>
              <a:rPr lang="en-US" altLang="ko-KR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ETNERS Co., Ltd. All rights reserved.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3985260" y="4547138"/>
            <a:ext cx="4221480" cy="2675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>
              <a:tabLst>
                <a:tab pos="3856038" algn="l"/>
              </a:tabLst>
            </a:pPr>
            <a:r>
              <a:rPr lang="en-US" altLang="ko-KR" sz="1600" dirty="0">
                <a:solidFill>
                  <a:srgbClr val="2296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Et</a:t>
            </a:r>
            <a:r>
              <a:rPr lang="en-US" altLang="ko-KR" sz="1600" dirty="0">
                <a:solidFill>
                  <a:srgbClr val="94CCF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ernal Part</a:t>
            </a:r>
            <a:r>
              <a:rPr lang="en-US" altLang="ko-KR" sz="1600" dirty="0">
                <a:solidFill>
                  <a:srgbClr val="2296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ners</a:t>
            </a:r>
            <a:endParaRPr lang="ko-KR" altLang="en-US" sz="1600" dirty="0">
              <a:solidFill>
                <a:srgbClr val="2296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5E7A334-15C8-A00D-D00D-A26F96ADA3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0245" y="82174"/>
            <a:ext cx="1351707" cy="3234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84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586" t="12004" b="6709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-9938" y="0"/>
            <a:ext cx="12201937" cy="6858000"/>
          </a:xfrm>
          <a:prstGeom prst="rect">
            <a:avLst/>
          </a:prstGeom>
          <a:solidFill>
            <a:srgbClr val="003399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3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4153811" y="1192919"/>
            <a:ext cx="3892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9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Agenda</a:t>
            </a:r>
            <a:endParaRPr kumimoji="0" lang="ko-KR" altLang="en-US" sz="2800" b="0" i="0" u="none" strike="noStrike" kern="1200" cap="none" spc="-91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9" name="그룹 8"/>
          <p:cNvGrpSpPr/>
          <p:nvPr userDrawn="1"/>
        </p:nvGrpSpPr>
        <p:grpSpPr>
          <a:xfrm>
            <a:off x="4146063" y="1183923"/>
            <a:ext cx="3899874" cy="516290"/>
            <a:chOff x="4036479" y="900910"/>
            <a:chExt cx="4582300" cy="684486"/>
          </a:xfrm>
        </p:grpSpPr>
        <p:cxnSp>
          <p:nvCxnSpPr>
            <p:cNvPr id="10" name="직선 연결선 9"/>
            <p:cNvCxnSpPr/>
            <p:nvPr/>
          </p:nvCxnSpPr>
          <p:spPr>
            <a:xfrm>
              <a:off x="4036479" y="900910"/>
              <a:ext cx="45823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>
              <a:off x="4036479" y="1585396"/>
              <a:ext cx="45823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4745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solidFill>
          <a:srgbClr val="229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1057211" y="0"/>
            <a:ext cx="0" cy="6858000"/>
          </a:xfrm>
          <a:prstGeom prst="line">
            <a:avLst/>
          </a:prstGeom>
          <a:ln>
            <a:solidFill>
              <a:srgbClr val="D0CECE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/>
          <p:cNvSpPr/>
          <p:nvPr userDrawn="1"/>
        </p:nvSpPr>
        <p:spPr>
          <a:xfrm>
            <a:off x="10321467" y="2411115"/>
            <a:ext cx="4847184" cy="484718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 userDrawn="1"/>
        </p:nvSpPr>
        <p:spPr>
          <a:xfrm>
            <a:off x="8133882" y="4009367"/>
            <a:ext cx="513780" cy="513780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 userDrawn="1"/>
        </p:nvSpPr>
        <p:spPr>
          <a:xfrm>
            <a:off x="11332769" y="1614215"/>
            <a:ext cx="513780" cy="513780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 userDrawn="1"/>
        </p:nvSpPr>
        <p:spPr>
          <a:xfrm>
            <a:off x="7240180" y="4834707"/>
            <a:ext cx="239812" cy="239812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 userDrawn="1"/>
        </p:nvSpPr>
        <p:spPr>
          <a:xfrm>
            <a:off x="10113651" y="3020270"/>
            <a:ext cx="239812" cy="239812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 userDrawn="1"/>
        </p:nvSpPr>
        <p:spPr>
          <a:xfrm>
            <a:off x="10848528" y="2292251"/>
            <a:ext cx="118864" cy="11886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 userDrawn="1"/>
        </p:nvSpPr>
        <p:spPr>
          <a:xfrm>
            <a:off x="8901587" y="3722185"/>
            <a:ext cx="118864" cy="11886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 userDrawn="1"/>
        </p:nvSpPr>
        <p:spPr>
          <a:xfrm>
            <a:off x="8817040" y="2868859"/>
            <a:ext cx="239812" cy="239812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 userDrawn="1"/>
        </p:nvSpPr>
        <p:spPr>
          <a:xfrm>
            <a:off x="8190790" y="3877955"/>
            <a:ext cx="4847184" cy="484718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 userDrawn="1"/>
        </p:nvSpPr>
        <p:spPr>
          <a:xfrm>
            <a:off x="7968018" y="5517232"/>
            <a:ext cx="118864" cy="11886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 userDrawn="1"/>
        </p:nvSpPr>
        <p:spPr>
          <a:xfrm>
            <a:off x="7767517" y="6284064"/>
            <a:ext cx="239812" cy="239812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 userDrawn="1"/>
        </p:nvSpPr>
        <p:spPr>
          <a:xfrm>
            <a:off x="11400804" y="2613124"/>
            <a:ext cx="239812" cy="239812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 userDrawn="1"/>
        </p:nvSpPr>
        <p:spPr>
          <a:xfrm>
            <a:off x="9372855" y="3841049"/>
            <a:ext cx="513780" cy="513780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 userDrawn="1"/>
        </p:nvSpPr>
        <p:spPr>
          <a:xfrm>
            <a:off x="10114693" y="3597612"/>
            <a:ext cx="118864" cy="118864"/>
          </a:xfrm>
          <a:prstGeom prst="ellipse">
            <a:avLst/>
          </a:prstGeom>
          <a:solidFill>
            <a:srgbClr val="86C6F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2"/>
          <p:cNvSpPr/>
          <p:nvPr userDrawn="1"/>
        </p:nvSpPr>
        <p:spPr bwMode="auto">
          <a:xfrm>
            <a:off x="4831343" y="6370812"/>
            <a:ext cx="7360656" cy="4783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defTabSz="914446">
              <a:defRPr/>
            </a:pPr>
            <a:endParaRPr lang="en-US" sz="1400" b="1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r" defTabSz="914446">
              <a:defRPr/>
            </a:pP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본 자료는 특정 메일 수신자에 한하여 제공되며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제공자의 허락없이 재전송 및 편집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가공할 수 없습니다</a:t>
            </a: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endParaRPr lang="en-US" sz="900" i="1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r" defTabSz="914446">
              <a:defRPr/>
            </a:pPr>
            <a:r>
              <a:rPr lang="en-US" altLang="ko-KR" sz="900" i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26" name="직사각형 25"/>
          <p:cNvSpPr/>
          <p:nvPr userDrawn="1"/>
        </p:nvSpPr>
        <p:spPr>
          <a:xfrm>
            <a:off x="191641" y="6423637"/>
            <a:ext cx="3249609" cy="2886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>
              <a:lnSpc>
                <a:spcPct val="116199"/>
              </a:lnSpc>
            </a:pPr>
            <a:r>
              <a:rPr lang="en-US" altLang="ko-KR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Copyright </a:t>
            </a:r>
            <a:r>
              <a:rPr lang="ko-KR" altLang="en-US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ⓒ </a:t>
            </a:r>
            <a:r>
              <a:rPr lang="en-US" altLang="ko-KR" sz="11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ETNERS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4135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338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rgbClr val="229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도넛 5"/>
          <p:cNvSpPr/>
          <p:nvPr userDrawn="1"/>
        </p:nvSpPr>
        <p:spPr>
          <a:xfrm>
            <a:off x="-5534362" y="-2906339"/>
            <a:ext cx="13180100" cy="12670678"/>
          </a:xfrm>
          <a:prstGeom prst="donut">
            <a:avLst>
              <a:gd name="adj" fmla="val 9758"/>
            </a:avLst>
          </a:prstGeom>
          <a:gradFill flip="none" rotWithShape="1">
            <a:gsLst>
              <a:gs pos="0">
                <a:srgbClr val="2296F6"/>
              </a:gs>
              <a:gs pos="10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도넛 6"/>
          <p:cNvSpPr/>
          <p:nvPr userDrawn="1"/>
        </p:nvSpPr>
        <p:spPr>
          <a:xfrm>
            <a:off x="426516" y="1055529"/>
            <a:ext cx="737122" cy="737122"/>
          </a:xfrm>
          <a:prstGeom prst="donut">
            <a:avLst>
              <a:gd name="adj" fmla="val 17692"/>
            </a:avLst>
          </a:pr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자유형 7"/>
          <p:cNvSpPr/>
          <p:nvPr userDrawn="1"/>
        </p:nvSpPr>
        <p:spPr>
          <a:xfrm flipV="1">
            <a:off x="10858851" y="4448447"/>
            <a:ext cx="650292" cy="564403"/>
          </a:xfrm>
          <a:custGeom>
            <a:avLst/>
            <a:gdLst>
              <a:gd name="connsiteX0" fmla="*/ 192172 w 650292"/>
              <a:gd name="connsiteY0" fmla="*/ 316346 h 564403"/>
              <a:gd name="connsiteX1" fmla="*/ 67998 w 650292"/>
              <a:gd name="connsiteY1" fmla="*/ 192172 h 564403"/>
              <a:gd name="connsiteX2" fmla="*/ 192172 w 650292"/>
              <a:gd name="connsiteY2" fmla="*/ 67998 h 564403"/>
              <a:gd name="connsiteX3" fmla="*/ 316346 w 650292"/>
              <a:gd name="connsiteY3" fmla="*/ 192172 h 564403"/>
              <a:gd name="connsiteX4" fmla="*/ 192172 w 650292"/>
              <a:gd name="connsiteY4" fmla="*/ 316346 h 564403"/>
              <a:gd name="connsiteX5" fmla="*/ 458120 w 650292"/>
              <a:gd name="connsiteY5" fmla="*/ 496405 h 564403"/>
              <a:gd name="connsiteX6" fmla="*/ 333946 w 650292"/>
              <a:gd name="connsiteY6" fmla="*/ 372231 h 564403"/>
              <a:gd name="connsiteX7" fmla="*/ 458120 w 650292"/>
              <a:gd name="connsiteY7" fmla="*/ 248057 h 564403"/>
              <a:gd name="connsiteX8" fmla="*/ 582294 w 650292"/>
              <a:gd name="connsiteY8" fmla="*/ 372231 h 564403"/>
              <a:gd name="connsiteX9" fmla="*/ 458120 w 650292"/>
              <a:gd name="connsiteY9" fmla="*/ 496405 h 564403"/>
              <a:gd name="connsiteX10" fmla="*/ 458120 w 650292"/>
              <a:gd name="connsiteY10" fmla="*/ 564403 h 564403"/>
              <a:gd name="connsiteX11" fmla="*/ 650292 w 650292"/>
              <a:gd name="connsiteY11" fmla="*/ 372231 h 564403"/>
              <a:gd name="connsiteX12" fmla="*/ 458120 w 650292"/>
              <a:gd name="connsiteY12" fmla="*/ 180059 h 564403"/>
              <a:gd name="connsiteX13" fmla="*/ 419391 w 650292"/>
              <a:gd name="connsiteY13" fmla="*/ 183963 h 564403"/>
              <a:gd name="connsiteX14" fmla="*/ 383769 w 650292"/>
              <a:gd name="connsiteY14" fmla="*/ 195021 h 564403"/>
              <a:gd name="connsiteX15" fmla="*/ 384344 w 650292"/>
              <a:gd name="connsiteY15" fmla="*/ 192172 h 564403"/>
              <a:gd name="connsiteX16" fmla="*/ 192172 w 650292"/>
              <a:gd name="connsiteY16" fmla="*/ 0 h 564403"/>
              <a:gd name="connsiteX17" fmla="*/ 0 w 650292"/>
              <a:gd name="connsiteY17" fmla="*/ 192172 h 564403"/>
              <a:gd name="connsiteX18" fmla="*/ 192172 w 650292"/>
              <a:gd name="connsiteY18" fmla="*/ 384344 h 564403"/>
              <a:gd name="connsiteX19" fmla="*/ 230902 w 650292"/>
              <a:gd name="connsiteY19" fmla="*/ 380440 h 564403"/>
              <a:gd name="connsiteX20" fmla="*/ 266523 w 650292"/>
              <a:gd name="connsiteY20" fmla="*/ 369382 h 564403"/>
              <a:gd name="connsiteX21" fmla="*/ 265948 w 650292"/>
              <a:gd name="connsiteY21" fmla="*/ 372231 h 564403"/>
              <a:gd name="connsiteX22" fmla="*/ 458120 w 650292"/>
              <a:gd name="connsiteY22" fmla="*/ 564403 h 56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50292" h="564403">
                <a:moveTo>
                  <a:pt x="192172" y="316346"/>
                </a:moveTo>
                <a:cubicBezTo>
                  <a:pt x="123593" y="316346"/>
                  <a:pt x="67998" y="260751"/>
                  <a:pt x="67998" y="192172"/>
                </a:cubicBezTo>
                <a:cubicBezTo>
                  <a:pt x="67998" y="123593"/>
                  <a:pt x="123593" y="67998"/>
                  <a:pt x="192172" y="67998"/>
                </a:cubicBezTo>
                <a:cubicBezTo>
                  <a:pt x="260751" y="67998"/>
                  <a:pt x="316346" y="123593"/>
                  <a:pt x="316346" y="192172"/>
                </a:cubicBezTo>
                <a:cubicBezTo>
                  <a:pt x="316346" y="260751"/>
                  <a:pt x="260751" y="316346"/>
                  <a:pt x="192172" y="316346"/>
                </a:cubicBezTo>
                <a:close/>
                <a:moveTo>
                  <a:pt x="458120" y="496405"/>
                </a:moveTo>
                <a:cubicBezTo>
                  <a:pt x="389541" y="496405"/>
                  <a:pt x="333946" y="440810"/>
                  <a:pt x="333946" y="372231"/>
                </a:cubicBezTo>
                <a:cubicBezTo>
                  <a:pt x="333946" y="303652"/>
                  <a:pt x="389541" y="248057"/>
                  <a:pt x="458120" y="248057"/>
                </a:cubicBezTo>
                <a:cubicBezTo>
                  <a:pt x="526699" y="248057"/>
                  <a:pt x="582294" y="303652"/>
                  <a:pt x="582294" y="372231"/>
                </a:cubicBezTo>
                <a:cubicBezTo>
                  <a:pt x="582294" y="440810"/>
                  <a:pt x="526699" y="496405"/>
                  <a:pt x="458120" y="496405"/>
                </a:cubicBezTo>
                <a:close/>
                <a:moveTo>
                  <a:pt x="458120" y="564403"/>
                </a:moveTo>
                <a:cubicBezTo>
                  <a:pt x="564254" y="564403"/>
                  <a:pt x="650292" y="478365"/>
                  <a:pt x="650292" y="372231"/>
                </a:cubicBezTo>
                <a:cubicBezTo>
                  <a:pt x="650292" y="266097"/>
                  <a:pt x="564254" y="180059"/>
                  <a:pt x="458120" y="180059"/>
                </a:cubicBezTo>
                <a:cubicBezTo>
                  <a:pt x="444853" y="180059"/>
                  <a:pt x="431901" y="181404"/>
                  <a:pt x="419391" y="183963"/>
                </a:cubicBezTo>
                <a:lnTo>
                  <a:pt x="383769" y="195021"/>
                </a:lnTo>
                <a:lnTo>
                  <a:pt x="384344" y="192172"/>
                </a:lnTo>
                <a:cubicBezTo>
                  <a:pt x="384344" y="86038"/>
                  <a:pt x="298306" y="0"/>
                  <a:pt x="192172" y="0"/>
                </a:cubicBezTo>
                <a:cubicBezTo>
                  <a:pt x="86038" y="0"/>
                  <a:pt x="0" y="86038"/>
                  <a:pt x="0" y="192172"/>
                </a:cubicBezTo>
                <a:cubicBezTo>
                  <a:pt x="0" y="298306"/>
                  <a:pt x="86038" y="384344"/>
                  <a:pt x="192172" y="384344"/>
                </a:cubicBezTo>
                <a:cubicBezTo>
                  <a:pt x="205439" y="384344"/>
                  <a:pt x="218392" y="383000"/>
                  <a:pt x="230902" y="380440"/>
                </a:cubicBezTo>
                <a:lnTo>
                  <a:pt x="266523" y="369382"/>
                </a:lnTo>
                <a:lnTo>
                  <a:pt x="265948" y="372231"/>
                </a:lnTo>
                <a:cubicBezTo>
                  <a:pt x="265948" y="478365"/>
                  <a:pt x="351986" y="564403"/>
                  <a:pt x="458120" y="564403"/>
                </a:cubicBezTo>
                <a:close/>
              </a:path>
            </a:pathLst>
          </a:cu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Rectangle 2"/>
          <p:cNvSpPr/>
          <p:nvPr userDrawn="1"/>
        </p:nvSpPr>
        <p:spPr bwMode="auto">
          <a:xfrm>
            <a:off x="4831343" y="6370811"/>
            <a:ext cx="7360656" cy="4783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본 자료는 특정 메일 수신자에 한하여 제공되며</a:t>
            </a:r>
            <a:r>
              <a:rPr kumimoji="0" lang="en-US" altLang="ko-KR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kumimoji="0" lang="ko-KR" altLang="en-US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제공자의 허락없이 재전송 및 편집</a:t>
            </a:r>
            <a:r>
              <a:rPr kumimoji="0" lang="en-US" altLang="ko-KR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kumimoji="0" lang="ko-KR" altLang="en-US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가공할 수 없습니다</a:t>
            </a:r>
            <a:r>
              <a:rPr kumimoji="0" lang="en-US" altLang="ko-KR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endParaRPr kumimoji="0" lang="en-US" sz="90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auto">
          <a:xfrm>
            <a:off x="-2103085" y="2606180"/>
            <a:ext cx="9116711" cy="1532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/>
          <a:p>
            <a:pPr algn="ctr"/>
            <a:endParaRPr lang="ko-KR" altLang="en-US" sz="2800" i="1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01472" y="6476152"/>
            <a:ext cx="3978974" cy="16190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40000"/>
              </a:lnSpc>
              <a:spcBef>
                <a:spcPts val="1000"/>
              </a:spcBef>
            </a:pP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경기도 과천시 </a:t>
            </a:r>
            <a:r>
              <a:rPr lang="ko-KR" altLang="en-US" sz="900" dirty="0" err="1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과천대로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7 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나길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60 </a:t>
            </a:r>
            <a:r>
              <a:rPr lang="ko-KR" altLang="en-US" sz="900" dirty="0" err="1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과천어반허브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동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층 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|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1533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– 4810 (</a:t>
            </a:r>
            <a:r>
              <a:rPr lang="ko-KR" altLang="en-US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내선 </a:t>
            </a:r>
            <a:r>
              <a:rPr lang="en-US" altLang="ko-KR" sz="900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3111)</a:t>
            </a:r>
          </a:p>
        </p:txBody>
      </p:sp>
      <p:sp>
        <p:nvSpPr>
          <p:cNvPr id="14" name="도넛 13"/>
          <p:cNvSpPr/>
          <p:nvPr userDrawn="1"/>
        </p:nvSpPr>
        <p:spPr>
          <a:xfrm>
            <a:off x="10016358" y="1089025"/>
            <a:ext cx="384344" cy="384344"/>
          </a:xfrm>
          <a:prstGeom prst="donut">
            <a:avLst>
              <a:gd name="adj" fmla="val 17692"/>
            </a:avLst>
          </a:pr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자유형 14"/>
          <p:cNvSpPr/>
          <p:nvPr userDrawn="1"/>
        </p:nvSpPr>
        <p:spPr>
          <a:xfrm rot="2779934">
            <a:off x="7967330" y="2059395"/>
            <a:ext cx="1684234" cy="1366610"/>
          </a:xfrm>
          <a:custGeom>
            <a:avLst/>
            <a:gdLst>
              <a:gd name="connsiteX0" fmla="*/ 558800 w 1684234"/>
              <a:gd name="connsiteY0" fmla="*/ 446736 h 1366610"/>
              <a:gd name="connsiteX1" fmla="*/ 197726 w 1684234"/>
              <a:gd name="connsiteY1" fmla="*/ 807810 h 1366610"/>
              <a:gd name="connsiteX2" fmla="*/ 558800 w 1684234"/>
              <a:gd name="connsiteY2" fmla="*/ 1168884 h 1366610"/>
              <a:gd name="connsiteX3" fmla="*/ 919874 w 1684234"/>
              <a:gd name="connsiteY3" fmla="*/ 807810 h 1366610"/>
              <a:gd name="connsiteX4" fmla="*/ 558800 w 1684234"/>
              <a:gd name="connsiteY4" fmla="*/ 446736 h 1366610"/>
              <a:gd name="connsiteX5" fmla="*/ 1269897 w 1684234"/>
              <a:gd name="connsiteY5" fmla="*/ 146609 h 1366610"/>
              <a:gd name="connsiteX6" fmla="*/ 1002169 w 1684234"/>
              <a:gd name="connsiteY6" fmla="*/ 414337 h 1366610"/>
              <a:gd name="connsiteX7" fmla="*/ 1007608 w 1684234"/>
              <a:gd name="connsiteY7" fmla="*/ 468294 h 1366610"/>
              <a:gd name="connsiteX8" fmla="*/ 1012307 w 1684234"/>
              <a:gd name="connsiteY8" fmla="*/ 483431 h 1366610"/>
              <a:gd name="connsiteX9" fmla="*/ 1022166 w 1684234"/>
              <a:gd name="connsiteY9" fmla="*/ 495380 h 1366610"/>
              <a:gd name="connsiteX10" fmla="*/ 1073687 w 1684234"/>
              <a:gd name="connsiteY10" fmla="*/ 590300 h 1366610"/>
              <a:gd name="connsiteX11" fmla="*/ 1075481 w 1684234"/>
              <a:gd name="connsiteY11" fmla="*/ 596079 h 1366610"/>
              <a:gd name="connsiteX12" fmla="*/ 1080585 w 1684234"/>
              <a:gd name="connsiteY12" fmla="*/ 603649 h 1366610"/>
              <a:gd name="connsiteX13" fmla="*/ 1269897 w 1684234"/>
              <a:gd name="connsiteY13" fmla="*/ 682065 h 1366610"/>
              <a:gd name="connsiteX14" fmla="*/ 1537625 w 1684234"/>
              <a:gd name="connsiteY14" fmla="*/ 414337 h 1366610"/>
              <a:gd name="connsiteX15" fmla="*/ 1269897 w 1684234"/>
              <a:gd name="connsiteY15" fmla="*/ 146609 h 1366610"/>
              <a:gd name="connsiteX16" fmla="*/ 1269897 w 1684234"/>
              <a:gd name="connsiteY16" fmla="*/ 0 h 1366610"/>
              <a:gd name="connsiteX17" fmla="*/ 1684234 w 1684234"/>
              <a:gd name="connsiteY17" fmla="*/ 414337 h 1366610"/>
              <a:gd name="connsiteX18" fmla="*/ 1269897 w 1684234"/>
              <a:gd name="connsiteY18" fmla="*/ 828674 h 1366610"/>
              <a:gd name="connsiteX19" fmla="*/ 1186394 w 1684234"/>
              <a:gd name="connsiteY19" fmla="*/ 820256 h 1366610"/>
              <a:gd name="connsiteX20" fmla="*/ 1116673 w 1684234"/>
              <a:gd name="connsiteY20" fmla="*/ 798614 h 1366610"/>
              <a:gd name="connsiteX21" fmla="*/ 1117600 w 1684234"/>
              <a:gd name="connsiteY21" fmla="*/ 807810 h 1366610"/>
              <a:gd name="connsiteX22" fmla="*/ 558800 w 1684234"/>
              <a:gd name="connsiteY22" fmla="*/ 1366610 h 1366610"/>
              <a:gd name="connsiteX23" fmla="*/ 0 w 1684234"/>
              <a:gd name="connsiteY23" fmla="*/ 807810 h 1366610"/>
              <a:gd name="connsiteX24" fmla="*/ 558800 w 1684234"/>
              <a:gd name="connsiteY24" fmla="*/ 249010 h 1366610"/>
              <a:gd name="connsiteX25" fmla="*/ 776310 w 1684234"/>
              <a:gd name="connsiteY25" fmla="*/ 292923 h 1366610"/>
              <a:gd name="connsiteX26" fmla="*/ 863053 w 1684234"/>
              <a:gd name="connsiteY26" fmla="*/ 340006 h 1366610"/>
              <a:gd name="connsiteX27" fmla="*/ 863978 w 1684234"/>
              <a:gd name="connsiteY27" fmla="*/ 330834 h 1366610"/>
              <a:gd name="connsiteX28" fmla="*/ 1269897 w 1684234"/>
              <a:gd name="connsiteY28" fmla="*/ 0 h 1366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684234" h="1366610">
                <a:moveTo>
                  <a:pt x="558800" y="446736"/>
                </a:moveTo>
                <a:cubicBezTo>
                  <a:pt x="359384" y="446736"/>
                  <a:pt x="197726" y="608394"/>
                  <a:pt x="197726" y="807810"/>
                </a:cubicBezTo>
                <a:cubicBezTo>
                  <a:pt x="197726" y="1007226"/>
                  <a:pt x="359384" y="1168884"/>
                  <a:pt x="558800" y="1168884"/>
                </a:cubicBezTo>
                <a:cubicBezTo>
                  <a:pt x="758216" y="1168884"/>
                  <a:pt x="919874" y="1007226"/>
                  <a:pt x="919874" y="807810"/>
                </a:cubicBezTo>
                <a:cubicBezTo>
                  <a:pt x="919874" y="608394"/>
                  <a:pt x="758216" y="446736"/>
                  <a:pt x="558800" y="446736"/>
                </a:cubicBezTo>
                <a:close/>
                <a:moveTo>
                  <a:pt x="1269897" y="146609"/>
                </a:moveTo>
                <a:cubicBezTo>
                  <a:pt x="1122035" y="146609"/>
                  <a:pt x="1002169" y="266475"/>
                  <a:pt x="1002169" y="414337"/>
                </a:cubicBezTo>
                <a:cubicBezTo>
                  <a:pt x="1002169" y="432820"/>
                  <a:pt x="1004042" y="450865"/>
                  <a:pt x="1007608" y="468294"/>
                </a:cubicBezTo>
                <a:lnTo>
                  <a:pt x="1012307" y="483431"/>
                </a:lnTo>
                <a:lnTo>
                  <a:pt x="1022166" y="495380"/>
                </a:lnTo>
                <a:cubicBezTo>
                  <a:pt x="1042250" y="525108"/>
                  <a:pt x="1059548" y="556873"/>
                  <a:pt x="1073687" y="590300"/>
                </a:cubicBezTo>
                <a:lnTo>
                  <a:pt x="1075481" y="596079"/>
                </a:lnTo>
                <a:lnTo>
                  <a:pt x="1080585" y="603649"/>
                </a:lnTo>
                <a:cubicBezTo>
                  <a:pt x="1129034" y="652099"/>
                  <a:pt x="1195966" y="682065"/>
                  <a:pt x="1269897" y="682065"/>
                </a:cubicBezTo>
                <a:cubicBezTo>
                  <a:pt x="1417759" y="682065"/>
                  <a:pt x="1537625" y="562199"/>
                  <a:pt x="1537625" y="414337"/>
                </a:cubicBezTo>
                <a:cubicBezTo>
                  <a:pt x="1537625" y="266475"/>
                  <a:pt x="1417759" y="146609"/>
                  <a:pt x="1269897" y="146609"/>
                </a:cubicBezTo>
                <a:close/>
                <a:moveTo>
                  <a:pt x="1269897" y="0"/>
                </a:moveTo>
                <a:cubicBezTo>
                  <a:pt x="1498729" y="0"/>
                  <a:pt x="1684234" y="185505"/>
                  <a:pt x="1684234" y="414337"/>
                </a:cubicBezTo>
                <a:cubicBezTo>
                  <a:pt x="1684234" y="643169"/>
                  <a:pt x="1498729" y="828674"/>
                  <a:pt x="1269897" y="828674"/>
                </a:cubicBezTo>
                <a:cubicBezTo>
                  <a:pt x="1241293" y="828674"/>
                  <a:pt x="1213366" y="825776"/>
                  <a:pt x="1186394" y="820256"/>
                </a:cubicBezTo>
                <a:lnTo>
                  <a:pt x="1116673" y="798614"/>
                </a:lnTo>
                <a:lnTo>
                  <a:pt x="1117600" y="807810"/>
                </a:lnTo>
                <a:cubicBezTo>
                  <a:pt x="1117600" y="1116427"/>
                  <a:pt x="867417" y="1366610"/>
                  <a:pt x="558800" y="1366610"/>
                </a:cubicBezTo>
                <a:cubicBezTo>
                  <a:pt x="250183" y="1366610"/>
                  <a:pt x="0" y="1116427"/>
                  <a:pt x="0" y="807810"/>
                </a:cubicBezTo>
                <a:cubicBezTo>
                  <a:pt x="0" y="499193"/>
                  <a:pt x="250183" y="249010"/>
                  <a:pt x="558800" y="249010"/>
                </a:cubicBezTo>
                <a:cubicBezTo>
                  <a:pt x="635954" y="249010"/>
                  <a:pt x="709456" y="264647"/>
                  <a:pt x="776310" y="292923"/>
                </a:cubicBezTo>
                <a:lnTo>
                  <a:pt x="863053" y="340006"/>
                </a:lnTo>
                <a:lnTo>
                  <a:pt x="863978" y="330834"/>
                </a:lnTo>
                <a:cubicBezTo>
                  <a:pt x="902613" y="142027"/>
                  <a:pt x="1069669" y="0"/>
                  <a:pt x="1269897" y="0"/>
                </a:cubicBezTo>
                <a:close/>
              </a:path>
            </a:pathLst>
          </a:cu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도넛 15"/>
          <p:cNvSpPr/>
          <p:nvPr userDrawn="1"/>
        </p:nvSpPr>
        <p:spPr>
          <a:xfrm>
            <a:off x="9201402" y="4299906"/>
            <a:ext cx="224070" cy="224070"/>
          </a:xfrm>
          <a:prstGeom prst="donut">
            <a:avLst>
              <a:gd name="adj" fmla="val 17692"/>
            </a:avLst>
          </a:pr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도넛 16"/>
          <p:cNvSpPr/>
          <p:nvPr userDrawn="1"/>
        </p:nvSpPr>
        <p:spPr>
          <a:xfrm>
            <a:off x="350831" y="238683"/>
            <a:ext cx="384344" cy="384344"/>
          </a:xfrm>
          <a:prstGeom prst="donut">
            <a:avLst>
              <a:gd name="adj" fmla="val 17692"/>
            </a:avLst>
          </a:prstGeom>
          <a:gradFill>
            <a:gsLst>
              <a:gs pos="0">
                <a:srgbClr val="2296F6"/>
              </a:gs>
              <a:gs pos="100000">
                <a:srgbClr val="CBE6FD">
                  <a:alpha val="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0"/>
          <a:stretch/>
        </p:blipFill>
        <p:spPr>
          <a:xfrm>
            <a:off x="650226" y="3084601"/>
            <a:ext cx="2378724" cy="57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99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1057211" y="0"/>
            <a:ext cx="0" cy="6858000"/>
          </a:xfrm>
          <a:prstGeom prst="line">
            <a:avLst/>
          </a:prstGeom>
          <a:ln>
            <a:solidFill>
              <a:srgbClr val="D0CECE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제목 1"/>
          <p:cNvSpPr>
            <a:spLocks noGrp="1"/>
          </p:cNvSpPr>
          <p:nvPr>
            <p:ph type="ctrTitle"/>
          </p:nvPr>
        </p:nvSpPr>
        <p:spPr>
          <a:xfrm>
            <a:off x="1589317" y="4031891"/>
            <a:ext cx="9144000" cy="751207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50787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solidFill>
          <a:srgbClr val="229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1057211" y="0"/>
            <a:ext cx="0" cy="6858000"/>
          </a:xfrm>
          <a:prstGeom prst="line">
            <a:avLst/>
          </a:prstGeom>
          <a:ln>
            <a:solidFill>
              <a:srgbClr val="D0CECE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8833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C06B3-B6CB-40DC-963B-D5B113A43B1C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CA428-C624-4B43-8F03-7D51CACD53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39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1" name="TextBox"/>
          <p:cNvSpPr txBox="1"/>
          <p:nvPr/>
        </p:nvSpPr>
        <p:spPr>
          <a:xfrm>
            <a:off x="1229926" y="2513766"/>
            <a:ext cx="9732145" cy="920422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pPr algn="ctr"/>
            <a:r>
              <a:rPr lang="ko-KR" altLang="en-US" sz="4800" dirty="0">
                <a:solidFill>
                  <a:srgbClr val="FFFFFF"/>
                </a:solidFill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Research On 결과보고</a:t>
            </a:r>
          </a:p>
        </p:txBody>
      </p:sp>
      <p:sp>
        <p:nvSpPr>
          <p:cNvPr id="1002" name="직사각형 7"/>
          <p:cNvSpPr/>
          <p:nvPr/>
        </p:nvSpPr>
        <p:spPr>
          <a:xfrm>
            <a:off x="2895950" y="3434188"/>
            <a:ext cx="6400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E5E7EB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rPr>
              <a:t>AI Agent 기반 웹앱(Web App) 리서치 자동화 Tool</a:t>
            </a:r>
          </a:p>
        </p:txBody>
      </p:sp>
      <p:sp>
        <p:nvSpPr>
          <p:cNvPr id="1003" name="TextBox"/>
          <p:cNvSpPr txBox="1"/>
          <p:nvPr/>
        </p:nvSpPr>
        <p:spPr>
          <a:xfrm>
            <a:off x="3804602" y="5619600"/>
            <a:ext cx="4582794" cy="458757"/>
          </a:xfrm>
          <a:prstGeom prst="rect">
            <a:avLst/>
          </a:prstGeom>
          <a:noFill/>
        </p:spPr>
        <p:txBody>
          <a:bodyPr wrap="square" tIns="90000" bIns="90000" anchor="t">
            <a:spAutoFit/>
          </a:bodyPr>
          <a:lstStyle/>
          <a:p>
            <a:pPr algn="ctr"/>
            <a:r>
              <a:rPr lang="ko-KR" altLang="en-US" b="1" dirty="0">
                <a:solidFill>
                  <a:srgbClr val="FFFF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BPO지원그룹 이병헌P</a:t>
            </a:r>
          </a:p>
        </p:txBody>
      </p:sp>
      <p:sp>
        <p:nvSpPr>
          <p:cNvPr id="1004" name="Rectangle"/>
          <p:cNvSpPr/>
          <p:nvPr/>
        </p:nvSpPr>
        <p:spPr>
          <a:xfrm>
            <a:off x="8813800" y="5650378"/>
            <a:ext cx="2768453" cy="674200"/>
          </a:xfrm>
          <a:prstGeom prst="rect">
            <a:avLst/>
          </a:prstGeom>
          <a:noFill/>
        </p:spPr>
        <p:txBody>
          <a:bodyPr wrap="square" tIns="90000" bIns="90000" anchor="t">
            <a:spAutoFit/>
          </a:bodyPr>
          <a:lstStyle/>
          <a:p>
            <a:pPr algn="r"/>
            <a:r>
              <a:rPr lang="en-US" sz="1600" dirty="0">
                <a:solidFill>
                  <a:srgbClr val="FFFF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2026.07.28(火)</a:t>
            </a:r>
          </a:p>
        </p:txBody>
      </p:sp>
      <p:pic>
        <p:nvPicPr>
          <p:cNvPr id="1005" name="Picture 1004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690" y="540513"/>
            <a:ext cx="757126" cy="1770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5" name="TextBox"/>
          <p:cNvSpPr txBox="1"/>
          <p:nvPr/>
        </p:nvSpPr>
        <p:spPr>
          <a:xfrm>
            <a:off x="3400000" y="2050000"/>
            <a:ext cx="5392126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 dirty="0">
                <a:solidFill>
                  <a:srgbClr val="9AC9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00   </a:t>
            </a:r>
            <a:r>
              <a:rPr lang="ko-KR" altLang="en-US" sz="2000" dirty="0">
                <a:solidFill>
                  <a:srgbClr val="FFFFFF"/>
                </a:solidFill>
                <a:latin typeface="Pretendard Medium" charset="-127"/>
                <a:ea typeface="Pretendard Medium" charset="-127"/>
                <a:cs typeface="Pretendard Medium" charset="-127"/>
              </a:rPr>
              <a:t>Executive Summary</a:t>
            </a:r>
          </a:p>
        </p:txBody>
      </p:sp>
      <p:sp>
        <p:nvSpPr>
          <p:cNvPr id="1006" name="TextBox"/>
          <p:cNvSpPr txBox="1"/>
          <p:nvPr/>
        </p:nvSpPr>
        <p:spPr>
          <a:xfrm>
            <a:off x="3400000" y="2530000"/>
            <a:ext cx="5392126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 dirty="0">
                <a:solidFill>
                  <a:srgbClr val="9AC9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01   </a:t>
            </a:r>
            <a:r>
              <a:rPr lang="ko-KR" altLang="en-US" sz="2000" dirty="0">
                <a:solidFill>
                  <a:srgbClr val="FFFFFF"/>
                </a:solidFill>
                <a:latin typeface="Pretendard Medium" charset="-127"/>
                <a:ea typeface="Pretendard Medium" charset="-127"/>
                <a:cs typeface="Pretendard Medium" charset="-127"/>
              </a:rPr>
              <a:t>추진 배경</a:t>
            </a:r>
          </a:p>
        </p:txBody>
      </p:sp>
      <p:sp>
        <p:nvSpPr>
          <p:cNvPr id="1007" name="TextBox"/>
          <p:cNvSpPr txBox="1"/>
          <p:nvPr/>
        </p:nvSpPr>
        <p:spPr>
          <a:xfrm>
            <a:off x="3400000" y="3010000"/>
            <a:ext cx="5392126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 dirty="0">
                <a:solidFill>
                  <a:srgbClr val="9AC9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02   </a:t>
            </a:r>
            <a:r>
              <a:rPr lang="ko-KR" altLang="en-US" sz="2000" dirty="0">
                <a:solidFill>
                  <a:srgbClr val="FFFFFF"/>
                </a:solidFill>
                <a:latin typeface="Pretendard Medium" charset="-127"/>
                <a:ea typeface="Pretendard Medium" charset="-127"/>
                <a:cs typeface="Pretendard Medium" charset="-127"/>
              </a:rPr>
              <a:t>추진 개요</a:t>
            </a:r>
          </a:p>
        </p:txBody>
      </p:sp>
      <p:sp>
        <p:nvSpPr>
          <p:cNvPr id="1008" name="TextBox"/>
          <p:cNvSpPr txBox="1"/>
          <p:nvPr/>
        </p:nvSpPr>
        <p:spPr>
          <a:xfrm>
            <a:off x="3400000" y="3490000"/>
            <a:ext cx="5392126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 dirty="0">
                <a:solidFill>
                  <a:srgbClr val="9AC9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03   </a:t>
            </a:r>
            <a:r>
              <a:rPr lang="ko-KR" altLang="en-US" sz="2000" dirty="0">
                <a:solidFill>
                  <a:srgbClr val="FFFFFF"/>
                </a:solidFill>
                <a:latin typeface="Pretendard Medium" charset="-127"/>
                <a:ea typeface="Pretendard Medium" charset="-127"/>
                <a:cs typeface="Pretendard Medium" charset="-127"/>
              </a:rPr>
              <a:t>시스템 구성</a:t>
            </a:r>
          </a:p>
        </p:txBody>
      </p:sp>
      <p:sp>
        <p:nvSpPr>
          <p:cNvPr id="1009" name="TextBox"/>
          <p:cNvSpPr txBox="1"/>
          <p:nvPr/>
        </p:nvSpPr>
        <p:spPr>
          <a:xfrm>
            <a:off x="3400000" y="3970000"/>
            <a:ext cx="5392126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 dirty="0">
                <a:solidFill>
                  <a:srgbClr val="9AC9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04   </a:t>
            </a:r>
            <a:r>
              <a:rPr lang="ko-KR" altLang="en-US" sz="2000" dirty="0">
                <a:solidFill>
                  <a:srgbClr val="FFFFFF"/>
                </a:solidFill>
                <a:latin typeface="Pretendard Medium" charset="-127"/>
                <a:ea typeface="Pretendard Medium" charset="-127"/>
                <a:cs typeface="Pretendard Medium" charset="-127"/>
              </a:rPr>
              <a:t>핵심 기능</a:t>
            </a:r>
          </a:p>
        </p:txBody>
      </p:sp>
      <p:sp>
        <p:nvSpPr>
          <p:cNvPr id="1010" name="TextBox"/>
          <p:cNvSpPr txBox="1"/>
          <p:nvPr/>
        </p:nvSpPr>
        <p:spPr>
          <a:xfrm>
            <a:off x="3400000" y="4450000"/>
            <a:ext cx="5392126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 dirty="0">
                <a:solidFill>
                  <a:srgbClr val="9AC9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05   </a:t>
            </a:r>
            <a:r>
              <a:rPr lang="ko-KR" altLang="en-US" sz="2000" dirty="0">
                <a:solidFill>
                  <a:srgbClr val="FFFFFF"/>
                </a:solidFill>
                <a:latin typeface="Pretendard Medium" charset="-127"/>
                <a:ea typeface="Pretendard Medium" charset="-127"/>
                <a:cs typeface="Pretendard Medium" charset="-127"/>
              </a:rPr>
              <a:t>추진 성과</a:t>
            </a:r>
          </a:p>
        </p:txBody>
      </p:sp>
      <p:sp>
        <p:nvSpPr>
          <p:cNvPr id="1011" name="TextBox"/>
          <p:cNvSpPr txBox="1"/>
          <p:nvPr/>
        </p:nvSpPr>
        <p:spPr>
          <a:xfrm>
            <a:off x="3400000" y="4930000"/>
            <a:ext cx="5392126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 dirty="0">
                <a:solidFill>
                  <a:srgbClr val="9AC9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06   </a:t>
            </a:r>
            <a:r>
              <a:rPr lang="ko-KR" altLang="en-US" sz="2000" dirty="0">
                <a:solidFill>
                  <a:srgbClr val="FFFFFF"/>
                </a:solidFill>
                <a:latin typeface="Pretendard Medium" charset="-127"/>
                <a:ea typeface="Pretendard Medium" charset="-127"/>
                <a:cs typeface="Pretendard Medium" charset="-127"/>
              </a:rPr>
              <a:t>기대 효과</a:t>
            </a:r>
          </a:p>
        </p:txBody>
      </p:sp>
      <p:sp>
        <p:nvSpPr>
          <p:cNvPr id="1012" name="TextBox"/>
          <p:cNvSpPr txBox="1"/>
          <p:nvPr/>
        </p:nvSpPr>
        <p:spPr>
          <a:xfrm>
            <a:off x="3400000" y="5410000"/>
            <a:ext cx="5392126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000" b="1" dirty="0">
                <a:solidFill>
                  <a:srgbClr val="9AC9FF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07   </a:t>
            </a:r>
            <a:r>
              <a:rPr lang="ko-KR" altLang="en-US" sz="2000" dirty="0">
                <a:solidFill>
                  <a:srgbClr val="FFFFFF"/>
                </a:solidFill>
                <a:latin typeface="Pretendard Medium" charset="-127"/>
                <a:ea typeface="Pretendard Medium" charset="-127"/>
                <a:cs typeface="Pretendard Medium" charset="-127"/>
              </a:rPr>
              <a:t>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3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00</a:t>
            </a:r>
          </a:p>
        </p:txBody>
      </p:sp>
      <p:sp>
        <p:nvSpPr>
          <p:cNvPr id="1014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5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Executive Summary</a:t>
            </a:r>
          </a:p>
        </p:txBody>
      </p:sp>
      <p:sp>
        <p:nvSpPr>
          <p:cNvPr id="1016" name="TextBox"/>
          <p:cNvSpPr txBox="1"/>
          <p:nvPr/>
        </p:nvSpPr>
        <p:spPr>
          <a:xfrm>
            <a:off x="978869" y="1189337"/>
            <a:ext cx="10284876" cy="5368663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1. 한 일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흩어져 있던 시장·업무 관련 리서치를 AI가 수집·분석·요약해주는 웹 기반 도구 구축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2. 핵심 결과물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주간 뉴스레터 자동 발송 — 클라이언트 동향·업무 뉴스·인사이트·트렌드 4개 섹션, 매주 월요일 자동 발송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리서치 허브(웹사이트) — 키워드 검색 → AI가 관련 기사 선별 → 선택 자료로 심층 인사이트 리포트 생성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3. 추진 기간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2026.04.22 ~ 07.28 (당초 8주 → 완성도 확보를 위해 14주로 조정)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0048D7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기대 효과 : 리서치 소요 시간 절감 + 보직자 의사결정에 필요한 정보를 매주 정리된 형태로 자동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7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01</a:t>
            </a:r>
          </a:p>
        </p:txBody>
      </p:sp>
      <p:sp>
        <p:nvSpPr>
          <p:cNvPr id="1018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9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추진 배경</a:t>
            </a:r>
          </a:p>
        </p:txBody>
      </p:sp>
      <p:sp>
        <p:nvSpPr>
          <p:cNvPr id="1020" name="TextBox"/>
          <p:cNvSpPr txBox="1"/>
          <p:nvPr/>
        </p:nvSpPr>
        <p:spPr>
          <a:xfrm>
            <a:off x="978869" y="1189337"/>
            <a:ext cx="10284876" cy="5368663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1. 문제 인식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시장·사업 관련 정보 탐색과 활용 필요성 증대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개인별 수작업 리서치는 시간 소모가 크고 품질 편차가 큼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2. 전환 방향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“정보를 찾는 것”에서 “정리된 정보를 받아보는 것”으로 전환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T/F 구성 → 키워드 기반 정보 수집·분석·제공 체계 설계, 웹앱으로 구현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1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02</a:t>
            </a:r>
          </a:p>
        </p:txBody>
      </p:sp>
      <p:sp>
        <p:nvSpPr>
          <p:cNvPr id="1022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3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추진 개요</a:t>
            </a:r>
          </a:p>
        </p:txBody>
      </p:sp>
      <p:sp>
        <p:nvSpPr>
          <p:cNvPr id="1024" name="TextBox"/>
          <p:cNvSpPr txBox="1"/>
          <p:nvPr/>
        </p:nvSpPr>
        <p:spPr>
          <a:xfrm>
            <a:off x="978869" y="1189337"/>
            <a:ext cx="10284876" cy="45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[T/F 운영 개요]</a:t>
            </a:r>
          </a:p>
        </p:txBody>
      </p:sp>
      <p:graphicFrame>
        <p:nvGraphicFramePr>
          <p:cNvPr id="1025" name="표"/>
          <p:cNvGraphicFramePr>
            <a:graphicFrameLocks noGrp="1"/>
          </p:cNvGraphicFramePr>
          <p:nvPr/>
        </p:nvGraphicFramePr>
        <p:xfrm>
          <a:off x="901307" y="1730706"/>
          <a:ext cx="10440000" cy="3580000"/>
        </p:xfrm>
        <a:graphic>
          <a:graphicData uri="http://schemas.openxmlformats.org/drawingml/2006/table">
            <a:tbl>
              <a:tblPr/>
              <a:tblGrid>
                <a:gridCol w="2400000"/>
                <a:gridCol w="8040000"/>
              </a:tblGrid>
              <a:tr h="56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600" b="1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구 분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600" b="1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세 부 내 용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78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운영 기간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2026.04.22 ~ 07.28 (총 14주)</a:t>
                      </a:r>
                    </a:p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당초 8주 계획에서 완성도 확보를 위해 연장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0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T/F 구성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PM 1명 + 데이터/자동화·웹 기능 구현·품질/보안/AI 담당 각 1명</a:t>
                      </a:r>
                    </a:p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BPO·DS지원·ESOP 3개 사업부 합동, 총 4명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개발 방식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AI 코딩 도구 활용 + n8n 자동화 워크플로우 + 웹 호스팅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데이터 관리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정식 데이터베이스(Supabase) 기반 이력 관리</a:t>
                      </a:r>
                    </a:p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데이터 접근 권한 보안 점검 및 조치 완료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6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03</a:t>
            </a:r>
          </a:p>
        </p:txBody>
      </p:sp>
      <p:sp>
        <p:nvSpPr>
          <p:cNvPr id="1027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8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시스템 구성</a:t>
            </a:r>
          </a:p>
        </p:txBody>
      </p:sp>
      <p:sp>
        <p:nvSpPr>
          <p:cNvPr id="1029" name="box"/>
          <p:cNvSpPr/>
          <p:nvPr/>
        </p:nvSpPr>
        <p:spPr>
          <a:xfrm>
            <a:off x="600000" y="1550000"/>
            <a:ext cx="2150000" cy="8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C8C8C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ko-KR" altLang="en-US" sz="1400" b="1" dirty="0">
                <a:solidFill>
                  <a:srgbClr val="1F2A44"/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임직원</a:t>
            </a:r>
          </a:p>
        </p:txBody>
      </p:sp>
      <p:sp>
        <p:nvSpPr>
          <p:cNvPr id="1030" name="box"/>
          <p:cNvSpPr/>
          <p:nvPr/>
        </p:nvSpPr>
        <p:spPr>
          <a:xfrm>
            <a:off x="3150000" y="1550000"/>
            <a:ext cx="2350000" cy="820000"/>
          </a:xfrm>
          <a:prstGeom prst="roundRect">
            <a:avLst/>
          </a:prstGeom>
          <a:solidFill>
            <a:srgbClr val="EAF2FF"/>
          </a:solidFill>
          <a:ln w="19050">
            <a:solidFill>
              <a:srgbClr val="0048D7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ko-KR" altLang="en-US" sz="1400" b="1" dirty="0">
                <a:solidFill>
                  <a:srgbClr val="1F2A44"/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Research On</a:t>
            </a:r>
          </a:p>
          <a:p>
            <a:pPr algn="ctr"/>
            <a:r>
              <a:rPr lang="ko-KR" altLang="en-US" sz="1400" b="1" dirty="0">
                <a:solidFill>
                  <a:srgbClr val="1F2A44"/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웹사이트</a:t>
            </a:r>
          </a:p>
        </p:txBody>
      </p:sp>
      <p:sp>
        <p:nvSpPr>
          <p:cNvPr id="1031" name="box"/>
          <p:cNvSpPr/>
          <p:nvPr/>
        </p:nvSpPr>
        <p:spPr>
          <a:xfrm>
            <a:off x="5900000" y="1550000"/>
            <a:ext cx="2350000" cy="820000"/>
          </a:xfrm>
          <a:prstGeom prst="roundRect">
            <a:avLst/>
          </a:prstGeom>
          <a:solidFill>
            <a:srgbClr val="EAF2FF"/>
          </a:solidFill>
          <a:ln w="19050">
            <a:solidFill>
              <a:srgbClr val="0048D7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ko-KR" altLang="en-US" sz="1400" b="1" dirty="0">
                <a:solidFill>
                  <a:srgbClr val="1F2A44"/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AI 자동화 엔진</a:t>
            </a:r>
          </a:p>
        </p:txBody>
      </p:sp>
      <p:sp>
        <p:nvSpPr>
          <p:cNvPr id="1032" name="box"/>
          <p:cNvSpPr/>
          <p:nvPr/>
        </p:nvSpPr>
        <p:spPr>
          <a:xfrm>
            <a:off x="8650000" y="1550000"/>
            <a:ext cx="2650000" cy="820000"/>
          </a:xfrm>
          <a:prstGeom prst="roundRect">
            <a:avLst/>
          </a:prstGeom>
          <a:solidFill>
            <a:srgbClr val="EAF2FF"/>
          </a:solidFill>
          <a:ln w="19050">
            <a:solidFill>
              <a:srgbClr val="0048D7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ko-KR" altLang="en-US" sz="1400" b="1" dirty="0">
                <a:solidFill>
                  <a:srgbClr val="1F2A44"/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뉴스 · 정보 수집</a:t>
            </a:r>
          </a:p>
        </p:txBody>
      </p:sp>
      <p:cxnSp>
        <p:nvCxnSpPr>
          <p:cNvPr id="1033" name="arrow"/>
          <p:cNvCxnSpPr/>
          <p:nvPr/>
        </p:nvCxnSpPr>
        <p:spPr>
          <a:xfrm>
            <a:off x="2750000" y="1960000"/>
            <a:ext cx="400000" cy="1"/>
          </a:xfrm>
          <a:prstGeom prst="straightConnector1">
            <a:avLst/>
          </a:prstGeom>
          <a:ln w="19050">
            <a:solidFill>
              <a:srgbClr val="0048D7"/>
            </a:solidFill>
            <a:tailEnd type="triangle" w="med" len="med"/>
          </a:ln>
        </p:spPr>
        <p:txBody>
          <a:bodyPr/>
          <a:lstStyle/>
          <a:p>
            <a:endParaRPr lang="ko-KR"/>
          </a:p>
        </p:txBody>
      </p:cxnSp>
      <p:cxnSp>
        <p:nvCxnSpPr>
          <p:cNvPr id="1034" name="arrow"/>
          <p:cNvCxnSpPr/>
          <p:nvPr/>
        </p:nvCxnSpPr>
        <p:spPr>
          <a:xfrm>
            <a:off x="5500000" y="1960000"/>
            <a:ext cx="400000" cy="1"/>
          </a:xfrm>
          <a:prstGeom prst="straightConnector1">
            <a:avLst/>
          </a:prstGeom>
          <a:ln w="19050">
            <a:solidFill>
              <a:srgbClr val="0048D7"/>
            </a:solidFill>
            <a:tailEnd type="triangle" w="med" len="med"/>
          </a:ln>
        </p:spPr>
        <p:txBody>
          <a:bodyPr/>
          <a:lstStyle/>
          <a:p>
            <a:endParaRPr lang="ko-KR"/>
          </a:p>
        </p:txBody>
      </p:cxnSp>
      <p:cxnSp>
        <p:nvCxnSpPr>
          <p:cNvPr id="1035" name="arrow"/>
          <p:cNvCxnSpPr/>
          <p:nvPr/>
        </p:nvCxnSpPr>
        <p:spPr>
          <a:xfrm>
            <a:off x="8250000" y="1960000"/>
            <a:ext cx="400000" cy="1"/>
          </a:xfrm>
          <a:prstGeom prst="straightConnector1">
            <a:avLst/>
          </a:prstGeom>
          <a:ln w="19050">
            <a:solidFill>
              <a:srgbClr val="0048D7"/>
            </a:solidFill>
            <a:tailEnd type="triangle" w="med" len="med"/>
          </a:ln>
        </p:spPr>
        <p:txBody>
          <a:bodyPr/>
          <a:lstStyle/>
          <a:p>
            <a:endParaRPr lang="ko-KR"/>
          </a:p>
        </p:txBody>
      </p:cxnSp>
      <p:sp>
        <p:nvSpPr>
          <p:cNvPr id="1036" name="box"/>
          <p:cNvSpPr/>
          <p:nvPr/>
        </p:nvSpPr>
        <p:spPr>
          <a:xfrm>
            <a:off x="3150000" y="3120000"/>
            <a:ext cx="2350000" cy="82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C8C8C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ko-KR" altLang="en-US" sz="1300" b="1" dirty="0">
                <a:solidFill>
                  <a:srgbClr val="404040"/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저장 자료함</a:t>
            </a:r>
          </a:p>
          <a:p>
            <a:pPr algn="ctr"/>
            <a:r>
              <a:rPr lang="ko-KR" altLang="en-US" sz="1300" b="1" dirty="0">
                <a:solidFill>
                  <a:srgbClr val="404040"/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검색 히스토리</a:t>
            </a:r>
          </a:p>
        </p:txBody>
      </p:sp>
      <p:sp>
        <p:nvSpPr>
          <p:cNvPr id="1037" name="box"/>
          <p:cNvSpPr/>
          <p:nvPr/>
        </p:nvSpPr>
        <p:spPr>
          <a:xfrm>
            <a:off x="5900000" y="3120000"/>
            <a:ext cx="2350000" cy="82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C8C8C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ko-KR" altLang="en-US" sz="1300" b="1" dirty="0">
                <a:solidFill>
                  <a:srgbClr val="404040"/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주간 뉴스레터</a:t>
            </a:r>
          </a:p>
          <a:p>
            <a:pPr algn="ctr"/>
            <a:r>
              <a:rPr lang="ko-KR" altLang="en-US" sz="1300" b="1" dirty="0">
                <a:solidFill>
                  <a:srgbClr val="404040"/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자동 발송</a:t>
            </a:r>
          </a:p>
        </p:txBody>
      </p:sp>
      <p:cxnSp>
        <p:nvCxnSpPr>
          <p:cNvPr id="1038" name="arrow"/>
          <p:cNvCxnSpPr/>
          <p:nvPr/>
        </p:nvCxnSpPr>
        <p:spPr>
          <a:xfrm>
            <a:off x="4325000" y="2370000"/>
            <a:ext cx="1" cy="750000"/>
          </a:xfrm>
          <a:prstGeom prst="straightConnector1">
            <a:avLst/>
          </a:prstGeom>
          <a:ln w="19050">
            <a:solidFill>
              <a:srgbClr val="0048D7"/>
            </a:solidFill>
            <a:tailEnd type="triangle" w="med" len="med"/>
          </a:ln>
        </p:spPr>
        <p:txBody>
          <a:bodyPr/>
          <a:lstStyle/>
          <a:p>
            <a:endParaRPr lang="ko-KR"/>
          </a:p>
        </p:txBody>
      </p:cxnSp>
      <p:cxnSp>
        <p:nvCxnSpPr>
          <p:cNvPr id="1039" name="arrow"/>
          <p:cNvCxnSpPr/>
          <p:nvPr/>
        </p:nvCxnSpPr>
        <p:spPr>
          <a:xfrm>
            <a:off x="7075000" y="2370000"/>
            <a:ext cx="1" cy="750000"/>
          </a:xfrm>
          <a:prstGeom prst="straightConnector1">
            <a:avLst/>
          </a:prstGeom>
          <a:ln w="19050">
            <a:solidFill>
              <a:srgbClr val="0048D7"/>
            </a:solidFill>
            <a:tailEnd type="triangle" w="med" len="med"/>
          </a:ln>
        </p:spPr>
        <p:txBody>
          <a:bodyPr/>
          <a:lstStyle/>
          <a:p>
            <a:endParaRPr lang="ko-KR"/>
          </a:p>
        </p:txBody>
      </p:cxnSp>
      <p:sp>
        <p:nvSpPr>
          <p:cNvPr id="1040" name="TextBox"/>
          <p:cNvSpPr txBox="1"/>
          <p:nvPr/>
        </p:nvSpPr>
        <p:spPr>
          <a:xfrm>
            <a:off x="978869" y="4290000"/>
            <a:ext cx="10284876" cy="2318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웹사이트 : 임직원이 직접 쓰는 화면 (PC / 모바일 대응)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AI 자동화 엔진 : 정보 수집 → 관련성 판단 → 요약까지 자동 처리 (뉴스레터는 발송 전 담당자 최종 검토)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데이터 저장소 : 검색·발송 이력을 안전하게 누적 관리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1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4-1</a:t>
            </a:r>
          </a:p>
        </p:txBody>
      </p:sp>
      <p:sp>
        <p:nvSpPr>
          <p:cNvPr id="1042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3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핵심 기능 ① 주간 뉴스레터</a:t>
            </a:r>
          </a:p>
        </p:txBody>
      </p:sp>
      <p:sp>
        <p:nvSpPr>
          <p:cNvPr id="1044" name="TextBox"/>
          <p:cNvSpPr txBox="1"/>
          <p:nvPr/>
        </p:nvSpPr>
        <p:spPr>
          <a:xfrm>
            <a:off x="978869" y="1189337"/>
            <a:ext cx="10284876" cy="45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[매주 정리된 정보를 받아본다]</a:t>
            </a:r>
          </a:p>
        </p:txBody>
      </p:sp>
      <p:sp>
        <p:nvSpPr>
          <p:cNvPr id="1045" name="TextBox"/>
          <p:cNvSpPr txBox="1"/>
          <p:nvPr/>
        </p:nvSpPr>
        <p:spPr>
          <a:xfrm>
            <a:off x="978869" y="1807403"/>
            <a:ext cx="10284876" cy="4750597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1. 구성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4개 섹션 자동 구성 : 클라이언트 동향 / 업무 관련 뉴스 / 리서치 인사이트 / 트렌드(피플앤컬처)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2. 작동 방식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AI가 기사를 선별하고 시사점까지 작성 → 담당자가 화면에서 바로 검토·수정 후 발송(최종 확인은 사람이 담당)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매주 월요일 오전 자동 발송, 구독 신청·해지는 임직원이 자율적으로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6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4-2</a:t>
            </a:r>
          </a:p>
        </p:txBody>
      </p:sp>
      <p:sp>
        <p:nvSpPr>
          <p:cNvPr id="1047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8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핵심 기능 ② 리서치 허브</a:t>
            </a:r>
          </a:p>
        </p:txBody>
      </p:sp>
      <p:sp>
        <p:nvSpPr>
          <p:cNvPr id="1049" name="TextBox"/>
          <p:cNvSpPr txBox="1"/>
          <p:nvPr/>
        </p:nvSpPr>
        <p:spPr>
          <a:xfrm>
            <a:off x="978869" y="1189337"/>
            <a:ext cx="10284876" cy="45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[궁금한 키워드를 검색하면 AI가 찾아준다]</a:t>
            </a:r>
          </a:p>
        </p:txBody>
      </p:sp>
      <p:sp>
        <p:nvSpPr>
          <p:cNvPr id="1050" name="TextBox"/>
          <p:cNvSpPr txBox="1"/>
          <p:nvPr/>
        </p:nvSpPr>
        <p:spPr>
          <a:xfrm>
            <a:off x="978869" y="1807403"/>
            <a:ext cx="10284876" cy="4750597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1. 검색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핵심 키워드 68개 + 확장 키워드 체계로 검색 폭 확보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키워드 검색 → 관련 기사 AI 자동 선별 → 결과 확인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2. 인사이트 리포트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선택한 자료를 바탕으로 AI가 Executive Brief·분석·추천 액션이 담긴 심층 리포트 자동 생성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생성된 자료는 자료함에 누적 저장, 언제든 재조회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1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4-3</a:t>
            </a:r>
          </a:p>
        </p:txBody>
      </p:sp>
      <p:sp>
        <p:nvSpPr>
          <p:cNvPr id="1052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3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핵심 기능 ③ 안심하고 쓸 수 있는 운영 기반</a:t>
            </a:r>
          </a:p>
        </p:txBody>
      </p:sp>
      <p:sp>
        <p:nvSpPr>
          <p:cNvPr id="1054" name="TextBox"/>
          <p:cNvSpPr txBox="1"/>
          <p:nvPr/>
        </p:nvSpPr>
        <p:spPr>
          <a:xfrm>
            <a:off x="978869" y="1189337"/>
            <a:ext cx="10284876" cy="45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[사용 편의성과 데이터 안전을 함께 고려]</a:t>
            </a:r>
          </a:p>
        </p:txBody>
      </p:sp>
      <p:sp>
        <p:nvSpPr>
          <p:cNvPr id="1055" name="TextBox"/>
          <p:cNvSpPr txBox="1"/>
          <p:nvPr/>
        </p:nvSpPr>
        <p:spPr>
          <a:xfrm>
            <a:off x="978869" y="1807403"/>
            <a:ext cx="10284876" cy="4750597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1. 계정 · 운영 관리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사내 이메일(@etners.com) 기준 접근 제한, 관리자 화면에서 계정·권한 관리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문의·오류 신고 접수 및 답변 처리 체계 구축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2. 데이터 보안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정식 데이터베이스로 이관, 데이터 접근 권한 전면 점검 및 조치 완료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05</a:t>
            </a:r>
          </a:p>
        </p:txBody>
      </p:sp>
      <p:sp>
        <p:nvSpPr>
          <p:cNvPr id="1057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8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추진 성과</a:t>
            </a:r>
          </a:p>
        </p:txBody>
      </p:sp>
      <p:sp>
        <p:nvSpPr>
          <p:cNvPr id="1059" name="TextBox"/>
          <p:cNvSpPr txBox="1"/>
          <p:nvPr/>
        </p:nvSpPr>
        <p:spPr>
          <a:xfrm>
            <a:off x="978869" y="1189337"/>
            <a:ext cx="10284876" cy="45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[정량 성과]</a:t>
            </a:r>
          </a:p>
        </p:txBody>
      </p:sp>
      <p:graphicFrame>
        <p:nvGraphicFramePr>
          <p:cNvPr id="1060" name="표"/>
          <p:cNvGraphicFramePr>
            <a:graphicFrameLocks noGrp="1"/>
          </p:cNvGraphicFramePr>
          <p:nvPr/>
        </p:nvGraphicFramePr>
        <p:xfrm>
          <a:off x="901307" y="1730706"/>
          <a:ext cx="10440000" cy="3460000"/>
        </p:xfrm>
        <a:graphic>
          <a:graphicData uri="http://schemas.openxmlformats.org/drawingml/2006/table">
            <a:tbl>
              <a:tblPr/>
              <a:tblGrid>
                <a:gridCol w="2600000"/>
                <a:gridCol w="7840000"/>
              </a:tblGrid>
              <a:tr h="52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600" b="1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구 분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600" b="1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내 용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60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자동화 워크플로우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5개 구축 (뉴스레터 1·2단계, 리서치 1·2단계, 클라이언트 동향 수집)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키워드 체계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핵심 68개 + 확장 키워드 연결 구조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뉴스레터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주 1회 정기 발송 체계 구축 (4개 섹션)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데이터 이관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정식 데이터베이스로 전환, 초기 데이터 확보</a:t>
                      </a:r>
                    </a:p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(뉴스레터 후보 48건, 인사이트 리포트 23건 등)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보안 점검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5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데이터 접근 권한 전면 점검 및 조치 완료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1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06</a:t>
            </a:r>
          </a:p>
        </p:txBody>
      </p:sp>
      <p:sp>
        <p:nvSpPr>
          <p:cNvPr id="1062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3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기대 효과</a:t>
            </a:r>
          </a:p>
        </p:txBody>
      </p:sp>
      <p:sp>
        <p:nvSpPr>
          <p:cNvPr id="1064" name="TextBox"/>
          <p:cNvSpPr txBox="1"/>
          <p:nvPr/>
        </p:nvSpPr>
        <p:spPr>
          <a:xfrm>
            <a:off x="978869" y="1189337"/>
            <a:ext cx="10284876" cy="5368663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1. Before → After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Before : 개인별 수작업 검색 → 시간 소모, 품질 편차, 정보 공유 안 됨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After : 키워드 기반 자동 수집 + 주간 정기 브리핑 → 리서치 시간 절감, 표준화된 정보를 상시 제공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2. 확장 가능성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다른 사업부 키워드로 확장 시 동일 구조 재사용 가능 → 조직 전체 정보 공유 인프라로 발전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5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07</a:t>
            </a:r>
          </a:p>
        </p:txBody>
      </p:sp>
      <p:sp>
        <p:nvSpPr>
          <p:cNvPr id="1066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7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향후 계획</a:t>
            </a:r>
          </a:p>
        </p:txBody>
      </p:sp>
      <p:sp>
        <p:nvSpPr>
          <p:cNvPr id="1068" name="TextBox"/>
          <p:cNvSpPr txBox="1"/>
          <p:nvPr/>
        </p:nvSpPr>
        <p:spPr>
          <a:xfrm>
            <a:off x="978869" y="1189337"/>
            <a:ext cx="10284876" cy="5368663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1. 단기 (운영 안정화)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자동 발송 스케줄 정식 가동, 1~2주 시범 운영으로 실사용 검증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2. 중기 (고도화)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사용자 피드백 반영, 키워드·섹션 확장 검토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3. 의사결정 요청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정식 운영 전환 승인 및 전사 배포 범위·일정 논의 요청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9" name="TextBox"/>
          <p:cNvSpPr txBox="1"/>
          <p:nvPr/>
        </p:nvSpPr>
        <p:spPr>
          <a:xfrm>
            <a:off x="0" y="2700000"/>
            <a:ext cx="12192000" cy="1453215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lang="ko-KR" altLang="en-US" sz="4000" b="1" dirty="0">
                <a:solidFill>
                  <a:srgbClr val="003399"/>
                </a:solidFill>
                <a:latin typeface="Pretendard SemiBold" charset="-127"/>
                <a:ea typeface="Pretendard SemiBold" charset="-127"/>
                <a:cs typeface="Pretendard SemiBold" charset="-127"/>
              </a:rPr>
              <a:t>감사합니다</a:t>
            </a:r>
          </a:p>
          <a:p>
            <a:pPr algn="ctr"/>
            <a:r>
              <a:rPr lang="ko-KR" altLang="en-US" sz="1800" dirty="0">
                <a:solidFill>
                  <a:srgbClr val="595959"/>
                </a:solidFill>
                <a:latin typeface="Pretendard Light" charset="-127"/>
                <a:ea typeface="Pretendard Light" charset="-127"/>
                <a:cs typeface="Pretendard Light" charset="-127"/>
              </a:rPr>
              <a:t>이어서 Research On 웹사이트 시연을 진행하겠습니다.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0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부록-1</a:t>
            </a:r>
          </a:p>
        </p:txBody>
      </p:sp>
      <p:sp>
        <p:nvSpPr>
          <p:cNvPr id="1071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2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세부 추진 일정</a:t>
            </a:r>
          </a:p>
        </p:txBody>
      </p:sp>
      <p:sp>
        <p:nvSpPr>
          <p:cNvPr id="1073" name="TextBox"/>
          <p:cNvSpPr txBox="1"/>
          <p:nvPr/>
        </p:nvSpPr>
        <p:spPr>
          <a:xfrm>
            <a:off x="978869" y="1189337"/>
            <a:ext cx="10284876" cy="45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[잔여 추진 일정]</a:t>
            </a:r>
          </a:p>
        </p:txBody>
      </p:sp>
      <p:graphicFrame>
        <p:nvGraphicFramePr>
          <p:cNvPr id="1074" name="표"/>
          <p:cNvGraphicFramePr>
            <a:graphicFrameLocks noGrp="1"/>
          </p:cNvGraphicFramePr>
          <p:nvPr/>
        </p:nvGraphicFramePr>
        <p:xfrm>
          <a:off x="901307" y="1730706"/>
          <a:ext cx="10440000" cy="3840000"/>
        </p:xfrm>
        <a:graphic>
          <a:graphicData uri="http://schemas.openxmlformats.org/drawingml/2006/table">
            <a:tbl>
              <a:tblPr/>
              <a:tblGrid>
                <a:gridCol w="1600000"/>
                <a:gridCol w="1400000"/>
                <a:gridCol w="7440000"/>
              </a:tblGrid>
              <a:tr h="48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500" b="1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회차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500" b="1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일자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500" b="1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주요 수행 내용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48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7회차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06.16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최종 키워드 선정, n8n-Web 연동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8회차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06.23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리서치 허브 프로토타입 완성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9회차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06.30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Supabase DB 연동, 뉴스레터 허브 영역 확장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10회차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07.07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뉴스레터 허브 프로토타입 완성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11회차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07.14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시스템 테스트 및 오류 개선, 사용자 매뉴얼 제작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12회차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07.21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최종 MVP 버전 시연, 사용자 매뉴얼 완성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0000"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결과보고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ctr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07.28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lIns="91440" rIns="91440" tIns="45720" bIns="45720"/>
                    <a:lstStyle/>
                    <a:p>
                      <a:pPr algn="l"/>
                      <a:r>
                        <a:rPr lang="ko-KR" altLang="en-US" sz="1400" b="0" dirty="0">
                          <a:effectLst/>
                          <a:latin typeface="Pretendard" pitchFamily="2" charset="-127"/>
                          <a:ea typeface="Pretendard" pitchFamily="2" charset="-127"/>
                          <a:cs typeface="Pretendard" pitchFamily="2" charset="-127"/>
                        </a:rPr>
                        <a:t>결과보고 실시 및 보직자 대상 배포</a:t>
                      </a:r>
                    </a:p>
                  </a:txBody>
                  <a:tcPr anchor="ctr"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제목 1"/>
          <p:cNvSpPr txBox="1">
            <a:spLocks/>
          </p:cNvSpPr>
          <p:nvPr/>
        </p:nvSpPr>
        <p:spPr>
          <a:xfrm>
            <a:off x="8965" y="393690"/>
            <a:ext cx="1500000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altLang="ko-KR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부록-2</a:t>
            </a:r>
          </a:p>
        </p:txBody>
      </p:sp>
      <p:sp>
        <p:nvSpPr>
          <p:cNvPr id="1076" name="직사각형 5"/>
          <p:cNvSpPr/>
          <p:nvPr/>
        </p:nvSpPr>
        <p:spPr>
          <a:xfrm flipV="1">
            <a:off x="0" y="847230"/>
            <a:ext cx="770282" cy="28800"/>
          </a:xfrm>
          <a:prstGeom prst="rect">
            <a:avLst/>
          </a:prstGeom>
          <a:solidFill>
            <a:srgbClr val="004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7" name="제목 1"/>
          <p:cNvSpPr txBox="1">
            <a:spLocks/>
          </p:cNvSpPr>
          <p:nvPr/>
        </p:nvSpPr>
        <p:spPr>
          <a:xfrm>
            <a:off x="1650000" y="393690"/>
            <a:ext cx="9660805" cy="44606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ko-KR" altLang="en-US" sz="2800" spc="0" dirty="0">
                <a:solidFill>
                  <a:prstClr val="black">
                    <a:lumMod val="85000"/>
                    <a:lumOff val="15000"/>
                  </a:prstClr>
                </a:solidFill>
                <a:latin typeface="Pretendard" pitchFamily="2" charset="-127"/>
                <a:ea typeface="Pretendard" pitchFamily="2" charset="-127"/>
                <a:cs typeface="Pretendard" pitchFamily="2" charset="-127"/>
              </a:rPr>
              <a:t>남은 과제</a:t>
            </a:r>
          </a:p>
        </p:txBody>
      </p:sp>
      <p:sp>
        <p:nvSpPr>
          <p:cNvPr id="1078" name="TextBox"/>
          <p:cNvSpPr txBox="1"/>
          <p:nvPr/>
        </p:nvSpPr>
        <p:spPr>
          <a:xfrm>
            <a:off x="978869" y="1189337"/>
            <a:ext cx="10284876" cy="5368663"/>
          </a:xfrm>
          <a:prstGeom prst="rect">
            <a:avLst/>
          </a:prstGeom>
          <a:noFill/>
        </p:spPr>
        <p:txBody>
          <a:bodyPr wrap="square" rtlCol="0"/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자동 발송 스케줄 정식 가동 (현재 수동 테스트 완료, 활성화 예정)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실사용 환경에서 전체 기능 최종 검증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키워드 확장 시 처리량 영향 검토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사용자 매뉴얼 배포 및 활용 안내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SemiBold"/>
        <a:ea typeface="Pretendard SemiBold"/>
        <a:cs typeface=""/>
      </a:majorFont>
      <a:minorFont>
        <a:latin typeface="Pretendard Light"/>
        <a:ea typeface="Pretendard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32690</TotalTime>
  <Words>532</Words>
  <Application>Microsoft Office PowerPoint</Application>
  <PresentationFormat>와이드스크린</PresentationFormat>
  <Paragraphs>179</Paragraphs>
  <Slides>13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Pretendard Medium</vt:lpstr>
      <vt:lpstr>Pretendard SemiBold</vt:lpstr>
      <vt:lpstr>맑은 고딕</vt:lpstr>
      <vt:lpstr>Pretendard Light</vt:lpstr>
      <vt:lpstr>Arial</vt:lpstr>
      <vt:lpstr>Pretendard ExtraBold</vt:lpstr>
      <vt:lpstr>Pretendard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이병헌(Byung Heon Lee)</dc:creator>
  <cp:lastModifiedBy>ESOP</cp:lastModifiedBy>
  <cp:revision>3747</cp:revision>
  <cp:lastPrinted>2025-07-24T05:13:39Z</cp:lastPrinted>
  <dcterms:created xsi:type="dcterms:W3CDTF">2024-12-02T05:24:56Z</dcterms:created>
  <dcterms:modified xsi:type="dcterms:W3CDTF">2026-05-26T05:22:33Z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