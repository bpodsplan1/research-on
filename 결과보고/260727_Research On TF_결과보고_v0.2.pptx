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3" r:id="rId1"/>
  </p:sldMasterIdLst>
  <p:notesMasterIdLst>
    <p:notesMasterId r:id="rId29"/>
  </p:notesMasterIdLst>
  <p:sldIdLst>
    <p:sldId id="321" r:id="rId2"/>
    <p:sldId id="1019" r:id="rId3"/>
    <p:sldId id="1020" r:id="rId4"/>
    <p:sldId id="1025" r:id="rId5"/>
    <p:sldId id="962" r:id="rId6"/>
    <p:sldId id="972" r:id="rId7"/>
    <p:sldId id="976" r:id="rId8"/>
    <p:sldId id="982" r:id="rId9"/>
    <p:sldId id="1021" r:id="rId10"/>
    <p:sldId id="973" r:id="rId11"/>
    <p:sldId id="974" r:id="rId12"/>
    <p:sldId id="1031" r:id="rId13"/>
    <p:sldId id="1032" r:id="rId14"/>
    <p:sldId id="1033" r:id="rId15"/>
    <p:sldId id="1034" r:id="rId16"/>
    <p:sldId id="1035" r:id="rId17"/>
    <p:sldId id="1036" r:id="rId18"/>
    <p:sldId id="1037" r:id="rId19"/>
    <p:sldId id="1038" r:id="rId20"/>
    <p:sldId id="992" r:id="rId21"/>
    <p:sldId id="1040" r:id="rId22"/>
    <p:sldId id="1000" r:id="rId23"/>
    <p:sldId id="1004" r:id="rId24"/>
    <p:sldId id="994" r:id="rId25"/>
    <p:sldId id="1023" r:id="rId26"/>
    <p:sldId id="1030" r:id="rId27"/>
    <p:sldId id="864" r:id="rId28"/>
  </p:sldIdLst>
  <p:sldSz cx="12192000" cy="6858000"/>
  <p:notesSz cx="6797675" cy="9926638"/>
  <p:embeddedFontLst>
    <p:embeddedFont>
      <p:font typeface="Pretendard SemiBold" panose="02000703000000020004" pitchFamily="2" charset="-127"/>
      <p:bold r:id="rId30"/>
    </p:embeddedFont>
    <p:embeddedFont>
      <p:font typeface="맑은 고딕" panose="020B0503020000020004" pitchFamily="50" charset="-127"/>
      <p:regular r:id="rId31"/>
      <p:bold r:id="rId32"/>
    </p:embeddedFont>
    <p:embeddedFont>
      <p:font typeface="Pretendard Medium" panose="02000603000000020004" pitchFamily="2" charset="-127"/>
      <p:regular r:id="rId33"/>
    </p:embeddedFont>
    <p:embeddedFont>
      <p:font typeface="Pretendard" panose="02000503000000020004" pitchFamily="2" charset="-127"/>
      <p:regular r:id="rId34"/>
      <p:bold r:id="rId35"/>
    </p:embeddedFont>
    <p:embeddedFont>
      <p:font typeface="Pretendard Light" panose="02000403000000020004" pitchFamily="2" charset="-127"/>
      <p:regular r:id="rId36"/>
    </p:embeddedFont>
    <p:embeddedFont>
      <p:font typeface="KoPubWorld돋움체 Bold" panose="00000800000000000000" pitchFamily="2" charset="-127"/>
      <p:bold r:id="rId37"/>
    </p:embeddedFont>
    <p:embeddedFont>
      <p:font typeface="Noto Sans KR" panose="020B0200000000000000" pitchFamily="50" charset="-127"/>
      <p:regular r:id="rId38"/>
      <p:bold r:id="rId39"/>
    </p:embeddedFont>
    <p:embeddedFont>
      <p:font typeface="Pretendard ExtraBold" panose="02000903000000020004" pitchFamily="2" charset="-127"/>
      <p:bold r:id="rId40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57" userDrawn="1">
          <p15:clr>
            <a:srgbClr val="A4A3A4"/>
          </p15:clr>
        </p15:guide>
        <p15:guide id="2" pos="7197" userDrawn="1">
          <p15:clr>
            <a:srgbClr val="A4A3A4"/>
          </p15:clr>
        </p15:guide>
        <p15:guide id="3" pos="982" userDrawn="1">
          <p15:clr>
            <a:srgbClr val="A4A3A4"/>
          </p15:clr>
        </p15:guide>
        <p15:guide id="5" orient="horz" pos="232" userDrawn="1">
          <p15:clr>
            <a:srgbClr val="A4A3A4"/>
          </p15:clr>
        </p15:guide>
        <p15:guide id="8" orient="horz" pos="3113" userDrawn="1">
          <p15:clr>
            <a:srgbClr val="A4A3A4"/>
          </p15:clr>
        </p15:guide>
        <p15:guide id="9" pos="1028" userDrawn="1">
          <p15:clr>
            <a:srgbClr val="A4A3A4"/>
          </p15:clr>
        </p15:guide>
        <p15:guide id="10" pos="824" userDrawn="1">
          <p15:clr>
            <a:srgbClr val="A4A3A4"/>
          </p15:clr>
        </p15:guide>
        <p15:guide id="11" orient="horz" pos="4133" userDrawn="1">
          <p15:clr>
            <a:srgbClr val="A4A3A4"/>
          </p15:clr>
        </p15:guide>
        <p15:guide id="12" orient="horz" pos="59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5E3FF"/>
    <a:srgbClr val="F3F3F3"/>
    <a:srgbClr val="0048D7"/>
    <a:srgbClr val="F7F7F7"/>
    <a:srgbClr val="CBB6A6"/>
    <a:srgbClr val="E2D4A2"/>
    <a:srgbClr val="2296F6"/>
    <a:srgbClr val="FFFFFF"/>
    <a:srgbClr val="0000FF"/>
    <a:srgbClr val="2F6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934" autoAdjust="0"/>
    <p:restoredTop sz="93830" autoAdjust="0"/>
  </p:normalViewPr>
  <p:slideViewPr>
    <p:cSldViewPr snapToGrid="0" showGuides="1">
      <p:cViewPr varScale="1">
        <p:scale>
          <a:sx n="77" d="100"/>
          <a:sy n="77" d="100"/>
        </p:scale>
        <p:origin x="942" y="78"/>
      </p:cViewPr>
      <p:guideLst>
        <p:guide orient="horz" pos="1457"/>
        <p:guide pos="7197"/>
        <p:guide pos="982"/>
        <p:guide orient="horz" pos="232"/>
        <p:guide orient="horz" pos="3113"/>
        <p:guide pos="1028"/>
        <p:guide pos="824"/>
        <p:guide orient="horz" pos="4133"/>
        <p:guide orient="horz" pos="595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>
        <p:scale>
          <a:sx n="75" d="100"/>
          <a:sy n="75" d="100"/>
        </p:scale>
        <p:origin x="4026" y="1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0.fntdata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8055"/>
          </a:xfrm>
          <a:prstGeom prst="rect">
            <a:avLst/>
          </a:prstGeom>
        </p:spPr>
        <p:txBody>
          <a:bodyPr vert="horz" lIns="95550" tIns="47776" rIns="95550" bIns="47776" rtlCol="0"/>
          <a:lstStyle>
            <a:lvl1pPr algn="l">
              <a:defRPr sz="13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59" cy="498055"/>
          </a:xfrm>
          <a:prstGeom prst="rect">
            <a:avLst/>
          </a:prstGeom>
        </p:spPr>
        <p:txBody>
          <a:bodyPr vert="horz" lIns="95550" tIns="47776" rIns="95550" bIns="47776" rtlCol="0"/>
          <a:lstStyle>
            <a:lvl1pPr algn="r">
              <a:defRPr sz="1300"/>
            </a:lvl1pPr>
          </a:lstStyle>
          <a:p>
            <a:fld id="{9BAAA546-D43D-47CC-B25D-0C288D87569B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59982" y="1279132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50" tIns="47776" rIns="95550" bIns="47776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5550" tIns="47776" rIns="95550" bIns="47776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28584"/>
            <a:ext cx="2945659" cy="498054"/>
          </a:xfrm>
          <a:prstGeom prst="rect">
            <a:avLst/>
          </a:prstGeom>
        </p:spPr>
        <p:txBody>
          <a:bodyPr vert="horz" lIns="95550" tIns="47776" rIns="95550" bIns="47776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4" y="9428584"/>
            <a:ext cx="2945659" cy="498054"/>
          </a:xfrm>
          <a:prstGeom prst="rect">
            <a:avLst/>
          </a:prstGeom>
        </p:spPr>
        <p:txBody>
          <a:bodyPr vert="horz" lIns="95550" tIns="47776" rIns="95550" bIns="47776" rtlCol="0" anchor="b"/>
          <a:lstStyle>
            <a:lvl1pPr algn="r">
              <a:defRPr sz="1300"/>
            </a:lvl1pPr>
          </a:lstStyle>
          <a:p>
            <a:fld id="{41B03A8D-517D-4625-8E0B-26A3BB5BDC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561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450850" y="1241425"/>
            <a:ext cx="5953125" cy="33496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188456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450850" y="1241425"/>
            <a:ext cx="5953125" cy="33496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942663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450850" y="1241425"/>
            <a:ext cx="5953125" cy="33496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2295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450850" y="1241425"/>
            <a:ext cx="5953125" cy="33496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226709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450850" y="1241425"/>
            <a:ext cx="5953125" cy="33496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022766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450850" y="1241425"/>
            <a:ext cx="5953125" cy="33496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412807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450850" y="1241425"/>
            <a:ext cx="5953125" cy="33496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842420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450850" y="1241425"/>
            <a:ext cx="5953125" cy="33496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793085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450850" y="1241425"/>
            <a:ext cx="5953125" cy="33496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776903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450850" y="1241425"/>
            <a:ext cx="5953125" cy="33496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929296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450850" y="1241425"/>
            <a:ext cx="5953125" cy="33496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95092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450850" y="1241425"/>
            <a:ext cx="5953125" cy="33496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481910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450850" y="1241425"/>
            <a:ext cx="5953125" cy="33496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422720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450850" y="1241425"/>
            <a:ext cx="5953125" cy="33496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132429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450850" y="1241425"/>
            <a:ext cx="5953125" cy="33496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827999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450850" y="1241425"/>
            <a:ext cx="5953125" cy="33496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088925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450850" y="1241425"/>
            <a:ext cx="5953125" cy="33496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333843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450850" y="1241425"/>
            <a:ext cx="5953125" cy="33496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9718349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450850" y="1241425"/>
            <a:ext cx="5953125" cy="33496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908419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450850" y="1241425"/>
            <a:ext cx="5953125" cy="33496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3641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450850" y="1241425"/>
            <a:ext cx="5953125" cy="33496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5239638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450850" y="1241425"/>
            <a:ext cx="5953125" cy="33496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83783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표지">
    <p:bg>
      <p:bgPr>
        <a:solidFill>
          <a:srgbClr val="229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자유형 4"/>
          <p:cNvSpPr/>
          <p:nvPr userDrawn="1"/>
        </p:nvSpPr>
        <p:spPr>
          <a:xfrm>
            <a:off x="7641132" y="1955800"/>
            <a:ext cx="6307736" cy="3442695"/>
          </a:xfrm>
          <a:custGeom>
            <a:avLst/>
            <a:gdLst>
              <a:gd name="connsiteX0" fmla="*/ 3035561 w 11123563"/>
              <a:gd name="connsiteY0" fmla="*/ 1074103 h 6071122"/>
              <a:gd name="connsiteX1" fmla="*/ 4997019 w 11123563"/>
              <a:gd name="connsiteY1" fmla="*/ 3035561 h 6071122"/>
              <a:gd name="connsiteX2" fmla="*/ 3035561 w 11123563"/>
              <a:gd name="connsiteY2" fmla="*/ 4997019 h 6071122"/>
              <a:gd name="connsiteX3" fmla="*/ 1074103 w 11123563"/>
              <a:gd name="connsiteY3" fmla="*/ 3035561 h 6071122"/>
              <a:gd name="connsiteX4" fmla="*/ 3035561 w 11123563"/>
              <a:gd name="connsiteY4" fmla="*/ 1074103 h 6071122"/>
              <a:gd name="connsiteX5" fmla="*/ 8088002 w 11123563"/>
              <a:gd name="connsiteY5" fmla="*/ 1074103 h 6071122"/>
              <a:gd name="connsiteX6" fmla="*/ 10049460 w 11123563"/>
              <a:gd name="connsiteY6" fmla="*/ 3035561 h 6071122"/>
              <a:gd name="connsiteX7" fmla="*/ 8088002 w 11123563"/>
              <a:gd name="connsiteY7" fmla="*/ 4997019 h 6071122"/>
              <a:gd name="connsiteX8" fmla="*/ 6126544 w 11123563"/>
              <a:gd name="connsiteY8" fmla="*/ 3035561 h 6071122"/>
              <a:gd name="connsiteX9" fmla="*/ 8088002 w 11123563"/>
              <a:gd name="connsiteY9" fmla="*/ 1074103 h 6071122"/>
              <a:gd name="connsiteX10" fmla="*/ 8088002 w 11123563"/>
              <a:gd name="connsiteY10" fmla="*/ 0 h 6071122"/>
              <a:gd name="connsiteX11" fmla="*/ 5570867 w 11123563"/>
              <a:gd name="connsiteY11" fmla="*/ 1338350 h 6071122"/>
              <a:gd name="connsiteX12" fmla="*/ 5561782 w 11123563"/>
              <a:gd name="connsiteY12" fmla="*/ 1353306 h 6071122"/>
              <a:gd name="connsiteX13" fmla="*/ 5552696 w 11123563"/>
              <a:gd name="connsiteY13" fmla="*/ 1338350 h 6071122"/>
              <a:gd name="connsiteX14" fmla="*/ 3035561 w 11123563"/>
              <a:gd name="connsiteY14" fmla="*/ 0 h 6071122"/>
              <a:gd name="connsiteX15" fmla="*/ 0 w 11123563"/>
              <a:gd name="connsiteY15" fmla="*/ 3035561 h 6071122"/>
              <a:gd name="connsiteX16" fmla="*/ 3035561 w 11123563"/>
              <a:gd name="connsiteY16" fmla="*/ 6071122 h 6071122"/>
              <a:gd name="connsiteX17" fmla="*/ 5552696 w 11123563"/>
              <a:gd name="connsiteY17" fmla="*/ 4732772 h 6071122"/>
              <a:gd name="connsiteX18" fmla="*/ 5561782 w 11123563"/>
              <a:gd name="connsiteY18" fmla="*/ 4717817 h 6071122"/>
              <a:gd name="connsiteX19" fmla="*/ 5570867 w 11123563"/>
              <a:gd name="connsiteY19" fmla="*/ 4732772 h 6071122"/>
              <a:gd name="connsiteX20" fmla="*/ 8088002 w 11123563"/>
              <a:gd name="connsiteY20" fmla="*/ 6071122 h 6071122"/>
              <a:gd name="connsiteX21" fmla="*/ 11123563 w 11123563"/>
              <a:gd name="connsiteY21" fmla="*/ 3035561 h 6071122"/>
              <a:gd name="connsiteX22" fmla="*/ 8088002 w 11123563"/>
              <a:gd name="connsiteY22" fmla="*/ 0 h 6071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1123563" h="6071122">
                <a:moveTo>
                  <a:pt x="3035561" y="1074103"/>
                </a:moveTo>
                <a:cubicBezTo>
                  <a:pt x="4118844" y="1074103"/>
                  <a:pt x="4997019" y="1952278"/>
                  <a:pt x="4997019" y="3035561"/>
                </a:cubicBezTo>
                <a:cubicBezTo>
                  <a:pt x="4997019" y="4118844"/>
                  <a:pt x="4118844" y="4997019"/>
                  <a:pt x="3035561" y="4997019"/>
                </a:cubicBezTo>
                <a:cubicBezTo>
                  <a:pt x="1952278" y="4997019"/>
                  <a:pt x="1074103" y="4118844"/>
                  <a:pt x="1074103" y="3035561"/>
                </a:cubicBezTo>
                <a:cubicBezTo>
                  <a:pt x="1074103" y="1952278"/>
                  <a:pt x="1952278" y="1074103"/>
                  <a:pt x="3035561" y="1074103"/>
                </a:cubicBezTo>
                <a:close/>
                <a:moveTo>
                  <a:pt x="8088002" y="1074103"/>
                </a:moveTo>
                <a:cubicBezTo>
                  <a:pt x="9171285" y="1074103"/>
                  <a:pt x="10049460" y="1952278"/>
                  <a:pt x="10049460" y="3035561"/>
                </a:cubicBezTo>
                <a:cubicBezTo>
                  <a:pt x="10049460" y="4118844"/>
                  <a:pt x="9171285" y="4997019"/>
                  <a:pt x="8088002" y="4997019"/>
                </a:cubicBezTo>
                <a:cubicBezTo>
                  <a:pt x="7004719" y="4997019"/>
                  <a:pt x="6126544" y="4118844"/>
                  <a:pt x="6126544" y="3035561"/>
                </a:cubicBezTo>
                <a:cubicBezTo>
                  <a:pt x="6126544" y="1952278"/>
                  <a:pt x="7004719" y="1074103"/>
                  <a:pt x="8088002" y="1074103"/>
                </a:cubicBezTo>
                <a:close/>
                <a:moveTo>
                  <a:pt x="8088002" y="0"/>
                </a:moveTo>
                <a:cubicBezTo>
                  <a:pt x="7040193" y="0"/>
                  <a:pt x="6116380" y="530886"/>
                  <a:pt x="5570867" y="1338350"/>
                </a:cubicBezTo>
                <a:lnTo>
                  <a:pt x="5561782" y="1353306"/>
                </a:lnTo>
                <a:lnTo>
                  <a:pt x="5552696" y="1338350"/>
                </a:lnTo>
                <a:cubicBezTo>
                  <a:pt x="5007184" y="530886"/>
                  <a:pt x="4083370" y="0"/>
                  <a:pt x="3035561" y="0"/>
                </a:cubicBezTo>
                <a:cubicBezTo>
                  <a:pt x="1359067" y="0"/>
                  <a:pt x="0" y="1359067"/>
                  <a:pt x="0" y="3035561"/>
                </a:cubicBezTo>
                <a:cubicBezTo>
                  <a:pt x="0" y="4712055"/>
                  <a:pt x="1359067" y="6071122"/>
                  <a:pt x="3035561" y="6071122"/>
                </a:cubicBezTo>
                <a:cubicBezTo>
                  <a:pt x="4083370" y="6071122"/>
                  <a:pt x="5007184" y="5540237"/>
                  <a:pt x="5552696" y="4732772"/>
                </a:cubicBezTo>
                <a:lnTo>
                  <a:pt x="5561782" y="4717817"/>
                </a:lnTo>
                <a:lnTo>
                  <a:pt x="5570867" y="4732772"/>
                </a:lnTo>
                <a:cubicBezTo>
                  <a:pt x="6116380" y="5540237"/>
                  <a:pt x="7040193" y="6071122"/>
                  <a:pt x="8088002" y="6071122"/>
                </a:cubicBezTo>
                <a:cubicBezTo>
                  <a:pt x="9764496" y="6071122"/>
                  <a:pt x="11123563" y="4712055"/>
                  <a:pt x="11123563" y="3035561"/>
                </a:cubicBezTo>
                <a:cubicBezTo>
                  <a:pt x="11123563" y="1359067"/>
                  <a:pt x="9764496" y="0"/>
                  <a:pt x="8088002" y="0"/>
                </a:cubicBezTo>
                <a:close/>
              </a:path>
            </a:pathLst>
          </a:custGeom>
          <a:gradFill>
            <a:gsLst>
              <a:gs pos="0">
                <a:srgbClr val="2296F6"/>
              </a:gs>
              <a:gs pos="100000">
                <a:srgbClr val="C9E5FD">
                  <a:alpha val="0"/>
                </a:srgbClr>
              </a:gs>
            </a:gsLst>
            <a:path path="circle">
              <a:fillToRect l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" name="자유형 5"/>
          <p:cNvSpPr/>
          <p:nvPr userDrawn="1"/>
        </p:nvSpPr>
        <p:spPr>
          <a:xfrm>
            <a:off x="-1676400" y="1955800"/>
            <a:ext cx="6307736" cy="3442695"/>
          </a:xfrm>
          <a:custGeom>
            <a:avLst/>
            <a:gdLst>
              <a:gd name="connsiteX0" fmla="*/ 3035561 w 11123563"/>
              <a:gd name="connsiteY0" fmla="*/ 1074103 h 6071122"/>
              <a:gd name="connsiteX1" fmla="*/ 4997019 w 11123563"/>
              <a:gd name="connsiteY1" fmla="*/ 3035561 h 6071122"/>
              <a:gd name="connsiteX2" fmla="*/ 3035561 w 11123563"/>
              <a:gd name="connsiteY2" fmla="*/ 4997019 h 6071122"/>
              <a:gd name="connsiteX3" fmla="*/ 1074103 w 11123563"/>
              <a:gd name="connsiteY3" fmla="*/ 3035561 h 6071122"/>
              <a:gd name="connsiteX4" fmla="*/ 3035561 w 11123563"/>
              <a:gd name="connsiteY4" fmla="*/ 1074103 h 6071122"/>
              <a:gd name="connsiteX5" fmla="*/ 8088002 w 11123563"/>
              <a:gd name="connsiteY5" fmla="*/ 1074103 h 6071122"/>
              <a:gd name="connsiteX6" fmla="*/ 10049460 w 11123563"/>
              <a:gd name="connsiteY6" fmla="*/ 3035561 h 6071122"/>
              <a:gd name="connsiteX7" fmla="*/ 8088002 w 11123563"/>
              <a:gd name="connsiteY7" fmla="*/ 4997019 h 6071122"/>
              <a:gd name="connsiteX8" fmla="*/ 6126544 w 11123563"/>
              <a:gd name="connsiteY8" fmla="*/ 3035561 h 6071122"/>
              <a:gd name="connsiteX9" fmla="*/ 8088002 w 11123563"/>
              <a:gd name="connsiteY9" fmla="*/ 1074103 h 6071122"/>
              <a:gd name="connsiteX10" fmla="*/ 8088002 w 11123563"/>
              <a:gd name="connsiteY10" fmla="*/ 0 h 6071122"/>
              <a:gd name="connsiteX11" fmla="*/ 5570867 w 11123563"/>
              <a:gd name="connsiteY11" fmla="*/ 1338350 h 6071122"/>
              <a:gd name="connsiteX12" fmla="*/ 5561782 w 11123563"/>
              <a:gd name="connsiteY12" fmla="*/ 1353306 h 6071122"/>
              <a:gd name="connsiteX13" fmla="*/ 5552696 w 11123563"/>
              <a:gd name="connsiteY13" fmla="*/ 1338350 h 6071122"/>
              <a:gd name="connsiteX14" fmla="*/ 3035561 w 11123563"/>
              <a:gd name="connsiteY14" fmla="*/ 0 h 6071122"/>
              <a:gd name="connsiteX15" fmla="*/ 0 w 11123563"/>
              <a:gd name="connsiteY15" fmla="*/ 3035561 h 6071122"/>
              <a:gd name="connsiteX16" fmla="*/ 3035561 w 11123563"/>
              <a:gd name="connsiteY16" fmla="*/ 6071122 h 6071122"/>
              <a:gd name="connsiteX17" fmla="*/ 5552696 w 11123563"/>
              <a:gd name="connsiteY17" fmla="*/ 4732772 h 6071122"/>
              <a:gd name="connsiteX18" fmla="*/ 5561782 w 11123563"/>
              <a:gd name="connsiteY18" fmla="*/ 4717817 h 6071122"/>
              <a:gd name="connsiteX19" fmla="*/ 5570867 w 11123563"/>
              <a:gd name="connsiteY19" fmla="*/ 4732772 h 6071122"/>
              <a:gd name="connsiteX20" fmla="*/ 8088002 w 11123563"/>
              <a:gd name="connsiteY20" fmla="*/ 6071122 h 6071122"/>
              <a:gd name="connsiteX21" fmla="*/ 11123563 w 11123563"/>
              <a:gd name="connsiteY21" fmla="*/ 3035561 h 6071122"/>
              <a:gd name="connsiteX22" fmla="*/ 8088002 w 11123563"/>
              <a:gd name="connsiteY22" fmla="*/ 0 h 6071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1123563" h="6071122">
                <a:moveTo>
                  <a:pt x="3035561" y="1074103"/>
                </a:moveTo>
                <a:cubicBezTo>
                  <a:pt x="4118844" y="1074103"/>
                  <a:pt x="4997019" y="1952278"/>
                  <a:pt x="4997019" y="3035561"/>
                </a:cubicBezTo>
                <a:cubicBezTo>
                  <a:pt x="4997019" y="4118844"/>
                  <a:pt x="4118844" y="4997019"/>
                  <a:pt x="3035561" y="4997019"/>
                </a:cubicBezTo>
                <a:cubicBezTo>
                  <a:pt x="1952278" y="4997019"/>
                  <a:pt x="1074103" y="4118844"/>
                  <a:pt x="1074103" y="3035561"/>
                </a:cubicBezTo>
                <a:cubicBezTo>
                  <a:pt x="1074103" y="1952278"/>
                  <a:pt x="1952278" y="1074103"/>
                  <a:pt x="3035561" y="1074103"/>
                </a:cubicBezTo>
                <a:close/>
                <a:moveTo>
                  <a:pt x="8088002" y="1074103"/>
                </a:moveTo>
                <a:cubicBezTo>
                  <a:pt x="9171285" y="1074103"/>
                  <a:pt x="10049460" y="1952278"/>
                  <a:pt x="10049460" y="3035561"/>
                </a:cubicBezTo>
                <a:cubicBezTo>
                  <a:pt x="10049460" y="4118844"/>
                  <a:pt x="9171285" y="4997019"/>
                  <a:pt x="8088002" y="4997019"/>
                </a:cubicBezTo>
                <a:cubicBezTo>
                  <a:pt x="7004719" y="4997019"/>
                  <a:pt x="6126544" y="4118844"/>
                  <a:pt x="6126544" y="3035561"/>
                </a:cubicBezTo>
                <a:cubicBezTo>
                  <a:pt x="6126544" y="1952278"/>
                  <a:pt x="7004719" y="1074103"/>
                  <a:pt x="8088002" y="1074103"/>
                </a:cubicBezTo>
                <a:close/>
                <a:moveTo>
                  <a:pt x="8088002" y="0"/>
                </a:moveTo>
                <a:cubicBezTo>
                  <a:pt x="7040193" y="0"/>
                  <a:pt x="6116380" y="530886"/>
                  <a:pt x="5570867" y="1338350"/>
                </a:cubicBezTo>
                <a:lnTo>
                  <a:pt x="5561782" y="1353306"/>
                </a:lnTo>
                <a:lnTo>
                  <a:pt x="5552696" y="1338350"/>
                </a:lnTo>
                <a:cubicBezTo>
                  <a:pt x="5007184" y="530886"/>
                  <a:pt x="4083370" y="0"/>
                  <a:pt x="3035561" y="0"/>
                </a:cubicBezTo>
                <a:cubicBezTo>
                  <a:pt x="1359067" y="0"/>
                  <a:pt x="0" y="1359067"/>
                  <a:pt x="0" y="3035561"/>
                </a:cubicBezTo>
                <a:cubicBezTo>
                  <a:pt x="0" y="4712055"/>
                  <a:pt x="1359067" y="6071122"/>
                  <a:pt x="3035561" y="6071122"/>
                </a:cubicBezTo>
                <a:cubicBezTo>
                  <a:pt x="4083370" y="6071122"/>
                  <a:pt x="5007184" y="5540237"/>
                  <a:pt x="5552696" y="4732772"/>
                </a:cubicBezTo>
                <a:lnTo>
                  <a:pt x="5561782" y="4717817"/>
                </a:lnTo>
                <a:lnTo>
                  <a:pt x="5570867" y="4732772"/>
                </a:lnTo>
                <a:cubicBezTo>
                  <a:pt x="6116380" y="5540237"/>
                  <a:pt x="7040193" y="6071122"/>
                  <a:pt x="8088002" y="6071122"/>
                </a:cubicBezTo>
                <a:cubicBezTo>
                  <a:pt x="9764496" y="6071122"/>
                  <a:pt x="11123563" y="4712055"/>
                  <a:pt x="11123563" y="3035561"/>
                </a:cubicBezTo>
                <a:cubicBezTo>
                  <a:pt x="11123563" y="1359067"/>
                  <a:pt x="9764496" y="0"/>
                  <a:pt x="8088002" y="0"/>
                </a:cubicBezTo>
                <a:close/>
              </a:path>
            </a:pathLst>
          </a:custGeom>
          <a:gradFill>
            <a:gsLst>
              <a:gs pos="0">
                <a:srgbClr val="2296F6">
                  <a:alpha val="0"/>
                </a:srgbClr>
              </a:gs>
              <a:gs pos="100000">
                <a:srgbClr val="C9E5FD"/>
              </a:gs>
            </a:gsLst>
            <a:path path="circle">
              <a:fillToRect l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" name="Rectangle 2"/>
          <p:cNvSpPr/>
          <p:nvPr userDrawn="1"/>
        </p:nvSpPr>
        <p:spPr bwMode="auto">
          <a:xfrm>
            <a:off x="4831343" y="6370812"/>
            <a:ext cx="7360656" cy="4783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defTabSz="914446">
              <a:defRPr/>
            </a:pPr>
            <a:endParaRPr lang="en-US" sz="1400" b="1" dirty="0">
              <a:solidFill>
                <a:schemeClr val="bg1"/>
              </a:solidFill>
              <a:latin typeface="Pretendard Light" panose="02000403000000020004" charset="-127"/>
              <a:ea typeface="Pretendard Light" panose="02000403000000020004" charset="-127"/>
              <a:cs typeface="Pretendard Light" panose="02000403000000020004" charset="-127"/>
            </a:endParaRPr>
          </a:p>
          <a:p>
            <a:pPr algn="r" defTabSz="914446">
              <a:defRPr/>
            </a:pPr>
            <a:r>
              <a:rPr lang="ko-KR" altLang="en-US" sz="900" i="1" dirty="0">
                <a:solidFill>
                  <a:schemeClr val="bg1"/>
                </a:solidFill>
                <a:latin typeface="Pretendard Light" panose="02000403000000020004" charset="-127"/>
                <a:ea typeface="Pretendard Light" panose="02000403000000020004" charset="-127"/>
                <a:cs typeface="Pretendard Light" panose="02000403000000020004" charset="-127"/>
              </a:rPr>
              <a:t>본 자료는 특정 메일 수신자에 한하여 제공되며</a:t>
            </a:r>
            <a:r>
              <a:rPr lang="en-US" altLang="ko-KR" sz="900" i="1" dirty="0">
                <a:solidFill>
                  <a:schemeClr val="bg1"/>
                </a:solidFill>
                <a:latin typeface="Pretendard Light" panose="02000403000000020004" charset="-127"/>
                <a:ea typeface="Pretendard Light" panose="02000403000000020004" charset="-127"/>
                <a:cs typeface="Pretendard Light" panose="02000403000000020004" charset="-127"/>
              </a:rPr>
              <a:t>, </a:t>
            </a:r>
            <a:r>
              <a:rPr lang="ko-KR" altLang="en-US" sz="900" i="1" dirty="0">
                <a:solidFill>
                  <a:schemeClr val="bg1"/>
                </a:solidFill>
                <a:latin typeface="Pretendard Light" panose="02000403000000020004" charset="-127"/>
                <a:ea typeface="Pretendard Light" panose="02000403000000020004" charset="-127"/>
                <a:cs typeface="Pretendard Light" panose="02000403000000020004" charset="-127"/>
              </a:rPr>
              <a:t>제공자의 허락없이 재전송 및 편집</a:t>
            </a:r>
            <a:r>
              <a:rPr lang="en-US" altLang="ko-KR" sz="900" i="1" dirty="0">
                <a:solidFill>
                  <a:schemeClr val="bg1"/>
                </a:solidFill>
                <a:latin typeface="Pretendard Light" panose="02000403000000020004" charset="-127"/>
                <a:ea typeface="Pretendard Light" panose="02000403000000020004" charset="-127"/>
                <a:cs typeface="Pretendard Light" panose="02000403000000020004" charset="-127"/>
              </a:rPr>
              <a:t>·</a:t>
            </a:r>
            <a:r>
              <a:rPr lang="ko-KR" altLang="en-US" sz="900" i="1" dirty="0">
                <a:solidFill>
                  <a:schemeClr val="bg1"/>
                </a:solidFill>
                <a:latin typeface="Pretendard Light" panose="02000403000000020004" charset="-127"/>
                <a:ea typeface="Pretendard Light" panose="02000403000000020004" charset="-127"/>
                <a:cs typeface="Pretendard Light" panose="02000403000000020004" charset="-127"/>
              </a:rPr>
              <a:t>가공할 수 없습니다</a:t>
            </a:r>
            <a:r>
              <a:rPr lang="en-US" altLang="ko-KR" sz="900" i="1" dirty="0">
                <a:solidFill>
                  <a:schemeClr val="bg1"/>
                </a:solidFill>
                <a:latin typeface="Pretendard Light" panose="02000403000000020004" charset="-127"/>
                <a:ea typeface="Pretendard Light" panose="02000403000000020004" charset="-127"/>
                <a:cs typeface="Pretendard Light" panose="02000403000000020004" charset="-127"/>
              </a:rPr>
              <a:t>. </a:t>
            </a:r>
            <a:endParaRPr lang="en-US" sz="900" i="1" dirty="0">
              <a:solidFill>
                <a:schemeClr val="bg1"/>
              </a:solidFill>
              <a:latin typeface="Pretendard Light" panose="02000403000000020004" charset="-127"/>
              <a:ea typeface="Pretendard Light" panose="02000403000000020004" charset="-127"/>
              <a:cs typeface="Pretendard Light" panose="02000403000000020004" charset="-127"/>
            </a:endParaRPr>
          </a:p>
          <a:p>
            <a:pPr algn="r" defTabSz="914446">
              <a:defRPr/>
            </a:pPr>
            <a:r>
              <a:rPr lang="en-US" altLang="ko-KR" sz="900" i="1" dirty="0">
                <a:solidFill>
                  <a:schemeClr val="bg1"/>
                </a:solidFill>
                <a:latin typeface="Pretendard Light" panose="02000403000000020004" charset="-127"/>
                <a:ea typeface="Pretendard Light" panose="02000403000000020004" charset="-127"/>
                <a:cs typeface="Pretendard Light" panose="02000403000000020004" charset="-127"/>
              </a:rPr>
              <a:t> </a:t>
            </a:r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-2103084" y="2606180"/>
            <a:ext cx="9116711" cy="15329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t"/>
          <a:lstStyle/>
          <a:p>
            <a:pPr algn="ctr"/>
            <a:endParaRPr lang="ko-KR" altLang="en-US" sz="2800" i="1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bg1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191643" y="369712"/>
            <a:ext cx="665247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>
                    <a:alpha val="67000"/>
                  </a:schemeClr>
                </a:solidFill>
                <a:latin typeface="Pretendard SemiBold" panose="02000703000000020004" charset="-127"/>
                <a:ea typeface="Pretendard SemiBold" panose="02000703000000020004" charset="-127"/>
                <a:cs typeface="Pretendard SemiBold" panose="02000703000000020004" charset="-127"/>
              </a:rPr>
              <a:t>Beyond Borders, </a:t>
            </a:r>
          </a:p>
          <a:p>
            <a:r>
              <a:rPr lang="en-US" altLang="ko-KR" sz="3200" dirty="0">
                <a:solidFill>
                  <a:schemeClr val="bg1">
                    <a:alpha val="67000"/>
                  </a:schemeClr>
                </a:solidFill>
                <a:latin typeface="Pretendard SemiBold" panose="02000703000000020004" charset="-127"/>
                <a:ea typeface="Pretendard SemiBold" panose="02000703000000020004" charset="-127"/>
                <a:cs typeface="Pretendard SemiBold" panose="02000703000000020004" charset="-127"/>
              </a:rPr>
              <a:t>Beyond Expectations</a:t>
            </a:r>
          </a:p>
        </p:txBody>
      </p:sp>
      <p:sp>
        <p:nvSpPr>
          <p:cNvPr id="12" name="직사각형 11"/>
          <p:cNvSpPr/>
          <p:nvPr userDrawn="1"/>
        </p:nvSpPr>
        <p:spPr>
          <a:xfrm>
            <a:off x="191641" y="6423637"/>
            <a:ext cx="3249609" cy="28866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r">
              <a:lnSpc>
                <a:spcPct val="116199"/>
              </a:lnSpc>
            </a:pPr>
            <a:r>
              <a:rPr lang="en-US" altLang="ko-KR" sz="1100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Copyright </a:t>
            </a:r>
            <a:r>
              <a:rPr lang="ko-KR" altLang="en-US" sz="1100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ⓒ </a:t>
            </a:r>
            <a:r>
              <a:rPr lang="en-US" altLang="ko-KR" sz="1100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ETNERS Co., Ltd. All rights reserved.</a:t>
            </a:r>
          </a:p>
        </p:txBody>
      </p:sp>
      <p:sp>
        <p:nvSpPr>
          <p:cNvPr id="13" name="모서리가 둥근 직사각형 12"/>
          <p:cNvSpPr/>
          <p:nvPr userDrawn="1"/>
        </p:nvSpPr>
        <p:spPr>
          <a:xfrm>
            <a:off x="3985260" y="4547138"/>
            <a:ext cx="4221480" cy="26754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bIns="90000" rtlCol="0" anchor="ctr" anchorCtr="0"/>
          <a:lstStyle/>
          <a:p>
            <a:pPr algn="ctr">
              <a:tabLst>
                <a:tab pos="3856038" algn="l"/>
              </a:tabLst>
            </a:pPr>
            <a:r>
              <a:rPr lang="en-US" altLang="ko-KR" sz="1600" dirty="0">
                <a:solidFill>
                  <a:srgbClr val="2296F6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Et</a:t>
            </a:r>
            <a:r>
              <a:rPr lang="en-US" altLang="ko-KR" sz="1600" dirty="0">
                <a:solidFill>
                  <a:srgbClr val="94CCF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ernal Part</a:t>
            </a:r>
            <a:r>
              <a:rPr lang="en-US" altLang="ko-KR" sz="1600" dirty="0">
                <a:solidFill>
                  <a:srgbClr val="2296F6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ners</a:t>
            </a:r>
            <a:endParaRPr lang="ko-KR" altLang="en-US" sz="1600" dirty="0">
              <a:solidFill>
                <a:srgbClr val="2296F6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25E7A334-15C8-A00D-D00D-A26F96ADA39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60245" y="82174"/>
            <a:ext cx="1351707" cy="32342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99845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586" t="12004" b="6709"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7" name="직사각형 6"/>
          <p:cNvSpPr/>
          <p:nvPr userDrawn="1"/>
        </p:nvSpPr>
        <p:spPr>
          <a:xfrm>
            <a:off x="-9938" y="0"/>
            <a:ext cx="12201937" cy="6858000"/>
          </a:xfrm>
          <a:prstGeom prst="rect">
            <a:avLst/>
          </a:prstGeom>
          <a:solidFill>
            <a:srgbClr val="003399">
              <a:alpha val="6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4153811" y="1192919"/>
            <a:ext cx="38921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-91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Agenda</a:t>
            </a:r>
            <a:endParaRPr kumimoji="0" lang="ko-KR" altLang="en-US" sz="2800" b="0" i="0" u="none" strike="noStrike" kern="1200" cap="none" spc="-91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pSp>
        <p:nvGrpSpPr>
          <p:cNvPr id="9" name="그룹 8"/>
          <p:cNvGrpSpPr/>
          <p:nvPr userDrawn="1"/>
        </p:nvGrpSpPr>
        <p:grpSpPr>
          <a:xfrm>
            <a:off x="4146063" y="1183923"/>
            <a:ext cx="3899874" cy="516290"/>
            <a:chOff x="4036479" y="900910"/>
            <a:chExt cx="4582300" cy="684486"/>
          </a:xfrm>
        </p:grpSpPr>
        <p:cxnSp>
          <p:nvCxnSpPr>
            <p:cNvPr id="10" name="직선 연결선 9"/>
            <p:cNvCxnSpPr/>
            <p:nvPr/>
          </p:nvCxnSpPr>
          <p:spPr>
            <a:xfrm>
              <a:off x="4036479" y="900910"/>
              <a:ext cx="45823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/>
            <p:cNvCxnSpPr/>
            <p:nvPr/>
          </p:nvCxnSpPr>
          <p:spPr>
            <a:xfrm>
              <a:off x="4036479" y="1585396"/>
              <a:ext cx="45823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74745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bg>
      <p:bgPr>
        <a:solidFill>
          <a:srgbClr val="229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/>
          <p:cNvCxnSpPr/>
          <p:nvPr userDrawn="1"/>
        </p:nvCxnSpPr>
        <p:spPr>
          <a:xfrm>
            <a:off x="1057211" y="0"/>
            <a:ext cx="0" cy="6858000"/>
          </a:xfrm>
          <a:prstGeom prst="line">
            <a:avLst/>
          </a:prstGeom>
          <a:ln>
            <a:solidFill>
              <a:srgbClr val="D0CECE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타원 6"/>
          <p:cNvSpPr/>
          <p:nvPr userDrawn="1"/>
        </p:nvSpPr>
        <p:spPr>
          <a:xfrm>
            <a:off x="10321467" y="2411115"/>
            <a:ext cx="4847184" cy="4847184"/>
          </a:xfrm>
          <a:prstGeom prst="ellipse">
            <a:avLst/>
          </a:prstGeom>
          <a:solidFill>
            <a:srgbClr val="86C6FA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/>
          <p:cNvSpPr/>
          <p:nvPr userDrawn="1"/>
        </p:nvSpPr>
        <p:spPr>
          <a:xfrm>
            <a:off x="8133882" y="4009367"/>
            <a:ext cx="513780" cy="513780"/>
          </a:xfrm>
          <a:prstGeom prst="ellipse">
            <a:avLst/>
          </a:prstGeom>
          <a:solidFill>
            <a:srgbClr val="86C6FA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/>
          <p:cNvSpPr/>
          <p:nvPr userDrawn="1"/>
        </p:nvSpPr>
        <p:spPr>
          <a:xfrm>
            <a:off x="11332769" y="1614215"/>
            <a:ext cx="513780" cy="513780"/>
          </a:xfrm>
          <a:prstGeom prst="ellipse">
            <a:avLst/>
          </a:prstGeom>
          <a:solidFill>
            <a:srgbClr val="86C6FA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/>
          <p:cNvSpPr/>
          <p:nvPr userDrawn="1"/>
        </p:nvSpPr>
        <p:spPr>
          <a:xfrm>
            <a:off x="7240180" y="4834707"/>
            <a:ext cx="239812" cy="239812"/>
          </a:xfrm>
          <a:prstGeom prst="ellipse">
            <a:avLst/>
          </a:prstGeom>
          <a:solidFill>
            <a:srgbClr val="86C6FA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/>
          <p:cNvSpPr/>
          <p:nvPr userDrawn="1"/>
        </p:nvSpPr>
        <p:spPr>
          <a:xfrm>
            <a:off x="10113651" y="3020270"/>
            <a:ext cx="239812" cy="239812"/>
          </a:xfrm>
          <a:prstGeom prst="ellipse">
            <a:avLst/>
          </a:prstGeom>
          <a:solidFill>
            <a:srgbClr val="86C6FA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/>
          <p:cNvSpPr/>
          <p:nvPr userDrawn="1"/>
        </p:nvSpPr>
        <p:spPr>
          <a:xfrm>
            <a:off x="10848528" y="2292251"/>
            <a:ext cx="118864" cy="118864"/>
          </a:xfrm>
          <a:prstGeom prst="ellipse">
            <a:avLst/>
          </a:prstGeom>
          <a:solidFill>
            <a:srgbClr val="86C6FA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/>
          <p:cNvSpPr/>
          <p:nvPr userDrawn="1"/>
        </p:nvSpPr>
        <p:spPr>
          <a:xfrm>
            <a:off x="8901587" y="3722185"/>
            <a:ext cx="118864" cy="118864"/>
          </a:xfrm>
          <a:prstGeom prst="ellipse">
            <a:avLst/>
          </a:prstGeom>
          <a:solidFill>
            <a:srgbClr val="86C6FA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/>
          <p:cNvSpPr/>
          <p:nvPr userDrawn="1"/>
        </p:nvSpPr>
        <p:spPr>
          <a:xfrm>
            <a:off x="8817040" y="2868859"/>
            <a:ext cx="239812" cy="239812"/>
          </a:xfrm>
          <a:prstGeom prst="ellipse">
            <a:avLst/>
          </a:prstGeom>
          <a:solidFill>
            <a:srgbClr val="86C6FA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/>
          <p:cNvSpPr/>
          <p:nvPr userDrawn="1"/>
        </p:nvSpPr>
        <p:spPr>
          <a:xfrm>
            <a:off x="8190790" y="3877955"/>
            <a:ext cx="4847184" cy="4847184"/>
          </a:xfrm>
          <a:prstGeom prst="ellipse">
            <a:avLst/>
          </a:prstGeom>
          <a:solidFill>
            <a:srgbClr val="86C6FA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/>
          <p:cNvSpPr/>
          <p:nvPr userDrawn="1"/>
        </p:nvSpPr>
        <p:spPr>
          <a:xfrm>
            <a:off x="7968018" y="5517232"/>
            <a:ext cx="118864" cy="118864"/>
          </a:xfrm>
          <a:prstGeom prst="ellipse">
            <a:avLst/>
          </a:prstGeom>
          <a:solidFill>
            <a:srgbClr val="86C6FA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/>
          <p:cNvSpPr/>
          <p:nvPr userDrawn="1"/>
        </p:nvSpPr>
        <p:spPr>
          <a:xfrm>
            <a:off x="7767517" y="6284064"/>
            <a:ext cx="239812" cy="239812"/>
          </a:xfrm>
          <a:prstGeom prst="ellipse">
            <a:avLst/>
          </a:prstGeom>
          <a:solidFill>
            <a:srgbClr val="86C6FA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/>
          <p:cNvSpPr/>
          <p:nvPr userDrawn="1"/>
        </p:nvSpPr>
        <p:spPr>
          <a:xfrm>
            <a:off x="11400804" y="2613124"/>
            <a:ext cx="239812" cy="239812"/>
          </a:xfrm>
          <a:prstGeom prst="ellipse">
            <a:avLst/>
          </a:prstGeom>
          <a:solidFill>
            <a:srgbClr val="86C6FA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/>
          <p:cNvSpPr/>
          <p:nvPr userDrawn="1"/>
        </p:nvSpPr>
        <p:spPr>
          <a:xfrm>
            <a:off x="9372855" y="3841049"/>
            <a:ext cx="513780" cy="513780"/>
          </a:xfrm>
          <a:prstGeom prst="ellipse">
            <a:avLst/>
          </a:prstGeom>
          <a:solidFill>
            <a:srgbClr val="86C6FA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/>
          <p:cNvSpPr/>
          <p:nvPr userDrawn="1"/>
        </p:nvSpPr>
        <p:spPr>
          <a:xfrm>
            <a:off x="10114693" y="3597612"/>
            <a:ext cx="118864" cy="118864"/>
          </a:xfrm>
          <a:prstGeom prst="ellipse">
            <a:avLst/>
          </a:prstGeom>
          <a:solidFill>
            <a:srgbClr val="86C6FA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Rectangle 2"/>
          <p:cNvSpPr/>
          <p:nvPr userDrawn="1"/>
        </p:nvSpPr>
        <p:spPr bwMode="auto">
          <a:xfrm>
            <a:off x="4831343" y="6370812"/>
            <a:ext cx="7360656" cy="4783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defTabSz="914446">
              <a:defRPr/>
            </a:pPr>
            <a:endParaRPr lang="en-US" sz="1400" b="1" dirty="0">
              <a:solidFill>
                <a:schemeClr val="bg1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algn="r" defTabSz="914446">
              <a:defRPr/>
            </a:pPr>
            <a:r>
              <a:rPr lang="ko-KR" altLang="en-US" sz="900" i="1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본 자료는 특정 메일 수신자에 한하여 제공되며</a:t>
            </a:r>
            <a:r>
              <a:rPr lang="en-US" altLang="ko-KR" sz="900" i="1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900" i="1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제공자의 허락없이 재전송 및 편집</a:t>
            </a:r>
            <a:r>
              <a:rPr lang="en-US" altLang="ko-KR" sz="900" i="1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900" i="1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가공할 수 없습니다</a:t>
            </a:r>
            <a:r>
              <a:rPr lang="en-US" altLang="ko-KR" sz="900" i="1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 </a:t>
            </a:r>
            <a:endParaRPr lang="en-US" sz="900" i="1" dirty="0">
              <a:solidFill>
                <a:schemeClr val="bg1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algn="r" defTabSz="914446">
              <a:defRPr/>
            </a:pPr>
            <a:r>
              <a:rPr lang="en-US" altLang="ko-KR" sz="900" i="1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</a:p>
        </p:txBody>
      </p:sp>
      <p:sp>
        <p:nvSpPr>
          <p:cNvPr id="26" name="직사각형 25"/>
          <p:cNvSpPr/>
          <p:nvPr userDrawn="1"/>
        </p:nvSpPr>
        <p:spPr>
          <a:xfrm>
            <a:off x="191641" y="6423637"/>
            <a:ext cx="3249609" cy="28866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r">
              <a:lnSpc>
                <a:spcPct val="116199"/>
              </a:lnSpc>
            </a:pPr>
            <a:r>
              <a:rPr lang="en-US" altLang="ko-KR" sz="1100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Copyright </a:t>
            </a:r>
            <a:r>
              <a:rPr lang="ko-KR" altLang="en-US" sz="1100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ⓒ </a:t>
            </a:r>
            <a:r>
              <a:rPr lang="en-US" altLang="ko-KR" sz="1100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ETNERS Co., Ltd.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141359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0338310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bg>
      <p:bgPr>
        <a:solidFill>
          <a:srgbClr val="229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도넛 5"/>
          <p:cNvSpPr/>
          <p:nvPr userDrawn="1"/>
        </p:nvSpPr>
        <p:spPr>
          <a:xfrm>
            <a:off x="-5534362" y="-2906339"/>
            <a:ext cx="13180100" cy="12670678"/>
          </a:xfrm>
          <a:prstGeom prst="donut">
            <a:avLst>
              <a:gd name="adj" fmla="val 9758"/>
            </a:avLst>
          </a:prstGeom>
          <a:gradFill flip="none" rotWithShape="1">
            <a:gsLst>
              <a:gs pos="0">
                <a:srgbClr val="2296F6"/>
              </a:gs>
              <a:gs pos="100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도넛 6"/>
          <p:cNvSpPr/>
          <p:nvPr userDrawn="1"/>
        </p:nvSpPr>
        <p:spPr>
          <a:xfrm>
            <a:off x="426516" y="1055529"/>
            <a:ext cx="737122" cy="737122"/>
          </a:xfrm>
          <a:prstGeom prst="donut">
            <a:avLst>
              <a:gd name="adj" fmla="val 17692"/>
            </a:avLst>
          </a:prstGeom>
          <a:gradFill>
            <a:gsLst>
              <a:gs pos="0">
                <a:srgbClr val="2296F6"/>
              </a:gs>
              <a:gs pos="100000">
                <a:srgbClr val="CBE6FD">
                  <a:alpha val="0"/>
                </a:srgbClr>
              </a:gs>
            </a:gsLst>
            <a:path path="circle">
              <a:fillToRect l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자유형 7"/>
          <p:cNvSpPr/>
          <p:nvPr userDrawn="1"/>
        </p:nvSpPr>
        <p:spPr>
          <a:xfrm flipV="1">
            <a:off x="10858851" y="4448447"/>
            <a:ext cx="650292" cy="564403"/>
          </a:xfrm>
          <a:custGeom>
            <a:avLst/>
            <a:gdLst>
              <a:gd name="connsiteX0" fmla="*/ 192172 w 650292"/>
              <a:gd name="connsiteY0" fmla="*/ 316346 h 564403"/>
              <a:gd name="connsiteX1" fmla="*/ 67998 w 650292"/>
              <a:gd name="connsiteY1" fmla="*/ 192172 h 564403"/>
              <a:gd name="connsiteX2" fmla="*/ 192172 w 650292"/>
              <a:gd name="connsiteY2" fmla="*/ 67998 h 564403"/>
              <a:gd name="connsiteX3" fmla="*/ 316346 w 650292"/>
              <a:gd name="connsiteY3" fmla="*/ 192172 h 564403"/>
              <a:gd name="connsiteX4" fmla="*/ 192172 w 650292"/>
              <a:gd name="connsiteY4" fmla="*/ 316346 h 564403"/>
              <a:gd name="connsiteX5" fmla="*/ 458120 w 650292"/>
              <a:gd name="connsiteY5" fmla="*/ 496405 h 564403"/>
              <a:gd name="connsiteX6" fmla="*/ 333946 w 650292"/>
              <a:gd name="connsiteY6" fmla="*/ 372231 h 564403"/>
              <a:gd name="connsiteX7" fmla="*/ 458120 w 650292"/>
              <a:gd name="connsiteY7" fmla="*/ 248057 h 564403"/>
              <a:gd name="connsiteX8" fmla="*/ 582294 w 650292"/>
              <a:gd name="connsiteY8" fmla="*/ 372231 h 564403"/>
              <a:gd name="connsiteX9" fmla="*/ 458120 w 650292"/>
              <a:gd name="connsiteY9" fmla="*/ 496405 h 564403"/>
              <a:gd name="connsiteX10" fmla="*/ 458120 w 650292"/>
              <a:gd name="connsiteY10" fmla="*/ 564403 h 564403"/>
              <a:gd name="connsiteX11" fmla="*/ 650292 w 650292"/>
              <a:gd name="connsiteY11" fmla="*/ 372231 h 564403"/>
              <a:gd name="connsiteX12" fmla="*/ 458120 w 650292"/>
              <a:gd name="connsiteY12" fmla="*/ 180059 h 564403"/>
              <a:gd name="connsiteX13" fmla="*/ 419391 w 650292"/>
              <a:gd name="connsiteY13" fmla="*/ 183963 h 564403"/>
              <a:gd name="connsiteX14" fmla="*/ 383769 w 650292"/>
              <a:gd name="connsiteY14" fmla="*/ 195021 h 564403"/>
              <a:gd name="connsiteX15" fmla="*/ 384344 w 650292"/>
              <a:gd name="connsiteY15" fmla="*/ 192172 h 564403"/>
              <a:gd name="connsiteX16" fmla="*/ 192172 w 650292"/>
              <a:gd name="connsiteY16" fmla="*/ 0 h 564403"/>
              <a:gd name="connsiteX17" fmla="*/ 0 w 650292"/>
              <a:gd name="connsiteY17" fmla="*/ 192172 h 564403"/>
              <a:gd name="connsiteX18" fmla="*/ 192172 w 650292"/>
              <a:gd name="connsiteY18" fmla="*/ 384344 h 564403"/>
              <a:gd name="connsiteX19" fmla="*/ 230902 w 650292"/>
              <a:gd name="connsiteY19" fmla="*/ 380440 h 564403"/>
              <a:gd name="connsiteX20" fmla="*/ 266523 w 650292"/>
              <a:gd name="connsiteY20" fmla="*/ 369382 h 564403"/>
              <a:gd name="connsiteX21" fmla="*/ 265948 w 650292"/>
              <a:gd name="connsiteY21" fmla="*/ 372231 h 564403"/>
              <a:gd name="connsiteX22" fmla="*/ 458120 w 650292"/>
              <a:gd name="connsiteY22" fmla="*/ 564403 h 564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650292" h="564403">
                <a:moveTo>
                  <a:pt x="192172" y="316346"/>
                </a:moveTo>
                <a:cubicBezTo>
                  <a:pt x="123593" y="316346"/>
                  <a:pt x="67998" y="260751"/>
                  <a:pt x="67998" y="192172"/>
                </a:cubicBezTo>
                <a:cubicBezTo>
                  <a:pt x="67998" y="123593"/>
                  <a:pt x="123593" y="67998"/>
                  <a:pt x="192172" y="67998"/>
                </a:cubicBezTo>
                <a:cubicBezTo>
                  <a:pt x="260751" y="67998"/>
                  <a:pt x="316346" y="123593"/>
                  <a:pt x="316346" y="192172"/>
                </a:cubicBezTo>
                <a:cubicBezTo>
                  <a:pt x="316346" y="260751"/>
                  <a:pt x="260751" y="316346"/>
                  <a:pt x="192172" y="316346"/>
                </a:cubicBezTo>
                <a:close/>
                <a:moveTo>
                  <a:pt x="458120" y="496405"/>
                </a:moveTo>
                <a:cubicBezTo>
                  <a:pt x="389541" y="496405"/>
                  <a:pt x="333946" y="440810"/>
                  <a:pt x="333946" y="372231"/>
                </a:cubicBezTo>
                <a:cubicBezTo>
                  <a:pt x="333946" y="303652"/>
                  <a:pt x="389541" y="248057"/>
                  <a:pt x="458120" y="248057"/>
                </a:cubicBezTo>
                <a:cubicBezTo>
                  <a:pt x="526699" y="248057"/>
                  <a:pt x="582294" y="303652"/>
                  <a:pt x="582294" y="372231"/>
                </a:cubicBezTo>
                <a:cubicBezTo>
                  <a:pt x="582294" y="440810"/>
                  <a:pt x="526699" y="496405"/>
                  <a:pt x="458120" y="496405"/>
                </a:cubicBezTo>
                <a:close/>
                <a:moveTo>
                  <a:pt x="458120" y="564403"/>
                </a:moveTo>
                <a:cubicBezTo>
                  <a:pt x="564254" y="564403"/>
                  <a:pt x="650292" y="478365"/>
                  <a:pt x="650292" y="372231"/>
                </a:cubicBezTo>
                <a:cubicBezTo>
                  <a:pt x="650292" y="266097"/>
                  <a:pt x="564254" y="180059"/>
                  <a:pt x="458120" y="180059"/>
                </a:cubicBezTo>
                <a:cubicBezTo>
                  <a:pt x="444853" y="180059"/>
                  <a:pt x="431901" y="181404"/>
                  <a:pt x="419391" y="183963"/>
                </a:cubicBezTo>
                <a:lnTo>
                  <a:pt x="383769" y="195021"/>
                </a:lnTo>
                <a:lnTo>
                  <a:pt x="384344" y="192172"/>
                </a:lnTo>
                <a:cubicBezTo>
                  <a:pt x="384344" y="86038"/>
                  <a:pt x="298306" y="0"/>
                  <a:pt x="192172" y="0"/>
                </a:cubicBezTo>
                <a:cubicBezTo>
                  <a:pt x="86038" y="0"/>
                  <a:pt x="0" y="86038"/>
                  <a:pt x="0" y="192172"/>
                </a:cubicBezTo>
                <a:cubicBezTo>
                  <a:pt x="0" y="298306"/>
                  <a:pt x="86038" y="384344"/>
                  <a:pt x="192172" y="384344"/>
                </a:cubicBezTo>
                <a:cubicBezTo>
                  <a:pt x="205439" y="384344"/>
                  <a:pt x="218392" y="383000"/>
                  <a:pt x="230902" y="380440"/>
                </a:cubicBezTo>
                <a:lnTo>
                  <a:pt x="266523" y="369382"/>
                </a:lnTo>
                <a:lnTo>
                  <a:pt x="265948" y="372231"/>
                </a:lnTo>
                <a:cubicBezTo>
                  <a:pt x="265948" y="478365"/>
                  <a:pt x="351986" y="564403"/>
                  <a:pt x="458120" y="564403"/>
                </a:cubicBezTo>
                <a:close/>
              </a:path>
            </a:pathLst>
          </a:custGeom>
          <a:gradFill>
            <a:gsLst>
              <a:gs pos="0">
                <a:srgbClr val="2296F6"/>
              </a:gs>
              <a:gs pos="100000">
                <a:srgbClr val="CBE6FD">
                  <a:alpha val="0"/>
                </a:srgbClr>
              </a:gs>
            </a:gsLst>
            <a:path path="circle">
              <a:fillToRect l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Rectangle 2"/>
          <p:cNvSpPr/>
          <p:nvPr userDrawn="1"/>
        </p:nvSpPr>
        <p:spPr bwMode="auto">
          <a:xfrm>
            <a:off x="4831343" y="6370811"/>
            <a:ext cx="7360656" cy="4783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본 자료는 특정 메일 수신자에 한하여 제공되며</a:t>
            </a:r>
            <a:r>
              <a:rPr kumimoji="0" lang="en-US" altLang="ko-KR" sz="90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kumimoji="0" lang="ko-KR" altLang="en-US" sz="90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제공자의 허락없이 재전송 및 편집</a:t>
            </a:r>
            <a:r>
              <a:rPr kumimoji="0" lang="en-US" altLang="ko-KR" sz="90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kumimoji="0" lang="ko-KR" altLang="en-US" sz="90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가공할 수 없습니다</a:t>
            </a:r>
            <a:r>
              <a:rPr kumimoji="0" lang="en-US" altLang="ko-KR" sz="90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 </a:t>
            </a:r>
            <a:endParaRPr kumimoji="0" lang="en-US" sz="900" i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</a:p>
        </p:txBody>
      </p:sp>
      <p:sp>
        <p:nvSpPr>
          <p:cNvPr id="10" name="Rectangle 7"/>
          <p:cNvSpPr>
            <a:spLocks noChangeArrowheads="1"/>
          </p:cNvSpPr>
          <p:nvPr userDrawn="1"/>
        </p:nvSpPr>
        <p:spPr bwMode="auto">
          <a:xfrm>
            <a:off x="-2103085" y="2606180"/>
            <a:ext cx="9116711" cy="15329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t"/>
          <a:lstStyle/>
          <a:p>
            <a:pPr algn="ctr"/>
            <a:endParaRPr lang="ko-KR" altLang="en-US" sz="2800" i="1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bg1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701472" y="6476152"/>
            <a:ext cx="3978974" cy="16190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40000"/>
              </a:lnSpc>
              <a:spcBef>
                <a:spcPts val="1000"/>
              </a:spcBef>
            </a:pPr>
            <a:r>
              <a:rPr lang="ko-KR" altLang="en-US" sz="900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경기도 과천시 </a:t>
            </a:r>
            <a:r>
              <a:rPr lang="ko-KR" altLang="en-US" sz="900" dirty="0" err="1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과천대로</a:t>
            </a:r>
            <a:r>
              <a:rPr lang="en-US" altLang="ko-KR" sz="900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7 </a:t>
            </a:r>
            <a:r>
              <a:rPr lang="ko-KR" altLang="en-US" sz="900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나길 </a:t>
            </a:r>
            <a:r>
              <a:rPr lang="en-US" altLang="ko-KR" sz="900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60 </a:t>
            </a:r>
            <a:r>
              <a:rPr lang="ko-KR" altLang="en-US" sz="900" dirty="0" err="1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과천어반허브</a:t>
            </a:r>
            <a:r>
              <a:rPr lang="ko-KR" altLang="en-US" sz="900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900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A</a:t>
            </a:r>
            <a:r>
              <a:rPr lang="ko-KR" altLang="en-US" sz="900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동 </a:t>
            </a:r>
            <a:r>
              <a:rPr lang="en-US" altLang="ko-KR" sz="900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5</a:t>
            </a:r>
            <a:r>
              <a:rPr lang="ko-KR" altLang="en-US" sz="900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층  </a:t>
            </a:r>
            <a:r>
              <a:rPr lang="en-US" altLang="ko-KR" sz="900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|</a:t>
            </a:r>
            <a:r>
              <a:rPr lang="ko-KR" altLang="en-US" sz="900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900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1533</a:t>
            </a:r>
            <a:r>
              <a:rPr lang="ko-KR" altLang="en-US" sz="900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900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– 4810 (</a:t>
            </a:r>
            <a:r>
              <a:rPr lang="ko-KR" altLang="en-US" sz="900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내선 </a:t>
            </a:r>
            <a:r>
              <a:rPr lang="en-US" altLang="ko-KR" sz="900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3111)</a:t>
            </a:r>
          </a:p>
        </p:txBody>
      </p:sp>
      <p:sp>
        <p:nvSpPr>
          <p:cNvPr id="14" name="도넛 13"/>
          <p:cNvSpPr/>
          <p:nvPr userDrawn="1"/>
        </p:nvSpPr>
        <p:spPr>
          <a:xfrm>
            <a:off x="10016358" y="1089025"/>
            <a:ext cx="384344" cy="384344"/>
          </a:xfrm>
          <a:prstGeom prst="donut">
            <a:avLst>
              <a:gd name="adj" fmla="val 17692"/>
            </a:avLst>
          </a:prstGeom>
          <a:gradFill>
            <a:gsLst>
              <a:gs pos="0">
                <a:srgbClr val="2296F6"/>
              </a:gs>
              <a:gs pos="100000">
                <a:srgbClr val="CBE6FD">
                  <a:alpha val="0"/>
                </a:srgbClr>
              </a:gs>
            </a:gsLst>
            <a:path path="circle">
              <a:fillToRect l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5" name="자유형 14"/>
          <p:cNvSpPr/>
          <p:nvPr userDrawn="1"/>
        </p:nvSpPr>
        <p:spPr>
          <a:xfrm rot="2779934">
            <a:off x="7967330" y="2059395"/>
            <a:ext cx="1684234" cy="1366610"/>
          </a:xfrm>
          <a:custGeom>
            <a:avLst/>
            <a:gdLst>
              <a:gd name="connsiteX0" fmla="*/ 558800 w 1684234"/>
              <a:gd name="connsiteY0" fmla="*/ 446736 h 1366610"/>
              <a:gd name="connsiteX1" fmla="*/ 197726 w 1684234"/>
              <a:gd name="connsiteY1" fmla="*/ 807810 h 1366610"/>
              <a:gd name="connsiteX2" fmla="*/ 558800 w 1684234"/>
              <a:gd name="connsiteY2" fmla="*/ 1168884 h 1366610"/>
              <a:gd name="connsiteX3" fmla="*/ 919874 w 1684234"/>
              <a:gd name="connsiteY3" fmla="*/ 807810 h 1366610"/>
              <a:gd name="connsiteX4" fmla="*/ 558800 w 1684234"/>
              <a:gd name="connsiteY4" fmla="*/ 446736 h 1366610"/>
              <a:gd name="connsiteX5" fmla="*/ 1269897 w 1684234"/>
              <a:gd name="connsiteY5" fmla="*/ 146609 h 1366610"/>
              <a:gd name="connsiteX6" fmla="*/ 1002169 w 1684234"/>
              <a:gd name="connsiteY6" fmla="*/ 414337 h 1366610"/>
              <a:gd name="connsiteX7" fmla="*/ 1007608 w 1684234"/>
              <a:gd name="connsiteY7" fmla="*/ 468294 h 1366610"/>
              <a:gd name="connsiteX8" fmla="*/ 1012307 w 1684234"/>
              <a:gd name="connsiteY8" fmla="*/ 483431 h 1366610"/>
              <a:gd name="connsiteX9" fmla="*/ 1022166 w 1684234"/>
              <a:gd name="connsiteY9" fmla="*/ 495380 h 1366610"/>
              <a:gd name="connsiteX10" fmla="*/ 1073687 w 1684234"/>
              <a:gd name="connsiteY10" fmla="*/ 590300 h 1366610"/>
              <a:gd name="connsiteX11" fmla="*/ 1075481 w 1684234"/>
              <a:gd name="connsiteY11" fmla="*/ 596079 h 1366610"/>
              <a:gd name="connsiteX12" fmla="*/ 1080585 w 1684234"/>
              <a:gd name="connsiteY12" fmla="*/ 603649 h 1366610"/>
              <a:gd name="connsiteX13" fmla="*/ 1269897 w 1684234"/>
              <a:gd name="connsiteY13" fmla="*/ 682065 h 1366610"/>
              <a:gd name="connsiteX14" fmla="*/ 1537625 w 1684234"/>
              <a:gd name="connsiteY14" fmla="*/ 414337 h 1366610"/>
              <a:gd name="connsiteX15" fmla="*/ 1269897 w 1684234"/>
              <a:gd name="connsiteY15" fmla="*/ 146609 h 1366610"/>
              <a:gd name="connsiteX16" fmla="*/ 1269897 w 1684234"/>
              <a:gd name="connsiteY16" fmla="*/ 0 h 1366610"/>
              <a:gd name="connsiteX17" fmla="*/ 1684234 w 1684234"/>
              <a:gd name="connsiteY17" fmla="*/ 414337 h 1366610"/>
              <a:gd name="connsiteX18" fmla="*/ 1269897 w 1684234"/>
              <a:gd name="connsiteY18" fmla="*/ 828674 h 1366610"/>
              <a:gd name="connsiteX19" fmla="*/ 1186394 w 1684234"/>
              <a:gd name="connsiteY19" fmla="*/ 820256 h 1366610"/>
              <a:gd name="connsiteX20" fmla="*/ 1116673 w 1684234"/>
              <a:gd name="connsiteY20" fmla="*/ 798614 h 1366610"/>
              <a:gd name="connsiteX21" fmla="*/ 1117600 w 1684234"/>
              <a:gd name="connsiteY21" fmla="*/ 807810 h 1366610"/>
              <a:gd name="connsiteX22" fmla="*/ 558800 w 1684234"/>
              <a:gd name="connsiteY22" fmla="*/ 1366610 h 1366610"/>
              <a:gd name="connsiteX23" fmla="*/ 0 w 1684234"/>
              <a:gd name="connsiteY23" fmla="*/ 807810 h 1366610"/>
              <a:gd name="connsiteX24" fmla="*/ 558800 w 1684234"/>
              <a:gd name="connsiteY24" fmla="*/ 249010 h 1366610"/>
              <a:gd name="connsiteX25" fmla="*/ 776310 w 1684234"/>
              <a:gd name="connsiteY25" fmla="*/ 292923 h 1366610"/>
              <a:gd name="connsiteX26" fmla="*/ 863053 w 1684234"/>
              <a:gd name="connsiteY26" fmla="*/ 340006 h 1366610"/>
              <a:gd name="connsiteX27" fmla="*/ 863978 w 1684234"/>
              <a:gd name="connsiteY27" fmla="*/ 330834 h 1366610"/>
              <a:gd name="connsiteX28" fmla="*/ 1269897 w 1684234"/>
              <a:gd name="connsiteY28" fmla="*/ 0 h 1366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684234" h="1366610">
                <a:moveTo>
                  <a:pt x="558800" y="446736"/>
                </a:moveTo>
                <a:cubicBezTo>
                  <a:pt x="359384" y="446736"/>
                  <a:pt x="197726" y="608394"/>
                  <a:pt x="197726" y="807810"/>
                </a:cubicBezTo>
                <a:cubicBezTo>
                  <a:pt x="197726" y="1007226"/>
                  <a:pt x="359384" y="1168884"/>
                  <a:pt x="558800" y="1168884"/>
                </a:cubicBezTo>
                <a:cubicBezTo>
                  <a:pt x="758216" y="1168884"/>
                  <a:pt x="919874" y="1007226"/>
                  <a:pt x="919874" y="807810"/>
                </a:cubicBezTo>
                <a:cubicBezTo>
                  <a:pt x="919874" y="608394"/>
                  <a:pt x="758216" y="446736"/>
                  <a:pt x="558800" y="446736"/>
                </a:cubicBezTo>
                <a:close/>
                <a:moveTo>
                  <a:pt x="1269897" y="146609"/>
                </a:moveTo>
                <a:cubicBezTo>
                  <a:pt x="1122035" y="146609"/>
                  <a:pt x="1002169" y="266475"/>
                  <a:pt x="1002169" y="414337"/>
                </a:cubicBezTo>
                <a:cubicBezTo>
                  <a:pt x="1002169" y="432820"/>
                  <a:pt x="1004042" y="450865"/>
                  <a:pt x="1007608" y="468294"/>
                </a:cubicBezTo>
                <a:lnTo>
                  <a:pt x="1012307" y="483431"/>
                </a:lnTo>
                <a:lnTo>
                  <a:pt x="1022166" y="495380"/>
                </a:lnTo>
                <a:cubicBezTo>
                  <a:pt x="1042250" y="525108"/>
                  <a:pt x="1059548" y="556873"/>
                  <a:pt x="1073687" y="590300"/>
                </a:cubicBezTo>
                <a:lnTo>
                  <a:pt x="1075481" y="596079"/>
                </a:lnTo>
                <a:lnTo>
                  <a:pt x="1080585" y="603649"/>
                </a:lnTo>
                <a:cubicBezTo>
                  <a:pt x="1129034" y="652099"/>
                  <a:pt x="1195966" y="682065"/>
                  <a:pt x="1269897" y="682065"/>
                </a:cubicBezTo>
                <a:cubicBezTo>
                  <a:pt x="1417759" y="682065"/>
                  <a:pt x="1537625" y="562199"/>
                  <a:pt x="1537625" y="414337"/>
                </a:cubicBezTo>
                <a:cubicBezTo>
                  <a:pt x="1537625" y="266475"/>
                  <a:pt x="1417759" y="146609"/>
                  <a:pt x="1269897" y="146609"/>
                </a:cubicBezTo>
                <a:close/>
                <a:moveTo>
                  <a:pt x="1269897" y="0"/>
                </a:moveTo>
                <a:cubicBezTo>
                  <a:pt x="1498729" y="0"/>
                  <a:pt x="1684234" y="185505"/>
                  <a:pt x="1684234" y="414337"/>
                </a:cubicBezTo>
                <a:cubicBezTo>
                  <a:pt x="1684234" y="643169"/>
                  <a:pt x="1498729" y="828674"/>
                  <a:pt x="1269897" y="828674"/>
                </a:cubicBezTo>
                <a:cubicBezTo>
                  <a:pt x="1241293" y="828674"/>
                  <a:pt x="1213366" y="825776"/>
                  <a:pt x="1186394" y="820256"/>
                </a:cubicBezTo>
                <a:lnTo>
                  <a:pt x="1116673" y="798614"/>
                </a:lnTo>
                <a:lnTo>
                  <a:pt x="1117600" y="807810"/>
                </a:lnTo>
                <a:cubicBezTo>
                  <a:pt x="1117600" y="1116427"/>
                  <a:pt x="867417" y="1366610"/>
                  <a:pt x="558800" y="1366610"/>
                </a:cubicBezTo>
                <a:cubicBezTo>
                  <a:pt x="250183" y="1366610"/>
                  <a:pt x="0" y="1116427"/>
                  <a:pt x="0" y="807810"/>
                </a:cubicBezTo>
                <a:cubicBezTo>
                  <a:pt x="0" y="499193"/>
                  <a:pt x="250183" y="249010"/>
                  <a:pt x="558800" y="249010"/>
                </a:cubicBezTo>
                <a:cubicBezTo>
                  <a:pt x="635954" y="249010"/>
                  <a:pt x="709456" y="264647"/>
                  <a:pt x="776310" y="292923"/>
                </a:cubicBezTo>
                <a:lnTo>
                  <a:pt x="863053" y="340006"/>
                </a:lnTo>
                <a:lnTo>
                  <a:pt x="863978" y="330834"/>
                </a:lnTo>
                <a:cubicBezTo>
                  <a:pt x="902613" y="142027"/>
                  <a:pt x="1069669" y="0"/>
                  <a:pt x="1269897" y="0"/>
                </a:cubicBezTo>
                <a:close/>
              </a:path>
            </a:pathLst>
          </a:custGeom>
          <a:gradFill>
            <a:gsLst>
              <a:gs pos="0">
                <a:srgbClr val="2296F6"/>
              </a:gs>
              <a:gs pos="100000">
                <a:srgbClr val="CBE6FD">
                  <a:alpha val="0"/>
                </a:srgbClr>
              </a:gs>
            </a:gsLst>
            <a:path path="circle">
              <a:fillToRect l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6" name="도넛 15"/>
          <p:cNvSpPr/>
          <p:nvPr userDrawn="1"/>
        </p:nvSpPr>
        <p:spPr>
          <a:xfrm>
            <a:off x="9201402" y="4299906"/>
            <a:ext cx="224070" cy="224070"/>
          </a:xfrm>
          <a:prstGeom prst="donut">
            <a:avLst>
              <a:gd name="adj" fmla="val 17692"/>
            </a:avLst>
          </a:prstGeom>
          <a:gradFill>
            <a:gsLst>
              <a:gs pos="0">
                <a:srgbClr val="2296F6"/>
              </a:gs>
              <a:gs pos="100000">
                <a:srgbClr val="CBE6FD">
                  <a:alpha val="0"/>
                </a:srgbClr>
              </a:gs>
            </a:gsLst>
            <a:path path="circle">
              <a:fillToRect l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7" name="도넛 16"/>
          <p:cNvSpPr/>
          <p:nvPr userDrawn="1"/>
        </p:nvSpPr>
        <p:spPr>
          <a:xfrm>
            <a:off x="350831" y="238683"/>
            <a:ext cx="384344" cy="384344"/>
          </a:xfrm>
          <a:prstGeom prst="donut">
            <a:avLst>
              <a:gd name="adj" fmla="val 17692"/>
            </a:avLst>
          </a:prstGeom>
          <a:gradFill>
            <a:gsLst>
              <a:gs pos="0">
                <a:srgbClr val="2296F6"/>
              </a:gs>
              <a:gs pos="100000">
                <a:srgbClr val="CBE6FD">
                  <a:alpha val="0"/>
                </a:srgbClr>
              </a:gs>
            </a:gsLst>
            <a:path path="circle">
              <a:fillToRect l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8" name="그림 1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270"/>
          <a:stretch/>
        </p:blipFill>
        <p:spPr>
          <a:xfrm>
            <a:off x="650226" y="3084601"/>
            <a:ext cx="2378724" cy="576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991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/>
          <p:cNvCxnSpPr/>
          <p:nvPr userDrawn="1"/>
        </p:nvCxnSpPr>
        <p:spPr>
          <a:xfrm>
            <a:off x="1057211" y="0"/>
            <a:ext cx="0" cy="6858000"/>
          </a:xfrm>
          <a:prstGeom prst="line">
            <a:avLst/>
          </a:prstGeom>
          <a:ln>
            <a:solidFill>
              <a:srgbClr val="D0CECE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제목 1"/>
          <p:cNvSpPr>
            <a:spLocks noGrp="1"/>
          </p:cNvSpPr>
          <p:nvPr>
            <p:ph type="ctrTitle"/>
          </p:nvPr>
        </p:nvSpPr>
        <p:spPr>
          <a:xfrm>
            <a:off x="1589317" y="4031891"/>
            <a:ext cx="9144000" cy="751207"/>
          </a:xfrm>
        </p:spPr>
        <p:txBody>
          <a:bodyPr anchor="ctr">
            <a:norm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950787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슬라이드">
    <p:bg>
      <p:bgPr>
        <a:solidFill>
          <a:srgbClr val="229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/>
          <p:cNvCxnSpPr/>
          <p:nvPr userDrawn="1"/>
        </p:nvCxnSpPr>
        <p:spPr>
          <a:xfrm>
            <a:off x="1057211" y="0"/>
            <a:ext cx="0" cy="6858000"/>
          </a:xfrm>
          <a:prstGeom prst="line">
            <a:avLst/>
          </a:prstGeom>
          <a:ln>
            <a:solidFill>
              <a:srgbClr val="D0CECE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0883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1C06B3-B6CB-40DC-963B-D5B113A43B1C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0CA428-C624-4B43-8F03-7D51CACD53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8390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microsoft.com/office/2007/relationships/hdphoto" Target="../media/hdphoto3.wdp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microsoft.com/office/2007/relationships/hdphoto" Target="../media/hdphoto4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microsoft.com/office/2007/relationships/hdphoto" Target="../media/hdphoto2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5" Type="http://schemas.openxmlformats.org/officeDocument/2006/relationships/image" Target="../media/image18.jpe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0.jpe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microsoft.com/office/2007/relationships/hdphoto" Target="../media/hdphoto5.wdp"/><Relationship Id="rId5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7.jpeg"/><Relationship Id="rId5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8.jpeg"/><Relationship Id="rId5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0.jpe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2.png"/><Relationship Id="rId4" Type="http://schemas.microsoft.com/office/2007/relationships/hdphoto" Target="../media/hdphoto6.wdp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9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-2103084" y="2606180"/>
            <a:ext cx="9116711" cy="15329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t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1" u="none" strike="noStrike" kern="1200" cap="none" spc="0" normalizeH="0" baseline="0" noProof="0" dirty="0">
              <a:ln>
                <a:solidFill>
                  <a:srgbClr val="000000">
                    <a:lumMod val="50000"/>
                    <a:lumOff val="50000"/>
                    <a:alpha val="0"/>
                  </a:srgbClr>
                </a:solidFill>
              </a:ln>
              <a:solidFill>
                <a:srgbClr val="FFFFFF"/>
              </a:solidFill>
              <a:effectLst/>
              <a:uLnTx/>
              <a:uFillTx/>
              <a:latin typeface="Pretendard SemiBold" panose="02000703000000020004" charset="-127"/>
              <a:ea typeface="Pretendard SemiBold" panose="02000703000000020004" charset="-127"/>
              <a:cs typeface="Pretendard SemiBold" panose="02000703000000020004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29926" y="2513766"/>
            <a:ext cx="9732145" cy="920422"/>
          </a:xfrm>
          <a:prstGeom prst="rect">
            <a:avLst/>
          </a:prstGeom>
          <a:noFill/>
        </p:spPr>
        <p:txBody>
          <a:bodyPr wrap="square" tIns="90000" bIns="90000" rtlCol="0" anchor="t">
            <a:spAutoFit/>
          </a:bodyPr>
          <a:lstStyle/>
          <a:p>
            <a:pPr algn="ctr"/>
            <a:r>
              <a:rPr lang="en-US" altLang="ko-KR" sz="4800" dirty="0" smtClean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Research On T/F </a:t>
            </a:r>
            <a:r>
              <a:rPr lang="ko-KR" altLang="en-US" sz="4800" dirty="0" smtClean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운영</a:t>
            </a:r>
            <a:r>
              <a:rPr lang="en-US" altLang="ko-KR" sz="4800" dirty="0" smtClean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ko-KR" altLang="en-US" sz="4800" dirty="0" smtClean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결과보고</a:t>
            </a:r>
            <a:endParaRPr lang="en-US" altLang="ko-KR" sz="4800" dirty="0">
              <a:solidFill>
                <a:srgbClr val="0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804602" y="5340334"/>
            <a:ext cx="4582794" cy="1012755"/>
          </a:xfrm>
          <a:prstGeom prst="rect">
            <a:avLst/>
          </a:prstGeom>
          <a:noFill/>
        </p:spPr>
        <p:txBody>
          <a:bodyPr wrap="square" tIns="90000" bIns="9000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SemiBold" panose="02000703000000020004" charset="-127"/>
                <a:ea typeface="Pretendard SemiBold" panose="02000703000000020004" charset="-127"/>
                <a:cs typeface="Pretendard SemiBold" panose="02000703000000020004" charset="-127"/>
              </a:rPr>
              <a:t>BPO</a:t>
            </a:r>
            <a:r>
              <a:rPr kumimoji="0" lang="ko-KR" altLang="en-US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SemiBold" panose="02000703000000020004" charset="-127"/>
                <a:ea typeface="Pretendard SemiBold" panose="02000703000000020004" charset="-127"/>
                <a:cs typeface="Pretendard SemiBold" panose="02000703000000020004" charset="-127"/>
              </a:rPr>
              <a:t>지원그룹</a:t>
            </a:r>
            <a:r>
              <a:rPr kumimoji="0" lang="ko-KR" altLang="en-US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SemiBold" panose="02000703000000020004" charset="-127"/>
                <a:ea typeface="Pretendard SemiBold" panose="02000703000000020004" charset="-127"/>
                <a:cs typeface="Pretendard SemiBold" panose="02000703000000020004" charset="-127"/>
              </a:rPr>
              <a:t> 이병헌</a:t>
            </a:r>
            <a:r>
              <a:rPr kumimoji="0" lang="en-US" altLang="ko-KR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SemiBold" panose="02000703000000020004" charset="-127"/>
                <a:ea typeface="Pretendard SemiBold" panose="02000703000000020004" charset="-127"/>
                <a:cs typeface="Pretendard SemiBold" panose="02000703000000020004" charset="-127"/>
              </a:rPr>
              <a:t>P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dirty="0" smtClean="0">
                <a:solidFill>
                  <a:srgbClr val="FFFFFF"/>
                </a:solidFill>
                <a:latin typeface="Pretendard SemiBold" panose="02000703000000020004" charset="-127"/>
                <a:ea typeface="Pretendard SemiBold" panose="02000703000000020004" charset="-127"/>
                <a:cs typeface="Pretendard SemiBold" panose="02000703000000020004" charset="-127"/>
              </a:rPr>
              <a:t>GA</a:t>
            </a:r>
            <a:r>
              <a:rPr lang="ko-KR" altLang="en-US" b="1" dirty="0" smtClean="0">
                <a:solidFill>
                  <a:srgbClr val="FFFFFF"/>
                </a:solidFill>
                <a:latin typeface="Pretendard SemiBold" panose="02000703000000020004" charset="-127"/>
                <a:ea typeface="Pretendard SemiBold" panose="02000703000000020004" charset="-127"/>
                <a:cs typeface="Pretendard SemiBold" panose="02000703000000020004" charset="-127"/>
              </a:rPr>
              <a:t>센터</a:t>
            </a:r>
            <a:r>
              <a:rPr lang="en-US" altLang="ko-KR" b="1" dirty="0">
                <a:solidFill>
                  <a:srgbClr val="FFFFFF"/>
                </a:solidFill>
                <a:latin typeface="Pretendard SemiBold" panose="02000703000000020004" charset="-127"/>
                <a:ea typeface="Pretendard SemiBold" panose="02000703000000020004" charset="-127"/>
                <a:cs typeface="Pretendard SemiBold" panose="02000703000000020004" charset="-127"/>
              </a:rPr>
              <a:t> </a:t>
            </a:r>
            <a:r>
              <a:rPr lang="en-US" altLang="ko-KR" b="1" dirty="0" smtClean="0">
                <a:solidFill>
                  <a:srgbClr val="FFFFFF"/>
                </a:solidFill>
                <a:latin typeface="Pretendard SemiBold" panose="02000703000000020004" charset="-127"/>
                <a:ea typeface="Pretendard SemiBold" panose="02000703000000020004" charset="-127"/>
                <a:cs typeface="Pretendard SemiBold" panose="02000703000000020004" charset="-127"/>
              </a:rPr>
              <a:t>2</a:t>
            </a:r>
            <a:r>
              <a:rPr lang="ko-KR" altLang="en-US" b="1" dirty="0" smtClean="0">
                <a:solidFill>
                  <a:srgbClr val="FFFFFF"/>
                </a:solidFill>
                <a:latin typeface="Pretendard SemiBold" panose="02000703000000020004" charset="-127"/>
                <a:ea typeface="Pretendard SemiBold" panose="02000703000000020004" charset="-127"/>
                <a:cs typeface="Pretendard SemiBold" panose="02000703000000020004" charset="-127"/>
              </a:rPr>
              <a:t>팀 </a:t>
            </a:r>
            <a:r>
              <a:rPr lang="ko-KR" altLang="en-US" b="1" dirty="0" err="1" smtClean="0">
                <a:solidFill>
                  <a:srgbClr val="FFFFFF"/>
                </a:solidFill>
                <a:latin typeface="Pretendard SemiBold" panose="02000703000000020004" charset="-127"/>
                <a:ea typeface="Pretendard SemiBold" panose="02000703000000020004" charset="-127"/>
                <a:cs typeface="Pretendard SemiBold" panose="02000703000000020004" charset="-127"/>
              </a:rPr>
              <a:t>변민정</a:t>
            </a:r>
            <a:r>
              <a:rPr lang="en-US" altLang="ko-KR" b="1" dirty="0" smtClean="0">
                <a:solidFill>
                  <a:srgbClr val="FFFFFF"/>
                </a:solidFill>
                <a:latin typeface="Pretendard SemiBold" panose="02000703000000020004" charset="-127"/>
                <a:ea typeface="Pretendard SemiBold" panose="02000703000000020004" charset="-127"/>
                <a:cs typeface="Pretendard SemiBold" panose="02000703000000020004" charset="-127"/>
              </a:rPr>
              <a:t>P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SemiBold" panose="02000703000000020004" charset="-127"/>
                <a:ea typeface="Pretendard SemiBold" panose="02000703000000020004" charset="-127"/>
                <a:cs typeface="Pretendard SemiBold" panose="02000703000000020004" charset="-127"/>
              </a:rPr>
              <a:t>BW</a:t>
            </a:r>
            <a:r>
              <a:rPr kumimoji="0" lang="ko-KR" altLang="en-US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SemiBold" panose="02000703000000020004" charset="-127"/>
                <a:ea typeface="Pretendard SemiBold" panose="02000703000000020004" charset="-127"/>
                <a:cs typeface="Pretendard SemiBold" panose="02000703000000020004" charset="-127"/>
              </a:rPr>
              <a:t>센터 </a:t>
            </a:r>
            <a:r>
              <a:rPr kumimoji="0" lang="en-US" altLang="ko-KR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SemiBold" panose="02000703000000020004" charset="-127"/>
                <a:ea typeface="Pretendard SemiBold" panose="02000703000000020004" charset="-127"/>
                <a:cs typeface="Pretendard SemiBold" panose="02000703000000020004" charset="-127"/>
              </a:rPr>
              <a:t>2</a:t>
            </a:r>
            <a:r>
              <a:rPr kumimoji="0" lang="ko-KR" altLang="en-US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SemiBold" panose="02000703000000020004" charset="-127"/>
                <a:ea typeface="Pretendard SemiBold" panose="02000703000000020004" charset="-127"/>
                <a:cs typeface="Pretendard SemiBold" panose="02000703000000020004" charset="-127"/>
              </a:rPr>
              <a:t>팀 김지민</a:t>
            </a:r>
            <a:r>
              <a:rPr kumimoji="0" lang="en-US" altLang="ko-KR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SemiBold" panose="02000703000000020004" charset="-127"/>
                <a:ea typeface="Pretendard SemiBold" panose="02000703000000020004" charset="-127"/>
                <a:cs typeface="Pretendard SemiBold" panose="02000703000000020004" charset="-127"/>
              </a:rPr>
              <a:t>P</a:t>
            </a:r>
            <a:endParaRPr kumimoji="0" lang="en-US" altLang="ko-KR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 SemiBold" panose="02000703000000020004" charset="-127"/>
              <a:ea typeface="Pretendard SemiBold" panose="02000703000000020004" charset="-127"/>
              <a:cs typeface="Pretendard SemiBold" panose="02000703000000020004" charset="-127"/>
            </a:endParaRPr>
          </a:p>
        </p:txBody>
      </p:sp>
      <p:pic>
        <p:nvPicPr>
          <p:cNvPr id="7" name="Picture 2" descr="https://utopia.etners.com/namo/binary/images/000317/20221205133202158_ONM1YY8K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3690" y="540513"/>
            <a:ext cx="757126" cy="177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직사각형 7"/>
          <p:cNvSpPr/>
          <p:nvPr/>
        </p:nvSpPr>
        <p:spPr>
          <a:xfrm>
            <a:off x="3645687" y="3434188"/>
            <a:ext cx="49007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dirty="0">
                <a:solidFill>
                  <a:srgbClr val="E5E7EB"/>
                </a:solidFill>
                <a:latin typeface="Pretendard" pitchFamily="50" charset="-127"/>
                <a:ea typeface="Pretendard" pitchFamily="50" charset="-127"/>
                <a:cs typeface="Pretendard" pitchFamily="50" charset="-127"/>
              </a:rPr>
              <a:t>AI </a:t>
            </a:r>
            <a:r>
              <a:rPr lang="ko-KR" altLang="en-US" dirty="0" err="1">
                <a:solidFill>
                  <a:srgbClr val="E5E7EB"/>
                </a:solidFill>
                <a:latin typeface="Pretendard" pitchFamily="50" charset="-127"/>
                <a:ea typeface="Pretendard" pitchFamily="50" charset="-127"/>
                <a:cs typeface="Pretendard" pitchFamily="50" charset="-127"/>
              </a:rPr>
              <a:t>Agent</a:t>
            </a:r>
            <a:r>
              <a:rPr lang="ko-KR" altLang="en-US" dirty="0">
                <a:solidFill>
                  <a:srgbClr val="E5E7EB"/>
                </a:solidFill>
                <a:latin typeface="Pretendard" pitchFamily="50" charset="-127"/>
                <a:ea typeface="Pretendard" pitchFamily="50" charset="-127"/>
                <a:cs typeface="Pretendard" pitchFamily="50" charset="-127"/>
              </a:rPr>
              <a:t> 기반 </a:t>
            </a:r>
            <a:r>
              <a:rPr lang="ko-KR" altLang="en-US" dirty="0" err="1">
                <a:solidFill>
                  <a:srgbClr val="E5E7EB"/>
                </a:solidFill>
                <a:latin typeface="Pretendard" pitchFamily="50" charset="-127"/>
                <a:ea typeface="Pretendard" pitchFamily="50" charset="-127"/>
                <a:cs typeface="Pretendard" pitchFamily="50" charset="-127"/>
              </a:rPr>
              <a:t>웹앱</a:t>
            </a:r>
            <a:r>
              <a:rPr lang="ko-KR" altLang="en-US" dirty="0">
                <a:solidFill>
                  <a:srgbClr val="E5E7EB"/>
                </a:solidFill>
                <a:latin typeface="Pretendard" pitchFamily="50" charset="-127"/>
                <a:ea typeface="Pretendard" pitchFamily="50" charset="-127"/>
                <a:cs typeface="Pretendard" pitchFamily="50" charset="-127"/>
              </a:rPr>
              <a:t>(</a:t>
            </a:r>
            <a:r>
              <a:rPr lang="ko-KR" altLang="en-US" dirty="0" err="1">
                <a:solidFill>
                  <a:srgbClr val="E5E7EB"/>
                </a:solidFill>
                <a:latin typeface="Pretendard" pitchFamily="50" charset="-127"/>
                <a:ea typeface="Pretendard" pitchFamily="50" charset="-127"/>
                <a:cs typeface="Pretendard" pitchFamily="50" charset="-127"/>
              </a:rPr>
              <a:t>Web</a:t>
            </a:r>
            <a:r>
              <a:rPr lang="ko-KR" altLang="en-US" dirty="0">
                <a:solidFill>
                  <a:srgbClr val="E5E7EB"/>
                </a:solidFill>
                <a:latin typeface="Pretendard" pitchFamily="50" charset="-127"/>
                <a:ea typeface="Pretendard" pitchFamily="50" charset="-127"/>
                <a:cs typeface="Pretendard" pitchFamily="50" charset="-127"/>
              </a:rPr>
              <a:t> </a:t>
            </a:r>
            <a:r>
              <a:rPr lang="ko-KR" altLang="en-US" dirty="0" err="1">
                <a:solidFill>
                  <a:srgbClr val="E5E7EB"/>
                </a:solidFill>
                <a:latin typeface="Pretendard" pitchFamily="50" charset="-127"/>
                <a:ea typeface="Pretendard" pitchFamily="50" charset="-127"/>
                <a:cs typeface="Pretendard" pitchFamily="50" charset="-127"/>
              </a:rPr>
              <a:t>App</a:t>
            </a:r>
            <a:r>
              <a:rPr lang="ko-KR" altLang="en-US" dirty="0">
                <a:solidFill>
                  <a:srgbClr val="E5E7EB"/>
                </a:solidFill>
                <a:latin typeface="Pretendard" pitchFamily="50" charset="-127"/>
                <a:ea typeface="Pretendard" pitchFamily="50" charset="-127"/>
                <a:cs typeface="Pretendard" pitchFamily="50" charset="-127"/>
              </a:rPr>
              <a:t>) 리서치 자동화 Tool</a:t>
            </a:r>
          </a:p>
        </p:txBody>
      </p:sp>
      <p:sp>
        <p:nvSpPr>
          <p:cNvPr id="11" name="Rectangle"/>
          <p:cNvSpPr/>
          <p:nvPr/>
        </p:nvSpPr>
        <p:spPr>
          <a:xfrm>
            <a:off x="8813800" y="5921311"/>
            <a:ext cx="2768453" cy="674200"/>
          </a:xfrm>
          <a:prstGeom prst="rect">
            <a:avLst/>
          </a:prstGeom>
          <a:noFill/>
        </p:spPr>
        <p:txBody>
          <a:bodyPr wrap="square" tIns="90000" bIns="90000" anchor="t">
            <a:spAutoFit/>
          </a:bodyPr>
          <a:lstStyle/>
          <a:p>
            <a:pPr algn="r"/>
            <a:r>
              <a:rPr lang="en-US" sz="1600" dirty="0">
                <a:solidFill>
                  <a:srgbClr val="FFFFFF"/>
                </a:solidFill>
                <a:latin typeface="Pretendard SemiBold" charset="-127"/>
                <a:ea typeface="Pretendard SemiBold" charset="-127"/>
                <a:cs typeface="Pretendard SemiBold" charset="-127"/>
              </a:rPr>
              <a:t>2026.07.28(</a:t>
            </a:r>
            <a:r>
              <a:rPr lang="en-US" sz="1600" dirty="0" smtClean="0">
                <a:solidFill>
                  <a:srgbClr val="FFFFFF"/>
                </a:solidFill>
                <a:latin typeface="Pretendard SemiBold" charset="-127"/>
                <a:ea typeface="Pretendard SemiBold" charset="-127"/>
                <a:cs typeface="Pretendard SemiBold" charset="-127"/>
              </a:rPr>
              <a:t>火)</a:t>
            </a:r>
            <a:endParaRPr lang="en-US" sz="1600" dirty="0">
              <a:solidFill>
                <a:srgbClr val="FFFFFF"/>
              </a:solidFill>
              <a:latin typeface="Pretendard SemiBold" charset="-127"/>
              <a:ea typeface="Pretendard SemiBold" charset="-127"/>
              <a:cs typeface="Pretendard SemiBold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76005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/>
          <p:cNvGrpSpPr/>
          <p:nvPr/>
        </p:nvGrpSpPr>
        <p:grpSpPr>
          <a:xfrm>
            <a:off x="1351162" y="2349608"/>
            <a:ext cx="9771743" cy="2259412"/>
            <a:chOff x="1238443" y="2227904"/>
            <a:chExt cx="9771743" cy="2259412"/>
          </a:xfrm>
        </p:grpSpPr>
        <p:grpSp>
          <p:nvGrpSpPr>
            <p:cNvPr id="4" name="그룹 3"/>
            <p:cNvGrpSpPr/>
            <p:nvPr/>
          </p:nvGrpSpPr>
          <p:grpSpPr>
            <a:xfrm>
              <a:off x="1238443" y="2227904"/>
              <a:ext cx="9771743" cy="2259412"/>
              <a:chOff x="1859866" y="2045417"/>
              <a:chExt cx="9001460" cy="3185059"/>
            </a:xfrm>
          </p:grpSpPr>
          <p:sp>
            <p:nvSpPr>
              <p:cNvPr id="2" name="왼쪽 대괄호 1"/>
              <p:cNvSpPr/>
              <p:nvPr/>
            </p:nvSpPr>
            <p:spPr>
              <a:xfrm>
                <a:off x="1859866" y="2045417"/>
                <a:ext cx="206477" cy="3185059"/>
              </a:xfrm>
              <a:prstGeom prst="leftBracket">
                <a:avLst/>
              </a:prstGeom>
              <a:ln w="28575">
                <a:solidFill>
                  <a:srgbClr val="0033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ea"/>
                  <a:ea typeface="+mj-ea"/>
                  <a:cs typeface="KoPubWorld돋움체 Bold" panose="00000800000000000000" pitchFamily="2" charset="-127"/>
                </a:endParaRPr>
              </a:p>
            </p:txBody>
          </p:sp>
          <p:sp>
            <p:nvSpPr>
              <p:cNvPr id="7" name="왼쪽 대괄호 6"/>
              <p:cNvSpPr/>
              <p:nvPr/>
            </p:nvSpPr>
            <p:spPr>
              <a:xfrm rot="10800000">
                <a:off x="10654849" y="2045417"/>
                <a:ext cx="206477" cy="3185059"/>
              </a:xfrm>
              <a:prstGeom prst="leftBracket">
                <a:avLst/>
              </a:prstGeom>
              <a:ln w="28575">
                <a:solidFill>
                  <a:srgbClr val="0033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ea"/>
                  <a:ea typeface="+mj-ea"/>
                  <a:cs typeface="KoPubWorld돋움체 Bold" panose="00000800000000000000" pitchFamily="2" charset="-127"/>
                </a:endParaRPr>
              </a:p>
            </p:txBody>
          </p:sp>
        </p:grpSp>
        <p:sp>
          <p:nvSpPr>
            <p:cNvPr id="8" name="직사각형 7"/>
            <p:cNvSpPr/>
            <p:nvPr/>
          </p:nvSpPr>
          <p:spPr>
            <a:xfrm>
              <a:off x="1690167" y="2272696"/>
              <a:ext cx="9062555" cy="12909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b="1" dirty="0">
                  <a:latin typeface="+mn-ea"/>
                  <a:cs typeface="KoPubWorld돋움체 Bold" panose="00000800000000000000" pitchFamily="2" charset="-127"/>
                </a:rPr>
                <a:t>시장</a:t>
              </a:r>
              <a:r>
                <a:rPr lang="en-US" altLang="ko-KR" b="1" dirty="0">
                  <a:latin typeface="+mn-ea"/>
                  <a:cs typeface="KoPubWorld돋움체 Bold" panose="00000800000000000000" pitchFamily="2" charset="-127"/>
                </a:rPr>
                <a:t>·</a:t>
              </a:r>
              <a:r>
                <a:rPr lang="ko-KR" altLang="en-US" b="1" dirty="0">
                  <a:latin typeface="+mn-ea"/>
                  <a:cs typeface="KoPubWorld돋움체 Bold" panose="00000800000000000000" pitchFamily="2" charset="-127"/>
                </a:rPr>
                <a:t>사업 관련 정보의 효율적 탐색과 활용 필요성이 증대됨에 따라</a:t>
              </a:r>
              <a:r>
                <a:rPr lang="en-US" altLang="ko-KR" b="1" dirty="0">
                  <a:latin typeface="+mn-ea"/>
                  <a:cs typeface="KoPubWorld돋움체 Bold" panose="00000800000000000000" pitchFamily="2" charset="-127"/>
                </a:rPr>
                <a:t>,</a:t>
              </a:r>
            </a:p>
            <a:p>
              <a:pPr algn="ctr">
                <a:lnSpc>
                  <a:spcPct val="150000"/>
                </a:lnSpc>
              </a:pPr>
              <a:r>
                <a:rPr lang="en-US" altLang="ko-KR" b="1" dirty="0">
                  <a:latin typeface="+mn-ea"/>
                  <a:cs typeface="KoPubWorld돋움체 Bold" panose="00000800000000000000" pitchFamily="2" charset="-127"/>
                </a:rPr>
                <a:t>T/F</a:t>
              </a:r>
              <a:r>
                <a:rPr lang="ko-KR" altLang="en-US" b="1" dirty="0">
                  <a:latin typeface="+mn-ea"/>
                  <a:cs typeface="KoPubWorld돋움체 Bold" panose="00000800000000000000" pitchFamily="2" charset="-127"/>
                </a:rPr>
                <a:t>를 구성하여 키워드 기반 정보 수집</a:t>
              </a:r>
              <a:r>
                <a:rPr lang="en-US" altLang="ko-KR" b="1" dirty="0">
                  <a:latin typeface="+mn-ea"/>
                  <a:cs typeface="KoPubWorld돋움체 Bold" panose="00000800000000000000" pitchFamily="2" charset="-127"/>
                </a:rPr>
                <a:t>·</a:t>
              </a:r>
              <a:r>
                <a:rPr lang="ko-KR" altLang="en-US" b="1" dirty="0">
                  <a:latin typeface="+mn-ea"/>
                  <a:cs typeface="KoPubWorld돋움체 Bold" panose="00000800000000000000" pitchFamily="2" charset="-127"/>
                </a:rPr>
                <a:t>분석</a:t>
              </a:r>
              <a:r>
                <a:rPr lang="en-US" altLang="ko-KR" b="1" dirty="0">
                  <a:latin typeface="+mn-ea"/>
                  <a:cs typeface="KoPubWorld돋움체 Bold" panose="00000800000000000000" pitchFamily="2" charset="-127"/>
                </a:rPr>
                <a:t>·</a:t>
              </a:r>
              <a:r>
                <a:rPr lang="ko-KR" altLang="en-US" b="1" dirty="0">
                  <a:latin typeface="+mn-ea"/>
                  <a:cs typeface="KoPubWorld돋움체 Bold" panose="00000800000000000000" pitchFamily="2" charset="-127"/>
                </a:rPr>
                <a:t>제공 체계를 설계하고</a:t>
              </a:r>
              <a:r>
                <a:rPr lang="en-US" altLang="ko-KR" b="1" dirty="0">
                  <a:latin typeface="+mn-ea"/>
                  <a:cs typeface="KoPubWorld돋움체 Bold" panose="00000800000000000000" pitchFamily="2" charset="-127"/>
                </a:rPr>
                <a:t>,</a:t>
              </a:r>
            </a:p>
            <a:p>
              <a:pPr algn="ctr">
                <a:lnSpc>
                  <a:spcPct val="150000"/>
                </a:lnSpc>
              </a:pPr>
              <a:r>
                <a:rPr lang="ko-KR" altLang="en-US" b="1" dirty="0" err="1">
                  <a:latin typeface="+mn-ea"/>
                  <a:cs typeface="KoPubWorld돋움체 Bold" panose="00000800000000000000" pitchFamily="2" charset="-127"/>
                </a:rPr>
                <a:t>웹앱</a:t>
              </a:r>
              <a:r>
                <a:rPr lang="en-US" altLang="ko-KR" b="1" dirty="0">
                  <a:latin typeface="+mn-ea"/>
                  <a:cs typeface="KoPubWorld돋움체 Bold" panose="00000800000000000000" pitchFamily="2" charset="-127"/>
                </a:rPr>
                <a:t>(Web App) </a:t>
              </a:r>
              <a:r>
                <a:rPr lang="ko-KR" altLang="en-US" b="1" dirty="0">
                  <a:latin typeface="+mn-ea"/>
                  <a:cs typeface="KoPubWorld돋움체 Bold" panose="00000800000000000000" pitchFamily="2" charset="-127"/>
                </a:rPr>
                <a:t>형태로 구현하여 필요한 정보를 신속하게 제공하고자 함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57635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부제목 2"/>
          <p:cNvSpPr txBox="1">
            <a:spLocks/>
          </p:cNvSpPr>
          <p:nvPr/>
        </p:nvSpPr>
        <p:spPr>
          <a:xfrm>
            <a:off x="1414886" y="2453627"/>
            <a:ext cx="2975031" cy="2775597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다음_Regular" panose="02000603060000000000" pitchFamily="2" charset="-127"/>
                <a:ea typeface="다음_Regular" panose="0200060306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다음_Regular" panose="02000603060000000000" pitchFamily="2" charset="-127"/>
                <a:ea typeface="다음_Regular" panose="0200060306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다음_Regular" panose="02000603060000000000" pitchFamily="2" charset="-127"/>
                <a:ea typeface="다음_Regular" panose="0200060306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다음_Regular" panose="02000603060000000000" pitchFamily="2" charset="-127"/>
                <a:ea typeface="다음_Regular" panose="0200060306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다음_Regular" panose="02000603060000000000" pitchFamily="2" charset="-127"/>
                <a:ea typeface="다음_Regular" panose="0200060306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800"/>
              </a:spcAft>
              <a:buNone/>
              <a:defRPr/>
            </a:pPr>
            <a:r>
              <a:rPr lang="en-US" altLang="ko-KR" sz="1600" dirty="0" smtClean="0">
                <a:solidFill>
                  <a:prstClr val="white">
                    <a:lumMod val="95000"/>
                  </a:prstClr>
                </a:solidFill>
                <a:latin typeface="Pretendard SemiBold" panose="02000703000000020004" charset="-127"/>
                <a:ea typeface="Pretendard SemiBold" panose="02000703000000020004" charset="-127"/>
                <a:cs typeface="Pretendard SemiBold" panose="02000703000000020004" charset="-127"/>
              </a:rPr>
              <a:t>1. </a:t>
            </a:r>
            <a:r>
              <a:rPr lang="ko-KR" altLang="en-US" sz="1600" dirty="0" smtClean="0">
                <a:solidFill>
                  <a:prstClr val="white">
                    <a:lumMod val="95000"/>
                  </a:prstClr>
                </a:solidFill>
                <a:latin typeface="Pretendard SemiBold" panose="02000703000000020004" charset="-127"/>
                <a:ea typeface="Pretendard SemiBold" panose="02000703000000020004" charset="-127"/>
                <a:cs typeface="Pretendard SemiBold" panose="02000703000000020004" charset="-127"/>
              </a:rPr>
              <a:t>프로젝트 개요</a:t>
            </a:r>
            <a:endParaRPr lang="en-US" altLang="ko-KR" sz="1600" dirty="0" smtClean="0">
              <a:solidFill>
                <a:prstClr val="white">
                  <a:lumMod val="95000"/>
                </a:prstClr>
              </a:solidFill>
              <a:latin typeface="Pretendard SemiBold" panose="02000703000000020004" charset="-127"/>
              <a:ea typeface="Pretendard SemiBold" panose="02000703000000020004" charset="-127"/>
              <a:cs typeface="Pretendard SemiBold" panose="02000703000000020004" charset="-127"/>
            </a:endParaRPr>
          </a:p>
          <a:p>
            <a:pPr marL="0" indent="0">
              <a:lnSpc>
                <a:spcPct val="100000"/>
              </a:lnSpc>
              <a:buNone/>
              <a:defRPr/>
            </a:pPr>
            <a:r>
              <a:rPr lang="en-US" altLang="ko-KR" sz="1600" dirty="0" smtClean="0">
                <a:solidFill>
                  <a:prstClr val="white">
                    <a:lumMod val="95000"/>
                  </a:prstClr>
                </a:solidFill>
                <a:latin typeface="Pretendard SemiBold" panose="02000703000000020004" charset="-127"/>
                <a:ea typeface="Pretendard SemiBold" panose="02000703000000020004" charset="-127"/>
                <a:cs typeface="Pretendard SemiBold" panose="02000703000000020004" charset="-127"/>
              </a:rPr>
              <a:t>   1-1. </a:t>
            </a:r>
            <a:r>
              <a:rPr lang="ko-KR" altLang="en-US" sz="1600" dirty="0" smtClean="0">
                <a:solidFill>
                  <a:prstClr val="white">
                    <a:lumMod val="95000"/>
                  </a:prstClr>
                </a:solidFill>
                <a:latin typeface="Pretendard SemiBold" panose="02000703000000020004" charset="-127"/>
                <a:ea typeface="Pretendard SemiBold" panose="02000703000000020004" charset="-127"/>
                <a:cs typeface="Pretendard SemiBold" panose="02000703000000020004" charset="-127"/>
              </a:rPr>
              <a:t>추진 배경</a:t>
            </a:r>
            <a:endParaRPr lang="en-US" altLang="ko-KR" sz="1600" dirty="0" smtClean="0">
              <a:solidFill>
                <a:prstClr val="white">
                  <a:lumMod val="95000"/>
                </a:prstClr>
              </a:solidFill>
              <a:latin typeface="Pretendard SemiBold" panose="02000703000000020004" charset="-127"/>
              <a:ea typeface="Pretendard SemiBold" panose="02000703000000020004" charset="-127"/>
              <a:cs typeface="Pretendard SemiBold" panose="02000703000000020004" charset="-127"/>
            </a:endParaRPr>
          </a:p>
          <a:p>
            <a:pPr marL="0" indent="0">
              <a:lnSpc>
                <a:spcPct val="100000"/>
              </a:lnSpc>
              <a:buNone/>
              <a:defRPr/>
            </a:pPr>
            <a:r>
              <a:rPr lang="en-US" altLang="ko-KR" sz="1600" dirty="0" smtClean="0">
                <a:solidFill>
                  <a:prstClr val="white">
                    <a:lumMod val="95000"/>
                  </a:prstClr>
                </a:solidFill>
                <a:latin typeface="Pretendard SemiBold" panose="02000703000000020004" charset="-127"/>
                <a:ea typeface="Pretendard SemiBold" panose="02000703000000020004" charset="-127"/>
                <a:cs typeface="Pretendard SemiBold" panose="02000703000000020004" charset="-127"/>
              </a:rPr>
              <a:t>   </a:t>
            </a:r>
            <a:r>
              <a:rPr lang="en-US" altLang="ko-KR" sz="1600" dirty="0">
                <a:solidFill>
                  <a:prstClr val="white">
                    <a:lumMod val="95000"/>
                  </a:prstClr>
                </a:solidFill>
                <a:latin typeface="Pretendard SemiBold" panose="02000703000000020004" charset="-127"/>
                <a:ea typeface="Pretendard SemiBold" panose="02000703000000020004" charset="-127"/>
                <a:cs typeface="Pretendard SemiBold" panose="02000703000000020004" charset="-127"/>
              </a:rPr>
              <a:t>1-2. </a:t>
            </a:r>
            <a:r>
              <a:rPr lang="ko-KR" altLang="en-US" sz="1600" dirty="0" smtClean="0">
                <a:solidFill>
                  <a:prstClr val="white">
                    <a:lumMod val="95000"/>
                  </a:prstClr>
                </a:solidFill>
                <a:latin typeface="Pretendard SemiBold" panose="02000703000000020004" charset="-127"/>
                <a:ea typeface="Pretendard SemiBold" panose="02000703000000020004" charset="-127"/>
                <a:cs typeface="Pretendard SemiBold" panose="02000703000000020004" charset="-127"/>
              </a:rPr>
              <a:t>프로젝트 목표</a:t>
            </a:r>
            <a:endParaRPr lang="en-US" altLang="ko-KR" sz="1600" dirty="0" smtClean="0">
              <a:solidFill>
                <a:prstClr val="white">
                  <a:lumMod val="95000"/>
                </a:prstClr>
              </a:solidFill>
              <a:latin typeface="Pretendard SemiBold" panose="02000703000000020004" charset="-127"/>
              <a:ea typeface="Pretendard SemiBold" panose="02000703000000020004" charset="-127"/>
              <a:cs typeface="Pretendard SemiBold" panose="02000703000000020004" charset="-127"/>
            </a:endParaRPr>
          </a:p>
          <a:p>
            <a:pPr marL="0" indent="0">
              <a:lnSpc>
                <a:spcPct val="100000"/>
              </a:lnSpc>
              <a:buNone/>
              <a:defRPr/>
            </a:pPr>
            <a:r>
              <a:rPr lang="en-US" altLang="ko-KR" sz="1600" dirty="0" smtClean="0">
                <a:solidFill>
                  <a:prstClr val="white">
                    <a:lumMod val="95000"/>
                  </a:prstClr>
                </a:solidFill>
                <a:latin typeface="Pretendard SemiBold" panose="02000703000000020004" charset="-127"/>
                <a:ea typeface="Pretendard SemiBold" panose="02000703000000020004" charset="-127"/>
                <a:cs typeface="Pretendard SemiBold" panose="02000703000000020004" charset="-127"/>
              </a:rPr>
              <a:t>   1-3. </a:t>
            </a:r>
            <a:r>
              <a:rPr lang="ko-KR" altLang="en-US" sz="1600" dirty="0" smtClean="0">
                <a:solidFill>
                  <a:prstClr val="white">
                    <a:lumMod val="95000"/>
                  </a:prstClr>
                </a:solidFill>
                <a:latin typeface="Pretendard SemiBold" panose="02000703000000020004" charset="-127"/>
                <a:ea typeface="Pretendard SemiBold" panose="02000703000000020004" charset="-127"/>
                <a:cs typeface="Pretendard SemiBold" panose="02000703000000020004" charset="-127"/>
              </a:rPr>
              <a:t>운영 계획</a:t>
            </a:r>
            <a:endParaRPr lang="en-US" altLang="ko-KR" sz="1600" dirty="0" smtClean="0">
              <a:solidFill>
                <a:prstClr val="white">
                  <a:lumMod val="95000"/>
                </a:prstClr>
              </a:solidFill>
              <a:latin typeface="Pretendard SemiBold" panose="02000703000000020004" charset="-127"/>
              <a:ea typeface="Pretendard SemiBold" panose="02000703000000020004" charset="-127"/>
              <a:cs typeface="Pretendard SemiBold" panose="02000703000000020004" charset="-127"/>
            </a:endParaRPr>
          </a:p>
          <a:p>
            <a:pPr marL="0" indent="0">
              <a:lnSpc>
                <a:spcPct val="100000"/>
              </a:lnSpc>
              <a:buNone/>
              <a:defRPr/>
            </a:pPr>
            <a:r>
              <a:rPr lang="en-US" altLang="ko-KR" sz="1600" dirty="0">
                <a:solidFill>
                  <a:prstClr val="white">
                    <a:lumMod val="95000"/>
                  </a:prstClr>
                </a:solidFill>
                <a:latin typeface="Pretendard SemiBold" panose="02000703000000020004" charset="-127"/>
                <a:ea typeface="Pretendard SemiBold" panose="02000703000000020004" charset="-127"/>
                <a:cs typeface="Pretendard SemiBold" panose="02000703000000020004" charset="-127"/>
              </a:rPr>
              <a:t> </a:t>
            </a:r>
            <a:r>
              <a:rPr lang="en-US" altLang="ko-KR" sz="1600" dirty="0" smtClean="0">
                <a:solidFill>
                  <a:prstClr val="white">
                    <a:lumMod val="95000"/>
                  </a:prstClr>
                </a:solidFill>
                <a:latin typeface="Pretendard SemiBold" panose="02000703000000020004" charset="-127"/>
                <a:ea typeface="Pretendard SemiBold" panose="02000703000000020004" charset="-127"/>
                <a:cs typeface="Pretendard SemiBold" panose="02000703000000020004" charset="-127"/>
              </a:rPr>
              <a:t>  1-4. </a:t>
            </a:r>
            <a:r>
              <a:rPr lang="ko-KR" altLang="en-US" sz="1600" dirty="0" smtClean="0">
                <a:solidFill>
                  <a:prstClr val="white">
                    <a:lumMod val="95000"/>
                  </a:prstClr>
                </a:solidFill>
                <a:latin typeface="Pretendard SemiBold" panose="02000703000000020004" charset="-127"/>
                <a:ea typeface="Pretendard SemiBold" panose="02000703000000020004" charset="-127"/>
                <a:cs typeface="Pretendard SemiBold" panose="02000703000000020004" charset="-127"/>
              </a:rPr>
              <a:t>개발 방식</a:t>
            </a:r>
            <a:endParaRPr lang="en-US" altLang="ko-KR" sz="1600" dirty="0">
              <a:solidFill>
                <a:prstClr val="white">
                  <a:lumMod val="95000"/>
                </a:prstClr>
              </a:solidFill>
              <a:latin typeface="Pretendard SemiBold" panose="02000703000000020004" charset="-127"/>
              <a:ea typeface="Pretendard SemiBold" panose="02000703000000020004" charset="-127"/>
              <a:cs typeface="Pretendard SemiBold" panose="02000703000000020004" charset="-127"/>
            </a:endParaRPr>
          </a:p>
        </p:txBody>
      </p:sp>
      <p:sp>
        <p:nvSpPr>
          <p:cNvPr id="15" name="부제목 2"/>
          <p:cNvSpPr txBox="1">
            <a:spLocks/>
          </p:cNvSpPr>
          <p:nvPr/>
        </p:nvSpPr>
        <p:spPr>
          <a:xfrm>
            <a:off x="1443725" y="3798240"/>
            <a:ext cx="3035842" cy="2979638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다음_Regular" panose="02000603060000000000" pitchFamily="2" charset="-127"/>
                <a:ea typeface="다음_Regular" panose="0200060306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다음_Regular" panose="02000603060000000000" pitchFamily="2" charset="-127"/>
                <a:ea typeface="다음_Regular" panose="0200060306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다음_Regular" panose="02000603060000000000" pitchFamily="2" charset="-127"/>
                <a:ea typeface="다음_Regular" panose="0200060306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다음_Regular" panose="02000603060000000000" pitchFamily="2" charset="-127"/>
                <a:ea typeface="다음_Regular" panose="0200060306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다음_Regular" panose="02000603060000000000" pitchFamily="2" charset="-127"/>
                <a:ea typeface="다음_Regular" panose="0200060306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endParaRPr lang="en-US" altLang="ko-KR" sz="1400" dirty="0">
              <a:solidFill>
                <a:prstClr val="white">
                  <a:lumMod val="95000"/>
                </a:prstClr>
              </a:solidFill>
              <a:latin typeface="Pretendard SemiBold" panose="02000703000000020004" charset="-127"/>
              <a:ea typeface="Pretendard SemiBold" panose="02000703000000020004" charset="-127"/>
              <a:cs typeface="Pretendard SemiBold" panose="02000703000000020004" charset="-127"/>
            </a:endParaRPr>
          </a:p>
        </p:txBody>
      </p:sp>
      <p:cxnSp>
        <p:nvCxnSpPr>
          <p:cNvPr id="16" name="직선 연결선 15"/>
          <p:cNvCxnSpPr>
            <a:cxnSpLocks/>
          </p:cNvCxnSpPr>
          <p:nvPr/>
        </p:nvCxnSpPr>
        <p:spPr>
          <a:xfrm flipH="1">
            <a:off x="4751098" y="2305206"/>
            <a:ext cx="273313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5" name="부제목 2"/>
          <p:cNvSpPr txBox="1">
            <a:spLocks/>
          </p:cNvSpPr>
          <p:nvPr/>
        </p:nvSpPr>
        <p:spPr>
          <a:xfrm>
            <a:off x="8156675" y="3794418"/>
            <a:ext cx="3035842" cy="2979638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다음_Regular" panose="02000603060000000000" pitchFamily="2" charset="-127"/>
                <a:ea typeface="다음_Regular" panose="0200060306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다음_Regular" panose="02000603060000000000" pitchFamily="2" charset="-127"/>
                <a:ea typeface="다음_Regular" panose="0200060306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다음_Regular" panose="02000603060000000000" pitchFamily="2" charset="-127"/>
                <a:ea typeface="다음_Regular" panose="0200060306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다음_Regular" panose="02000603060000000000" pitchFamily="2" charset="-127"/>
                <a:ea typeface="다음_Regular" panose="0200060306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다음_Regular" panose="02000603060000000000" pitchFamily="2" charset="-127"/>
                <a:ea typeface="다음_Regular" panose="0200060306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endParaRPr lang="en-US" altLang="ko-KR" sz="1400" dirty="0">
              <a:solidFill>
                <a:prstClr val="white">
                  <a:lumMod val="95000"/>
                </a:prstClr>
              </a:solidFill>
              <a:latin typeface="Pretendard SemiBold" panose="02000703000000020004" charset="-127"/>
              <a:ea typeface="Pretendard SemiBold" panose="02000703000000020004" charset="-127"/>
              <a:cs typeface="Pretendard SemiBold" panose="02000703000000020004" charset="-127"/>
            </a:endParaRPr>
          </a:p>
        </p:txBody>
      </p:sp>
      <p:cxnSp>
        <p:nvCxnSpPr>
          <p:cNvPr id="36" name="직선 연결선 35"/>
          <p:cNvCxnSpPr>
            <a:cxnSpLocks/>
          </p:cNvCxnSpPr>
          <p:nvPr/>
        </p:nvCxnSpPr>
        <p:spPr>
          <a:xfrm flipH="1">
            <a:off x="8142864" y="2301384"/>
            <a:ext cx="273313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1" name="직선 연결선 10"/>
          <p:cNvCxnSpPr>
            <a:cxnSpLocks/>
          </p:cNvCxnSpPr>
          <p:nvPr/>
        </p:nvCxnSpPr>
        <p:spPr>
          <a:xfrm flipH="1">
            <a:off x="1443725" y="2305206"/>
            <a:ext cx="273313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3" name="부제목 2"/>
          <p:cNvSpPr txBox="1">
            <a:spLocks/>
          </p:cNvSpPr>
          <p:nvPr/>
        </p:nvSpPr>
        <p:spPr>
          <a:xfrm>
            <a:off x="4745841" y="2453627"/>
            <a:ext cx="2975031" cy="2775597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다음_Regular" panose="02000603060000000000" pitchFamily="2" charset="-127"/>
                <a:ea typeface="다음_Regular" panose="0200060306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다음_Regular" panose="02000603060000000000" pitchFamily="2" charset="-127"/>
                <a:ea typeface="다음_Regular" panose="0200060306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다음_Regular" panose="02000603060000000000" pitchFamily="2" charset="-127"/>
                <a:ea typeface="다음_Regular" panose="0200060306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다음_Regular" panose="02000603060000000000" pitchFamily="2" charset="-127"/>
                <a:ea typeface="다음_Regular" panose="0200060306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다음_Regular" panose="02000603060000000000" pitchFamily="2" charset="-127"/>
                <a:ea typeface="다음_Regular" panose="0200060306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800"/>
              </a:spcAft>
              <a:buNone/>
              <a:defRPr/>
            </a:pPr>
            <a:r>
              <a:rPr lang="en-US" altLang="ko-KR" sz="1600" dirty="0">
                <a:solidFill>
                  <a:prstClr val="white">
                    <a:lumMod val="95000"/>
                  </a:prstClr>
                </a:solidFill>
                <a:latin typeface="Pretendard SemiBold" panose="02000703000000020004" charset="-127"/>
                <a:ea typeface="Pretendard SemiBold" panose="02000703000000020004" charset="-127"/>
                <a:cs typeface="Pretendard SemiBold" panose="02000703000000020004" charset="-127"/>
              </a:rPr>
              <a:t>2. </a:t>
            </a:r>
            <a:r>
              <a:rPr lang="ko-KR" altLang="en-US" sz="1600" dirty="0" smtClean="0">
                <a:solidFill>
                  <a:prstClr val="white">
                    <a:lumMod val="95000"/>
                  </a:prstClr>
                </a:solidFill>
                <a:latin typeface="Pretendard SemiBold" panose="02000703000000020004" charset="-127"/>
                <a:ea typeface="Pretendard SemiBold" panose="02000703000000020004" charset="-127"/>
                <a:cs typeface="Pretendard SemiBold" panose="02000703000000020004" charset="-127"/>
              </a:rPr>
              <a:t>운영 결과</a:t>
            </a:r>
            <a:endParaRPr lang="en-US" altLang="ko-KR" sz="1600" dirty="0">
              <a:solidFill>
                <a:prstClr val="white">
                  <a:lumMod val="95000"/>
                </a:prstClr>
              </a:solidFill>
              <a:latin typeface="Pretendard SemiBold" panose="02000703000000020004" charset="-127"/>
              <a:ea typeface="Pretendard SemiBold" panose="02000703000000020004" charset="-127"/>
              <a:cs typeface="Pretendard SemiBold" panose="02000703000000020004" charset="-127"/>
            </a:endParaRPr>
          </a:p>
          <a:p>
            <a:pPr marL="0" indent="0">
              <a:lnSpc>
                <a:spcPct val="100000"/>
              </a:lnSpc>
              <a:buNone/>
              <a:defRPr/>
            </a:pPr>
            <a:r>
              <a:rPr lang="en-US" altLang="ko-KR" sz="1600" dirty="0">
                <a:solidFill>
                  <a:prstClr val="white">
                    <a:lumMod val="95000"/>
                  </a:prstClr>
                </a:solidFill>
                <a:latin typeface="Pretendard SemiBold" panose="02000703000000020004" charset="-127"/>
                <a:ea typeface="Pretendard SemiBold" panose="02000703000000020004" charset="-127"/>
                <a:cs typeface="Pretendard SemiBold" panose="02000703000000020004" charset="-127"/>
              </a:rPr>
              <a:t>   2-1. </a:t>
            </a:r>
            <a:r>
              <a:rPr lang="ko-KR" altLang="en-US" sz="1600" dirty="0" smtClean="0">
                <a:solidFill>
                  <a:prstClr val="white">
                    <a:lumMod val="95000"/>
                  </a:prstClr>
                </a:solidFill>
                <a:latin typeface="Pretendard SemiBold" panose="02000703000000020004" charset="-127"/>
                <a:ea typeface="Pretendard SemiBold" panose="02000703000000020004" charset="-127"/>
                <a:cs typeface="Pretendard SemiBold" panose="02000703000000020004" charset="-127"/>
              </a:rPr>
              <a:t>핵심 기능</a:t>
            </a:r>
            <a:endParaRPr lang="en-US" altLang="ko-KR" sz="1600" dirty="0">
              <a:solidFill>
                <a:prstClr val="white">
                  <a:lumMod val="95000"/>
                </a:prstClr>
              </a:solidFill>
              <a:latin typeface="Pretendard SemiBold" panose="02000703000000020004" charset="-127"/>
              <a:ea typeface="Pretendard SemiBold" panose="02000703000000020004" charset="-127"/>
              <a:cs typeface="Pretendard SemiBold" panose="02000703000000020004" charset="-127"/>
            </a:endParaRPr>
          </a:p>
          <a:p>
            <a:pPr marL="0" indent="0">
              <a:lnSpc>
                <a:spcPct val="100000"/>
              </a:lnSpc>
              <a:buNone/>
              <a:defRPr/>
            </a:pPr>
            <a:r>
              <a:rPr lang="en-US" altLang="ko-KR" sz="1600" dirty="0">
                <a:solidFill>
                  <a:prstClr val="white">
                    <a:lumMod val="95000"/>
                  </a:prstClr>
                </a:solidFill>
                <a:latin typeface="Pretendard SemiBold" panose="02000703000000020004" charset="-127"/>
                <a:ea typeface="Pretendard SemiBold" panose="02000703000000020004" charset="-127"/>
                <a:cs typeface="Pretendard SemiBold" panose="02000703000000020004" charset="-127"/>
              </a:rPr>
              <a:t>   2-2. </a:t>
            </a:r>
            <a:r>
              <a:rPr lang="ko-KR" altLang="en-US" sz="1600" dirty="0" smtClean="0">
                <a:solidFill>
                  <a:prstClr val="white">
                    <a:lumMod val="95000"/>
                  </a:prstClr>
                </a:solidFill>
                <a:latin typeface="Pretendard SemiBold" panose="02000703000000020004" charset="-127"/>
                <a:ea typeface="Pretendard SemiBold" panose="02000703000000020004" charset="-127"/>
                <a:cs typeface="Pretendard SemiBold" panose="02000703000000020004" charset="-127"/>
              </a:rPr>
              <a:t>사용자 편의 기능</a:t>
            </a:r>
            <a:endParaRPr lang="ko-KR" altLang="en-US" sz="1600" dirty="0">
              <a:solidFill>
                <a:prstClr val="white">
                  <a:lumMod val="95000"/>
                </a:prstClr>
              </a:solidFill>
              <a:latin typeface="Pretendard SemiBold" panose="02000703000000020004" charset="-127"/>
              <a:ea typeface="Pretendard SemiBold" panose="02000703000000020004" charset="-127"/>
              <a:cs typeface="Pretendard SemiBold" panose="02000703000000020004" charset="-127"/>
            </a:endParaRPr>
          </a:p>
          <a:p>
            <a:pPr marL="0" indent="0">
              <a:lnSpc>
                <a:spcPct val="100000"/>
              </a:lnSpc>
              <a:buNone/>
              <a:defRPr/>
            </a:pPr>
            <a:r>
              <a:rPr lang="en-US" altLang="ko-KR" sz="1600" dirty="0" smtClean="0">
                <a:solidFill>
                  <a:prstClr val="white">
                    <a:lumMod val="95000"/>
                  </a:prstClr>
                </a:solidFill>
                <a:latin typeface="Pretendard SemiBold" panose="02000703000000020004" charset="-127"/>
                <a:ea typeface="Pretendard SemiBold" panose="02000703000000020004" charset="-127"/>
                <a:cs typeface="Pretendard SemiBold" panose="02000703000000020004" charset="-127"/>
              </a:rPr>
              <a:t>   2-3. </a:t>
            </a:r>
            <a:r>
              <a:rPr lang="ko-KR" altLang="en-US" sz="1600" dirty="0">
                <a:solidFill>
                  <a:prstClr val="white">
                    <a:lumMod val="95000"/>
                  </a:prstClr>
                </a:solidFill>
                <a:latin typeface="Pretendard SemiBold" panose="02000703000000020004" charset="-127"/>
                <a:ea typeface="Pretendard SemiBold" panose="02000703000000020004" charset="-127"/>
                <a:cs typeface="Pretendard SemiBold" panose="02000703000000020004" charset="-127"/>
              </a:rPr>
              <a:t>추진 성과</a:t>
            </a:r>
          </a:p>
          <a:p>
            <a:pPr marL="0" indent="0">
              <a:lnSpc>
                <a:spcPct val="100000"/>
              </a:lnSpc>
              <a:buNone/>
              <a:defRPr/>
            </a:pPr>
            <a:r>
              <a:rPr lang="en-US" altLang="ko-KR" sz="1600" dirty="0">
                <a:solidFill>
                  <a:prstClr val="white">
                    <a:lumMod val="95000"/>
                  </a:prstClr>
                </a:solidFill>
                <a:latin typeface="Pretendard SemiBold" panose="02000703000000020004" charset="-127"/>
                <a:ea typeface="Pretendard SemiBold" panose="02000703000000020004" charset="-127"/>
                <a:cs typeface="Pretendard SemiBold" panose="02000703000000020004" charset="-127"/>
              </a:rPr>
              <a:t>   </a:t>
            </a:r>
            <a:r>
              <a:rPr lang="en-US" altLang="ko-KR" sz="1600" dirty="0" smtClean="0">
                <a:solidFill>
                  <a:prstClr val="white">
                    <a:lumMod val="95000"/>
                  </a:prstClr>
                </a:solidFill>
                <a:latin typeface="Pretendard SemiBold" panose="02000703000000020004" charset="-127"/>
                <a:ea typeface="Pretendard SemiBold" panose="02000703000000020004" charset="-127"/>
                <a:cs typeface="Pretendard SemiBold" panose="02000703000000020004" charset="-127"/>
              </a:rPr>
              <a:t>2-4. </a:t>
            </a:r>
            <a:r>
              <a:rPr lang="ko-KR" altLang="en-US" sz="1600" dirty="0">
                <a:solidFill>
                  <a:prstClr val="white">
                    <a:lumMod val="95000"/>
                  </a:prstClr>
                </a:solidFill>
                <a:latin typeface="Pretendard SemiBold" panose="02000703000000020004" charset="-127"/>
                <a:ea typeface="Pretendard SemiBold" panose="02000703000000020004" charset="-127"/>
                <a:cs typeface="Pretendard SemiBold" panose="02000703000000020004" charset="-127"/>
              </a:rPr>
              <a:t>기능 시현</a:t>
            </a:r>
          </a:p>
        </p:txBody>
      </p:sp>
      <p:sp>
        <p:nvSpPr>
          <p:cNvPr id="17" name="부제목 2"/>
          <p:cNvSpPr txBox="1">
            <a:spLocks/>
          </p:cNvSpPr>
          <p:nvPr/>
        </p:nvSpPr>
        <p:spPr>
          <a:xfrm>
            <a:off x="8086093" y="2453627"/>
            <a:ext cx="2975031" cy="2775597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다음_Regular" panose="02000603060000000000" pitchFamily="2" charset="-127"/>
                <a:ea typeface="다음_Regular" panose="0200060306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다음_Regular" panose="02000603060000000000" pitchFamily="2" charset="-127"/>
                <a:ea typeface="다음_Regular" panose="0200060306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다음_Regular" panose="02000603060000000000" pitchFamily="2" charset="-127"/>
                <a:ea typeface="다음_Regular" panose="0200060306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다음_Regular" panose="02000603060000000000" pitchFamily="2" charset="-127"/>
                <a:ea typeface="다음_Regular" panose="0200060306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다음_Regular" panose="02000603060000000000" pitchFamily="2" charset="-127"/>
                <a:ea typeface="다음_Regular" panose="0200060306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800"/>
              </a:spcAft>
              <a:buNone/>
              <a:defRPr/>
            </a:pPr>
            <a:r>
              <a:rPr lang="en-US" altLang="ko-KR" sz="1600" dirty="0" smtClean="0">
                <a:solidFill>
                  <a:prstClr val="white">
                    <a:lumMod val="95000"/>
                  </a:prstClr>
                </a:solidFill>
                <a:latin typeface="Pretendard SemiBold" panose="02000703000000020004" charset="-127"/>
                <a:ea typeface="Pretendard SemiBold" panose="02000703000000020004" charset="-127"/>
                <a:cs typeface="Pretendard SemiBold" panose="02000703000000020004" charset="-127"/>
              </a:rPr>
              <a:t>3. </a:t>
            </a:r>
            <a:r>
              <a:rPr lang="ko-KR" altLang="en-US" sz="1600" dirty="0" smtClean="0">
                <a:solidFill>
                  <a:prstClr val="white">
                    <a:lumMod val="95000"/>
                  </a:prstClr>
                </a:solidFill>
                <a:latin typeface="Pretendard SemiBold" panose="02000703000000020004" charset="-127"/>
                <a:ea typeface="Pretendard SemiBold" panose="02000703000000020004" charset="-127"/>
                <a:cs typeface="Pretendard SemiBold" panose="02000703000000020004" charset="-127"/>
              </a:rPr>
              <a:t>확장 및 고도화</a:t>
            </a:r>
            <a:endParaRPr lang="en-US" altLang="ko-KR" sz="1600" dirty="0" smtClean="0">
              <a:solidFill>
                <a:prstClr val="white">
                  <a:lumMod val="95000"/>
                </a:prstClr>
              </a:solidFill>
              <a:latin typeface="Pretendard SemiBold" panose="02000703000000020004" charset="-127"/>
              <a:ea typeface="Pretendard SemiBold" panose="02000703000000020004" charset="-127"/>
              <a:cs typeface="Pretendard SemiBold" panose="02000703000000020004" charset="-127"/>
            </a:endParaRPr>
          </a:p>
          <a:p>
            <a:pPr marL="0" indent="0">
              <a:lnSpc>
                <a:spcPct val="100000"/>
              </a:lnSpc>
              <a:buNone/>
              <a:defRPr/>
            </a:pPr>
            <a:r>
              <a:rPr lang="en-US" altLang="ko-KR" sz="1600" dirty="0" smtClean="0">
                <a:solidFill>
                  <a:prstClr val="white">
                    <a:lumMod val="95000"/>
                  </a:prstClr>
                </a:solidFill>
                <a:latin typeface="Pretendard SemiBold" panose="02000703000000020004" charset="-127"/>
                <a:ea typeface="Pretendard SemiBold" panose="02000703000000020004" charset="-127"/>
                <a:cs typeface="Pretendard SemiBold" panose="02000703000000020004" charset="-127"/>
              </a:rPr>
              <a:t>   3-1. </a:t>
            </a:r>
            <a:r>
              <a:rPr lang="ko-KR" altLang="en-US" sz="1600" dirty="0" smtClean="0">
                <a:solidFill>
                  <a:prstClr val="white">
                    <a:lumMod val="95000"/>
                  </a:prstClr>
                </a:solidFill>
                <a:latin typeface="Pretendard SemiBold" panose="02000703000000020004" charset="-127"/>
                <a:ea typeface="Pretendard SemiBold" panose="02000703000000020004" charset="-127"/>
                <a:cs typeface="Pretendard SemiBold" panose="02000703000000020004" charset="-127"/>
              </a:rPr>
              <a:t>향후 계획</a:t>
            </a:r>
            <a:endParaRPr lang="en-US" altLang="ko-KR" sz="1600" dirty="0" smtClean="0">
              <a:solidFill>
                <a:prstClr val="white">
                  <a:lumMod val="95000"/>
                </a:prstClr>
              </a:solidFill>
              <a:latin typeface="Pretendard SemiBold" panose="02000703000000020004" charset="-127"/>
              <a:ea typeface="Pretendard SemiBold" panose="02000703000000020004" charset="-127"/>
              <a:cs typeface="Pretendard SemiBold" panose="02000703000000020004" charset="-127"/>
            </a:endParaRPr>
          </a:p>
          <a:p>
            <a:pPr marL="0" indent="0">
              <a:lnSpc>
                <a:spcPct val="100000"/>
              </a:lnSpc>
              <a:buNone/>
              <a:defRPr/>
            </a:pPr>
            <a:r>
              <a:rPr lang="en-US" altLang="ko-KR" sz="1600" dirty="0" smtClean="0">
                <a:solidFill>
                  <a:prstClr val="white">
                    <a:lumMod val="95000"/>
                  </a:prstClr>
                </a:solidFill>
                <a:latin typeface="Pretendard SemiBold" panose="02000703000000020004" charset="-127"/>
                <a:ea typeface="Pretendard SemiBold" panose="02000703000000020004" charset="-127"/>
                <a:cs typeface="Pretendard SemiBold" panose="02000703000000020004" charset="-127"/>
              </a:rPr>
              <a:t>   3-2</a:t>
            </a:r>
            <a:r>
              <a:rPr lang="en-US" altLang="ko-KR" sz="1600" dirty="0">
                <a:solidFill>
                  <a:prstClr val="white">
                    <a:lumMod val="95000"/>
                  </a:prstClr>
                </a:solidFill>
                <a:latin typeface="Pretendard SemiBold" panose="02000703000000020004" charset="-127"/>
                <a:ea typeface="Pretendard SemiBold" panose="02000703000000020004" charset="-127"/>
                <a:cs typeface="Pretendard SemiBold" panose="02000703000000020004" charset="-127"/>
              </a:rPr>
              <a:t>. </a:t>
            </a:r>
            <a:r>
              <a:rPr lang="ko-KR" altLang="en-US" sz="1600" dirty="0" smtClean="0">
                <a:solidFill>
                  <a:prstClr val="white">
                    <a:lumMod val="95000"/>
                  </a:prstClr>
                </a:solidFill>
                <a:latin typeface="Pretendard SemiBold" panose="02000703000000020004" charset="-127"/>
                <a:ea typeface="Pretendard SemiBold" panose="02000703000000020004" charset="-127"/>
                <a:cs typeface="Pretendard SemiBold" panose="02000703000000020004" charset="-127"/>
              </a:rPr>
              <a:t>검토 사항</a:t>
            </a:r>
            <a:endParaRPr lang="en-US" altLang="ko-KR" sz="1600" dirty="0" smtClean="0">
              <a:solidFill>
                <a:prstClr val="white">
                  <a:lumMod val="95000"/>
                </a:prstClr>
              </a:solidFill>
              <a:latin typeface="Pretendard SemiBold" panose="02000703000000020004" charset="-127"/>
              <a:ea typeface="Pretendard SemiBold" panose="02000703000000020004" charset="-127"/>
              <a:cs typeface="Pretendard SemiBold" panose="02000703000000020004" charset="-127"/>
            </a:endParaRPr>
          </a:p>
          <a:p>
            <a:pPr marL="0" indent="0">
              <a:lnSpc>
                <a:spcPct val="100000"/>
              </a:lnSpc>
              <a:buNone/>
              <a:defRPr/>
            </a:pPr>
            <a:r>
              <a:rPr lang="en-US" altLang="ko-KR" sz="1600" dirty="0" smtClean="0">
                <a:solidFill>
                  <a:prstClr val="white">
                    <a:lumMod val="95000"/>
                  </a:prstClr>
                </a:solidFill>
                <a:latin typeface="Pretendard SemiBold" panose="02000703000000020004" charset="-127"/>
                <a:ea typeface="Pretendard SemiBold" panose="02000703000000020004" charset="-127"/>
                <a:cs typeface="Pretendard SemiBold" panose="02000703000000020004" charset="-127"/>
              </a:rPr>
              <a:t>   3-3. </a:t>
            </a:r>
            <a:r>
              <a:rPr lang="ko-KR" altLang="en-US" sz="1600" dirty="0">
                <a:solidFill>
                  <a:prstClr val="white">
                    <a:lumMod val="95000"/>
                  </a:prstClr>
                </a:solidFill>
                <a:latin typeface="Pretendard SemiBold" panose="02000703000000020004" charset="-127"/>
                <a:ea typeface="Pretendard SemiBold" panose="02000703000000020004" charset="-127"/>
                <a:cs typeface="Pretendard SemiBold" panose="02000703000000020004" charset="-127"/>
              </a:rPr>
              <a:t>기대 효과</a:t>
            </a:r>
          </a:p>
        </p:txBody>
      </p:sp>
    </p:spTree>
    <p:extLst>
      <p:ext uri="{BB962C8B-B14F-4D97-AF65-F5344CB8AC3E}">
        <p14:creationId xmlns:p14="http://schemas.microsoft.com/office/powerpoint/2010/main" val="2116758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200" y="81915"/>
            <a:ext cx="96935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758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>
            <a:extLst>
              <a:ext uri="{FF2B5EF4-FFF2-40B4-BE49-F238E27FC236}">
                <a16:creationId xmlns:a16="http://schemas.microsoft.com/office/drawing/2014/main" id="{8665459D-C324-47E8-A25A-F93EFD004CE0}"/>
              </a:ext>
            </a:extLst>
          </p:cNvPr>
          <p:cNvSpPr txBox="1">
            <a:spLocks/>
          </p:cNvSpPr>
          <p:nvPr/>
        </p:nvSpPr>
        <p:spPr>
          <a:xfrm>
            <a:off x="0" y="2456405"/>
            <a:ext cx="12192000" cy="1453215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kern="1200" spc="-150">
                <a:solidFill>
                  <a:schemeClr val="tx1">
                    <a:lumMod val="85000"/>
                    <a:lumOff val="15000"/>
                  </a:schemeClr>
                </a:solidFill>
                <a:latin typeface="다음_Regular" panose="02000603060000000000" pitchFamily="2" charset="-127"/>
                <a:ea typeface="다음_Regular" panose="02000603060000000000" pitchFamily="2" charset="-127"/>
                <a:cs typeface="+mj-cs"/>
              </a:defRPr>
            </a:lvl1pPr>
          </a:lstStyle>
          <a:p>
            <a:pPr lvl="0" algn="ctr">
              <a:defRPr/>
            </a:pPr>
            <a:r>
              <a:rPr lang="en-US" altLang="ko-KR" spc="0" dirty="0" smtClean="0">
                <a:solidFill>
                  <a:srgbClr val="1F2A44"/>
                </a:solidFill>
                <a:latin typeface="+mj-lt"/>
                <a:ea typeface="+mj-ea"/>
                <a:cs typeface="KoPubWorld돋움체 Bold" panose="00000800000000000000" pitchFamily="2" charset="-127"/>
              </a:rPr>
              <a:t>1. </a:t>
            </a:r>
            <a:r>
              <a:rPr lang="ko-KR" altLang="en-US" spc="0" dirty="0" smtClean="0">
                <a:solidFill>
                  <a:srgbClr val="1F2A44"/>
                </a:solidFill>
                <a:latin typeface="+mj-lt"/>
                <a:ea typeface="+mj-ea"/>
                <a:cs typeface="KoPubWorld돋움체 Bold" panose="00000800000000000000" pitchFamily="2" charset="-127"/>
              </a:rPr>
              <a:t>프로젝트 개요</a:t>
            </a:r>
            <a:endParaRPr lang="ko-KR" altLang="en-US" spc="0" dirty="0">
              <a:solidFill>
                <a:srgbClr val="1F2A44"/>
              </a:solidFill>
              <a:latin typeface="+mj-lt"/>
              <a:ea typeface="+mj-ea"/>
              <a:cs typeface="KoPubWorld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51791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제목 1">
            <a:extLst>
              <a:ext uri="{FF2B5EF4-FFF2-40B4-BE49-F238E27FC236}">
                <a16:creationId xmlns:a16="http://schemas.microsoft.com/office/drawing/2014/main" id="{8665459D-C324-47E8-A25A-F93EFD004CE0}"/>
              </a:ext>
            </a:extLst>
          </p:cNvPr>
          <p:cNvSpPr txBox="1">
            <a:spLocks/>
          </p:cNvSpPr>
          <p:nvPr/>
        </p:nvSpPr>
        <p:spPr>
          <a:xfrm>
            <a:off x="8965" y="393690"/>
            <a:ext cx="861840" cy="44606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kern="1200" spc="-150">
                <a:solidFill>
                  <a:schemeClr val="tx1">
                    <a:lumMod val="85000"/>
                    <a:lumOff val="15000"/>
                  </a:schemeClr>
                </a:solidFill>
                <a:latin typeface="다음_Regular" panose="02000603060000000000" pitchFamily="2" charset="-127"/>
                <a:ea typeface="다음_Regular" panose="02000603060000000000" pitchFamily="2" charset="-127"/>
                <a:cs typeface="+mj-cs"/>
              </a:defRPr>
            </a:lvl1pPr>
          </a:lstStyle>
          <a:p>
            <a:pPr lvl="0">
              <a:defRPr/>
            </a:pPr>
            <a:r>
              <a:rPr lang="en-US" altLang="ko-KR" sz="2800" spc="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1-1</a:t>
            </a:r>
            <a:endParaRPr lang="ko-KR" altLang="en-US" sz="2000" spc="0" dirty="0">
              <a:solidFill>
                <a:prstClr val="black">
                  <a:lumMod val="85000"/>
                  <a:lumOff val="1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B133345-C92C-40E8-BF3B-D92E22377D6C}"/>
              </a:ext>
            </a:extLst>
          </p:cNvPr>
          <p:cNvSpPr/>
          <p:nvPr/>
        </p:nvSpPr>
        <p:spPr>
          <a:xfrm flipV="1">
            <a:off x="0" y="847230"/>
            <a:ext cx="770282" cy="28800"/>
          </a:xfrm>
          <a:prstGeom prst="rect">
            <a:avLst/>
          </a:prstGeom>
          <a:solidFill>
            <a:srgbClr val="0048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8" name="제목 1">
            <a:extLst>
              <a:ext uri="{FF2B5EF4-FFF2-40B4-BE49-F238E27FC236}">
                <a16:creationId xmlns:a16="http://schemas.microsoft.com/office/drawing/2014/main" id="{8665459D-C324-47E8-A25A-F93EFD004CE0}"/>
              </a:ext>
            </a:extLst>
          </p:cNvPr>
          <p:cNvSpPr txBox="1">
            <a:spLocks/>
          </p:cNvSpPr>
          <p:nvPr/>
        </p:nvSpPr>
        <p:spPr>
          <a:xfrm>
            <a:off x="870805" y="393690"/>
            <a:ext cx="7396700" cy="44606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kern="1200" spc="-150">
                <a:solidFill>
                  <a:schemeClr val="tx1">
                    <a:lumMod val="85000"/>
                    <a:lumOff val="15000"/>
                  </a:schemeClr>
                </a:solidFill>
                <a:latin typeface="다음_Regular" panose="02000603060000000000" pitchFamily="2" charset="-127"/>
                <a:ea typeface="다음_Regular" panose="02000603060000000000" pitchFamily="2" charset="-127"/>
                <a:cs typeface="+mj-cs"/>
              </a:defRPr>
            </a:lvl1pPr>
          </a:lstStyle>
          <a:p>
            <a:pPr lvl="0">
              <a:defRPr/>
            </a:pPr>
            <a:r>
              <a:rPr lang="ko-KR" altLang="en-US" sz="2800" spc="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추진 배경</a:t>
            </a:r>
            <a:endParaRPr lang="ko-KR" altLang="en-US" sz="2000" spc="0" dirty="0">
              <a:solidFill>
                <a:prstClr val="black">
                  <a:lumMod val="85000"/>
                  <a:lumOff val="1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2899706" y="1161528"/>
            <a:ext cx="8237915" cy="1641764"/>
            <a:chOff x="1014151" y="1699951"/>
            <a:chExt cx="8237915" cy="1641764"/>
          </a:xfrm>
        </p:grpSpPr>
        <p:sp>
          <p:nvSpPr>
            <p:cNvPr id="2" name="직사각형 1"/>
            <p:cNvSpPr/>
            <p:nvPr/>
          </p:nvSpPr>
          <p:spPr>
            <a:xfrm>
              <a:off x="1014151" y="1704108"/>
              <a:ext cx="8237915" cy="1637607"/>
            </a:xfrm>
            <a:prstGeom prst="rect">
              <a:avLst/>
            </a:prstGeom>
            <a:solidFill>
              <a:srgbClr val="F7F7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1014151" y="1699951"/>
              <a:ext cx="45719" cy="1637607"/>
            </a:xfrm>
            <a:prstGeom prst="rect">
              <a:avLst/>
            </a:prstGeom>
            <a:solidFill>
              <a:srgbClr val="0048D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3372052" y="1398749"/>
            <a:ext cx="7811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b="1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 </a:t>
            </a:r>
            <a:r>
              <a:rPr lang="ko-KR" altLang="en-US" b="1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업무 효율화</a:t>
            </a:r>
            <a:endParaRPr lang="en-US" altLang="ko-KR" b="1" dirty="0" smtClean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4909" b="29273" l="53846" r="57002">
                        <a14:foregroundMark x1="55360" y1="25758" x2="55403" y2="28121"/>
                        <a14:foregroundMark x1="55703" y1="26545" x2="55703" y2="26545"/>
                        <a14:foregroundMark x1="55832" y1="26000" x2="56389" y2="26970"/>
                        <a14:foregroundMark x1="54674" y1="26242" x2="54674" y2="26061"/>
                        <a14:foregroundMark x1="54417" y1="27212" x2="54417" y2="2721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3452" t="24364" r="42603" b="70182"/>
          <a:stretch/>
        </p:blipFill>
        <p:spPr>
          <a:xfrm>
            <a:off x="3137811" y="1406926"/>
            <a:ext cx="367999" cy="360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3505810" y="1736962"/>
            <a:ext cx="78112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- </a:t>
            </a:r>
            <a:r>
              <a:rPr lang="ko-KR" altLang="en-US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본부 </a:t>
            </a:r>
            <a:r>
              <a:rPr lang="en-US" altLang="ko-KR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AX </a:t>
            </a:r>
            <a:r>
              <a:rPr lang="ko-KR" altLang="en-US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과업 추진에 따라 </a:t>
            </a:r>
            <a:r>
              <a:rPr lang="en-US" altLang="ko-KR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AI </a:t>
            </a:r>
            <a:r>
              <a:rPr lang="ko-KR" altLang="en-US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활용 기반 업무 개선 요구</a:t>
            </a:r>
            <a:endParaRPr lang="en-US" altLang="ko-KR" dirty="0" smtClean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- </a:t>
            </a:r>
            <a:r>
              <a:rPr lang="ko-KR" altLang="en-US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시장 및 사업 관련 정보 탐색 업무 증가로 효율화 필요성 증대</a:t>
            </a:r>
            <a:endParaRPr lang="en-US" altLang="ko-KR" dirty="0" smtClean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grpSp>
        <p:nvGrpSpPr>
          <p:cNvPr id="33" name="그룹 32"/>
          <p:cNvGrpSpPr/>
          <p:nvPr/>
        </p:nvGrpSpPr>
        <p:grpSpPr>
          <a:xfrm>
            <a:off x="2899706" y="2998505"/>
            <a:ext cx="8237915" cy="1641764"/>
            <a:chOff x="1014151" y="1699951"/>
            <a:chExt cx="8237915" cy="1641764"/>
          </a:xfrm>
        </p:grpSpPr>
        <p:sp>
          <p:nvSpPr>
            <p:cNvPr id="34" name="직사각형 33"/>
            <p:cNvSpPr/>
            <p:nvPr/>
          </p:nvSpPr>
          <p:spPr>
            <a:xfrm>
              <a:off x="1014151" y="1704108"/>
              <a:ext cx="8237915" cy="1637607"/>
            </a:xfrm>
            <a:prstGeom prst="rect">
              <a:avLst/>
            </a:prstGeom>
            <a:solidFill>
              <a:srgbClr val="F7F7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직사각형 34"/>
            <p:cNvSpPr/>
            <p:nvPr/>
          </p:nvSpPr>
          <p:spPr>
            <a:xfrm>
              <a:off x="1014151" y="1699951"/>
              <a:ext cx="45719" cy="1637607"/>
            </a:xfrm>
            <a:prstGeom prst="rect">
              <a:avLst/>
            </a:prstGeom>
            <a:solidFill>
              <a:srgbClr val="0048D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3372052" y="3235726"/>
            <a:ext cx="7811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b="1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 AI </a:t>
            </a:r>
            <a:r>
              <a:rPr lang="ko-KR" altLang="en-US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활용 기회</a:t>
            </a:r>
            <a:endParaRPr lang="en-US" altLang="ko-KR" b="1" dirty="0" smtClean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505810" y="3573939"/>
            <a:ext cx="78112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- AI Agent</a:t>
            </a:r>
            <a:r>
              <a:rPr lang="ko-KR" altLang="en-US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의 등장으로 업무 자동화 실현 가능성 증가</a:t>
            </a:r>
            <a:endParaRPr lang="en-US" altLang="ko-KR" dirty="0" smtClean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- AI </a:t>
            </a:r>
            <a:r>
              <a:rPr lang="ko-KR" altLang="en-US" dirty="0" err="1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리터러시</a:t>
            </a:r>
            <a:r>
              <a:rPr lang="ko-KR" altLang="en-US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제고 및 </a:t>
            </a:r>
            <a:r>
              <a:rPr lang="ko-KR" altLang="en-US" dirty="0" err="1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바이브</a:t>
            </a:r>
            <a:r>
              <a:rPr lang="ko-KR" altLang="en-US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코딩 역량 강화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40" name="그림 39"/>
          <p:cNvPicPr>
            <a:picLocks noChangeAspect="1"/>
          </p:cNvPicPr>
          <p:nvPr/>
        </p:nvPicPr>
        <p:blipFill rotWithShape="1"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1656" b="16020" l="64392" r="67479">
                        <a14:foregroundMark x1="66081" y1="12909" x2="65695" y2="14606"/>
                        <a14:foregroundMark x1="65137" y1="13091" x2="66638" y2="12909"/>
                        <a14:foregroundMark x1="66595" y1="12909" x2="66509" y2="14788"/>
                        <a14:foregroundMark x1="66467" y1="14848" x2="65180" y2="14667"/>
                        <a14:foregroundMark x1="65437" y1="13030" x2="65823" y2="14424"/>
                        <a14:foregroundMark x1="65180" y1="13455" x2="65995" y2="14606"/>
                        <a14:foregroundMark x1="65266" y1="14485" x2="66552" y2="1272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006" t="11111" r="32135" b="83434"/>
          <a:stretch/>
        </p:blipFill>
        <p:spPr>
          <a:xfrm>
            <a:off x="3137811" y="3243903"/>
            <a:ext cx="360000" cy="360000"/>
          </a:xfrm>
          <a:prstGeom prst="rect">
            <a:avLst/>
          </a:prstGeom>
        </p:spPr>
      </p:pic>
      <p:grpSp>
        <p:nvGrpSpPr>
          <p:cNvPr id="41" name="그룹 40"/>
          <p:cNvGrpSpPr/>
          <p:nvPr/>
        </p:nvGrpSpPr>
        <p:grpSpPr>
          <a:xfrm>
            <a:off x="2899706" y="4839105"/>
            <a:ext cx="8237915" cy="1641764"/>
            <a:chOff x="1014151" y="1699951"/>
            <a:chExt cx="8237915" cy="1641764"/>
          </a:xfrm>
        </p:grpSpPr>
        <p:sp>
          <p:nvSpPr>
            <p:cNvPr id="42" name="직사각형 41"/>
            <p:cNvSpPr/>
            <p:nvPr/>
          </p:nvSpPr>
          <p:spPr>
            <a:xfrm>
              <a:off x="1014151" y="1704108"/>
              <a:ext cx="8237915" cy="1637607"/>
            </a:xfrm>
            <a:prstGeom prst="rect">
              <a:avLst/>
            </a:prstGeom>
            <a:solidFill>
              <a:srgbClr val="F7F7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직사각형 42"/>
            <p:cNvSpPr/>
            <p:nvPr/>
          </p:nvSpPr>
          <p:spPr>
            <a:xfrm>
              <a:off x="1014151" y="1699951"/>
              <a:ext cx="45719" cy="1637607"/>
            </a:xfrm>
            <a:prstGeom prst="rect">
              <a:avLst/>
            </a:prstGeom>
            <a:solidFill>
              <a:srgbClr val="0048D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4" name="TextBox 43"/>
          <p:cNvSpPr txBox="1"/>
          <p:nvPr/>
        </p:nvSpPr>
        <p:spPr>
          <a:xfrm>
            <a:off x="3372052" y="5076326"/>
            <a:ext cx="7811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b="1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 </a:t>
            </a:r>
            <a:r>
              <a:rPr lang="ko-KR" altLang="en-US" b="1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직무 간 교류</a:t>
            </a:r>
            <a:endParaRPr lang="en-US" altLang="ko-KR" b="1" dirty="0" smtClean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505810" y="5414539"/>
            <a:ext cx="78112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- </a:t>
            </a:r>
            <a:r>
              <a:rPr lang="ko-KR" altLang="en-US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정보조사분석 직무의 키워드 기반 검색 </a:t>
            </a:r>
            <a:r>
              <a:rPr lang="en-US" altLang="ko-KR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Know-how </a:t>
            </a:r>
            <a:r>
              <a:rPr lang="ko-KR" altLang="en-US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습득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- </a:t>
            </a:r>
            <a:r>
              <a:rPr lang="en-US" altLang="ko-KR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BPO</a:t>
            </a:r>
            <a:r>
              <a:rPr lang="ko-KR" altLang="en-US" dirty="0" err="1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지원그룹의</a:t>
            </a:r>
            <a:r>
              <a:rPr lang="ko-KR" altLang="en-US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AI </a:t>
            </a:r>
            <a:r>
              <a:rPr lang="ko-KR" altLang="en-US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역량 전파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7" name="SK-5-text-18"/>
          <p:cNvSpPr/>
          <p:nvPr/>
        </p:nvSpPr>
        <p:spPr>
          <a:xfrm>
            <a:off x="486181" y="1301513"/>
            <a:ext cx="1790700" cy="135877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7500" b="1" dirty="0">
                <a:solidFill>
                  <a:srgbClr val="D5E3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7500" dirty="0">
              <a:solidFill>
                <a:srgbClr val="D5E3FF"/>
              </a:solidFill>
            </a:endParaRPr>
          </a:p>
        </p:txBody>
      </p:sp>
      <p:sp>
        <p:nvSpPr>
          <p:cNvPr id="48" name="SK-5-text-18"/>
          <p:cNvSpPr/>
          <p:nvPr/>
        </p:nvSpPr>
        <p:spPr>
          <a:xfrm>
            <a:off x="486181" y="3138946"/>
            <a:ext cx="1790700" cy="135877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7500" b="1" dirty="0" smtClean="0">
                <a:solidFill>
                  <a:srgbClr val="D5E3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7500" dirty="0">
              <a:solidFill>
                <a:srgbClr val="D5E3FF"/>
              </a:solidFill>
            </a:endParaRPr>
          </a:p>
        </p:txBody>
      </p:sp>
      <p:sp>
        <p:nvSpPr>
          <p:cNvPr id="49" name="SK-5-text-18"/>
          <p:cNvSpPr/>
          <p:nvPr/>
        </p:nvSpPr>
        <p:spPr>
          <a:xfrm>
            <a:off x="486181" y="4976379"/>
            <a:ext cx="1790700" cy="135877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7500" b="1" dirty="0" smtClean="0">
                <a:solidFill>
                  <a:srgbClr val="D5E3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7500" dirty="0">
              <a:solidFill>
                <a:srgbClr val="D5E3FF"/>
              </a:solidFill>
            </a:endParaRPr>
          </a:p>
        </p:txBody>
      </p:sp>
      <p:pic>
        <p:nvPicPr>
          <p:cNvPr id="51" name="그림 50"/>
          <p:cNvPicPr>
            <a:picLocks noChangeAspect="1"/>
          </p:cNvPicPr>
          <p:nvPr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64111" b="68778" l="21928" r="25229">
                        <a14:foregroundMark x1="22556" y1="65030" x2="22556" y2="65030"/>
                        <a14:foregroundMark x1="22642" y1="66667" x2="22642" y2="66667"/>
                        <a14:foregroundMark x1="23542" y1="64909" x2="23542" y2="64909"/>
                        <a14:foregroundMark x1="24657" y1="65091" x2="24657" y2="65091"/>
                        <a14:foregroundMark x1="24743" y1="67030" x2="24743" y2="6703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515" t="63528" r="74358" b="30639"/>
          <a:stretch/>
        </p:blipFill>
        <p:spPr>
          <a:xfrm>
            <a:off x="3137811" y="5072703"/>
            <a:ext cx="359999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602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제목 1">
            <a:extLst>
              <a:ext uri="{FF2B5EF4-FFF2-40B4-BE49-F238E27FC236}">
                <a16:creationId xmlns:a16="http://schemas.microsoft.com/office/drawing/2014/main" id="{8665459D-C324-47E8-A25A-F93EFD004CE0}"/>
              </a:ext>
            </a:extLst>
          </p:cNvPr>
          <p:cNvSpPr txBox="1">
            <a:spLocks/>
          </p:cNvSpPr>
          <p:nvPr/>
        </p:nvSpPr>
        <p:spPr>
          <a:xfrm>
            <a:off x="8965" y="393690"/>
            <a:ext cx="861840" cy="44606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kern="1200" spc="-150">
                <a:solidFill>
                  <a:schemeClr val="tx1">
                    <a:lumMod val="85000"/>
                    <a:lumOff val="15000"/>
                  </a:schemeClr>
                </a:solidFill>
                <a:latin typeface="다음_Regular" panose="02000603060000000000" pitchFamily="2" charset="-127"/>
                <a:ea typeface="다음_Regular" panose="02000603060000000000" pitchFamily="2" charset="-127"/>
                <a:cs typeface="+mj-cs"/>
              </a:defRPr>
            </a:lvl1pPr>
          </a:lstStyle>
          <a:p>
            <a:pPr lvl="0">
              <a:defRPr/>
            </a:pPr>
            <a:r>
              <a:rPr lang="en-US" altLang="ko-KR" sz="2800" spc="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1-2</a:t>
            </a:r>
            <a:endParaRPr lang="ko-KR" altLang="en-US" sz="2000" spc="0" dirty="0">
              <a:solidFill>
                <a:prstClr val="black">
                  <a:lumMod val="85000"/>
                  <a:lumOff val="1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B133345-C92C-40E8-BF3B-D92E22377D6C}"/>
              </a:ext>
            </a:extLst>
          </p:cNvPr>
          <p:cNvSpPr/>
          <p:nvPr/>
        </p:nvSpPr>
        <p:spPr>
          <a:xfrm flipV="1">
            <a:off x="0" y="847230"/>
            <a:ext cx="770282" cy="28800"/>
          </a:xfrm>
          <a:prstGeom prst="rect">
            <a:avLst/>
          </a:prstGeom>
          <a:solidFill>
            <a:srgbClr val="0048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8" name="제목 1">
            <a:extLst>
              <a:ext uri="{FF2B5EF4-FFF2-40B4-BE49-F238E27FC236}">
                <a16:creationId xmlns:a16="http://schemas.microsoft.com/office/drawing/2014/main" id="{8665459D-C324-47E8-A25A-F93EFD004CE0}"/>
              </a:ext>
            </a:extLst>
          </p:cNvPr>
          <p:cNvSpPr txBox="1">
            <a:spLocks/>
          </p:cNvSpPr>
          <p:nvPr/>
        </p:nvSpPr>
        <p:spPr>
          <a:xfrm>
            <a:off x="870805" y="393690"/>
            <a:ext cx="7396700" cy="44606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kern="1200" spc="-150">
                <a:solidFill>
                  <a:schemeClr val="tx1">
                    <a:lumMod val="85000"/>
                    <a:lumOff val="15000"/>
                  </a:schemeClr>
                </a:solidFill>
                <a:latin typeface="다음_Regular" panose="02000603060000000000" pitchFamily="2" charset="-127"/>
                <a:ea typeface="다음_Regular" panose="02000603060000000000" pitchFamily="2" charset="-127"/>
                <a:cs typeface="+mj-cs"/>
              </a:defRPr>
            </a:lvl1pPr>
          </a:lstStyle>
          <a:p>
            <a:pPr lvl="0">
              <a:defRPr/>
            </a:pPr>
            <a:r>
              <a:rPr lang="ko-KR" altLang="en-US" sz="2800" spc="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프로젝트 목표</a:t>
            </a:r>
            <a:endParaRPr lang="ko-KR" altLang="en-US" sz="2000" spc="0" dirty="0">
              <a:solidFill>
                <a:prstClr val="black">
                  <a:lumMod val="85000"/>
                  <a:lumOff val="1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78869" y="1189337"/>
            <a:ext cx="10284876" cy="497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b="1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AI </a:t>
            </a:r>
            <a:r>
              <a:rPr lang="ko-KR" altLang="en-US" sz="2000" b="1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기반 리서치 자동화 시스템을 구축하여 정보 수집 </a:t>
            </a:r>
            <a:r>
              <a:rPr lang="en-US" altLang="ko-KR" sz="2000" b="1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· </a:t>
            </a:r>
            <a:r>
              <a:rPr lang="ko-KR" altLang="en-US" sz="2000" b="1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분석 </a:t>
            </a:r>
            <a:r>
              <a:rPr lang="en-US" altLang="ko-KR" sz="2000" b="1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· </a:t>
            </a:r>
            <a:r>
              <a:rPr lang="ko-KR" altLang="en-US" sz="2000" b="1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제공 全 과정을 </a:t>
            </a:r>
            <a:r>
              <a:rPr lang="ko-KR" altLang="en-US" sz="2000" b="1" dirty="0" err="1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효율화한다</a:t>
            </a:r>
            <a:endParaRPr lang="en-US" altLang="ko-KR" sz="2000" b="1" dirty="0" smtClean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grpSp>
        <p:nvGrpSpPr>
          <p:cNvPr id="17" name="그룹 16"/>
          <p:cNvGrpSpPr/>
          <p:nvPr/>
        </p:nvGrpSpPr>
        <p:grpSpPr>
          <a:xfrm>
            <a:off x="1425358" y="1935967"/>
            <a:ext cx="9391899" cy="1362075"/>
            <a:chOff x="1219199" y="2169779"/>
            <a:chExt cx="9391899" cy="1362075"/>
          </a:xfrm>
        </p:grpSpPr>
        <p:grpSp>
          <p:nvGrpSpPr>
            <p:cNvPr id="4" name="그룹 3"/>
            <p:cNvGrpSpPr/>
            <p:nvPr/>
          </p:nvGrpSpPr>
          <p:grpSpPr>
            <a:xfrm>
              <a:off x="1219199" y="2169779"/>
              <a:ext cx="4524375" cy="1362075"/>
              <a:chOff x="1219199" y="2314575"/>
              <a:chExt cx="4524375" cy="1362075"/>
            </a:xfrm>
          </p:grpSpPr>
          <p:sp>
            <p:nvSpPr>
              <p:cNvPr id="2" name="모서리가 둥근 직사각형 1"/>
              <p:cNvSpPr/>
              <p:nvPr/>
            </p:nvSpPr>
            <p:spPr>
              <a:xfrm>
                <a:off x="1219199" y="2314575"/>
                <a:ext cx="4524375" cy="1362075"/>
              </a:xfrm>
              <a:prstGeom prst="roundRect">
                <a:avLst>
                  <a:gd name="adj" fmla="val 8275"/>
                </a:avLst>
              </a:prstGeom>
              <a:noFill/>
              <a:ln>
                <a:solidFill>
                  <a:srgbClr val="F3F3F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" name="SK-7-text-34"/>
              <p:cNvSpPr/>
              <p:nvPr/>
            </p:nvSpPr>
            <p:spPr>
              <a:xfrm>
                <a:off x="2060323" y="2739777"/>
                <a:ext cx="3185276" cy="242888"/>
              </a:xfrm>
              <a:prstGeom prst="rect">
                <a:avLst/>
              </a:prstGeom>
              <a:noFill/>
              <a:ln/>
            </p:spPr>
            <p:txBody>
              <a:bodyPr vert="horz" wrap="square" lIns="0" tIns="0" rIns="0" bIns="0" rtlCol="0" anchor="ctr"/>
              <a:lstStyle/>
              <a:p>
                <a:pPr marL="0" indent="0">
                  <a:lnSpc>
                    <a:spcPts val="1913"/>
                  </a:lnSpc>
                  <a:buNone/>
                </a:pPr>
                <a:r>
                  <a:rPr lang="ko-KR" altLang="en-US" sz="1400" b="1" dirty="0" err="1" smtClean="0">
                    <a:solidFill>
                      <a:srgbClr val="1A1C1E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웹앱</a:t>
                </a:r>
                <a:r>
                  <a:rPr lang="en-US" altLang="ko-KR" sz="1400" b="1" dirty="0" smtClean="0">
                    <a:solidFill>
                      <a:srgbClr val="1A1C1E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(Web-App) </a:t>
                </a:r>
                <a:r>
                  <a:rPr lang="ko-KR" altLang="en-US" sz="1400" b="1" dirty="0" smtClean="0">
                    <a:solidFill>
                      <a:srgbClr val="1A1C1E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구축</a:t>
                </a:r>
                <a:endParaRPr lang="en-US" sz="14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sp>
            <p:nvSpPr>
              <p:cNvPr id="8" name="SK-7-text-35"/>
              <p:cNvSpPr/>
              <p:nvPr/>
            </p:nvSpPr>
            <p:spPr>
              <a:xfrm>
                <a:off x="2060322" y="3020764"/>
                <a:ext cx="3448051" cy="373261"/>
              </a:xfrm>
              <a:prstGeom prst="rect">
                <a:avLst/>
              </a:prstGeom>
              <a:noFill/>
              <a:ln/>
            </p:spPr>
            <p:txBody>
              <a:bodyPr vert="horz" wrap="square" lIns="0" tIns="0" rIns="0" bIns="0" rtlCol="0" anchor="ctr"/>
              <a:lstStyle/>
              <a:p>
                <a:pPr marL="0" indent="0">
                  <a:lnSpc>
                    <a:spcPts val="1470"/>
                  </a:lnSpc>
                  <a:buNone/>
                </a:pPr>
                <a:r>
                  <a:rPr lang="ko-KR" altLang="en-US" sz="1200" dirty="0" smtClean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사용자가 접속할 </a:t>
                </a:r>
                <a:r>
                  <a:rPr lang="en-US" altLang="ko-KR" sz="1200" dirty="0" smtClean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PC </a:t>
                </a:r>
                <a:r>
                  <a:rPr lang="ko-KR" altLang="en-US" sz="1200" dirty="0" smtClean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및 모바일 화면</a:t>
                </a:r>
                <a:endParaRPr lang="en-US" sz="12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sp>
            <p:nvSpPr>
              <p:cNvPr id="3" name="타원 2"/>
              <p:cNvSpPr/>
              <p:nvPr/>
            </p:nvSpPr>
            <p:spPr>
              <a:xfrm>
                <a:off x="1345949" y="2750764"/>
                <a:ext cx="540000" cy="540000"/>
              </a:xfrm>
              <a:prstGeom prst="ellipse">
                <a:avLst/>
              </a:prstGeom>
              <a:solidFill>
                <a:srgbClr val="D5E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5" name="그룹 4"/>
            <p:cNvGrpSpPr/>
            <p:nvPr/>
          </p:nvGrpSpPr>
          <p:grpSpPr>
            <a:xfrm>
              <a:off x="6086723" y="2169779"/>
              <a:ext cx="4524375" cy="1362075"/>
              <a:chOff x="6086723" y="2314575"/>
              <a:chExt cx="4524375" cy="1362075"/>
            </a:xfrm>
          </p:grpSpPr>
          <p:grpSp>
            <p:nvGrpSpPr>
              <p:cNvPr id="11" name="그룹 10"/>
              <p:cNvGrpSpPr/>
              <p:nvPr/>
            </p:nvGrpSpPr>
            <p:grpSpPr>
              <a:xfrm>
                <a:off x="6086723" y="2314575"/>
                <a:ext cx="4524375" cy="1362075"/>
                <a:chOff x="1219199" y="2314575"/>
                <a:chExt cx="4524375" cy="1362075"/>
              </a:xfrm>
            </p:grpSpPr>
            <p:sp>
              <p:nvSpPr>
                <p:cNvPr id="12" name="모서리가 둥근 직사각형 11"/>
                <p:cNvSpPr/>
                <p:nvPr/>
              </p:nvSpPr>
              <p:spPr>
                <a:xfrm>
                  <a:off x="1219199" y="2314575"/>
                  <a:ext cx="4524375" cy="1362075"/>
                </a:xfrm>
                <a:prstGeom prst="roundRect">
                  <a:avLst>
                    <a:gd name="adj" fmla="val 8275"/>
                  </a:avLst>
                </a:prstGeom>
                <a:noFill/>
                <a:ln>
                  <a:solidFill>
                    <a:srgbClr val="F3F3F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3" name="SK-7-text-34"/>
                <p:cNvSpPr/>
                <p:nvPr/>
              </p:nvSpPr>
              <p:spPr>
                <a:xfrm>
                  <a:off x="2060323" y="2739777"/>
                  <a:ext cx="3185276" cy="242888"/>
                </a:xfrm>
                <a:prstGeom prst="rect">
                  <a:avLst/>
                </a:prstGeom>
                <a:noFill/>
                <a:ln/>
              </p:spPr>
              <p:txBody>
                <a:bodyPr vert="horz" wrap="square" lIns="0" tIns="0" rIns="0" bIns="0" rtlCol="0" anchor="ctr"/>
                <a:lstStyle/>
                <a:p>
                  <a:pPr marL="0" indent="0">
                    <a:lnSpc>
                      <a:spcPts val="1913"/>
                    </a:lnSpc>
                    <a:buNone/>
                  </a:pPr>
                  <a:r>
                    <a:rPr lang="ko-KR" altLang="en-US" sz="1400" b="1" dirty="0" smtClean="0">
                      <a:solidFill>
                        <a:srgbClr val="1A1C1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스케줄 기반 정기 업무 자동화 </a:t>
                  </a:r>
                  <a:endParaRPr lang="en-US" sz="14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endParaRPr>
                </a:p>
              </p:txBody>
            </p:sp>
            <p:sp>
              <p:nvSpPr>
                <p:cNvPr id="14" name="SK-7-text-35"/>
                <p:cNvSpPr/>
                <p:nvPr/>
              </p:nvSpPr>
              <p:spPr>
                <a:xfrm>
                  <a:off x="2060322" y="3020764"/>
                  <a:ext cx="3448051" cy="373261"/>
                </a:xfrm>
                <a:prstGeom prst="rect">
                  <a:avLst/>
                </a:prstGeom>
                <a:noFill/>
                <a:ln/>
              </p:spPr>
              <p:txBody>
                <a:bodyPr vert="horz" wrap="square" lIns="0" tIns="0" rIns="0" bIns="0" rtlCol="0" anchor="ctr"/>
                <a:lstStyle/>
                <a:p>
                  <a:pPr marL="0" indent="0">
                    <a:lnSpc>
                      <a:spcPts val="1470"/>
                    </a:lnSpc>
                    <a:buNone/>
                  </a:pPr>
                  <a:r>
                    <a:rPr lang="ko-KR" altLang="en-US" sz="1200" dirty="0" smtClean="0"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주 </a:t>
                  </a:r>
                  <a:r>
                    <a:rPr lang="en-US" altLang="ko-KR" sz="1200" dirty="0" smtClean="0"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</a:t>
                  </a:r>
                  <a:r>
                    <a:rPr lang="ko-KR" altLang="en-US" sz="1200" dirty="0" smtClean="0"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회 특정 시간 </a:t>
                  </a:r>
                  <a:r>
                    <a:rPr lang="ko-KR" altLang="en-US" sz="1200" dirty="0" err="1" smtClean="0"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워크플로우</a:t>
                  </a:r>
                  <a:r>
                    <a:rPr lang="ko-KR" altLang="en-US" sz="1200" dirty="0" smtClean="0"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 실행 및 뉴스레터 발송</a:t>
                  </a:r>
                  <a:endParaRPr lang="en-US" sz="12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endParaRPr>
                </a:p>
              </p:txBody>
            </p:sp>
            <p:sp>
              <p:nvSpPr>
                <p:cNvPr id="15" name="타원 14"/>
                <p:cNvSpPr/>
                <p:nvPr/>
              </p:nvSpPr>
              <p:spPr>
                <a:xfrm>
                  <a:off x="1345949" y="2750764"/>
                  <a:ext cx="540000" cy="540000"/>
                </a:xfrm>
                <a:prstGeom prst="ellipse">
                  <a:avLst/>
                </a:prstGeom>
                <a:solidFill>
                  <a:srgbClr val="D5E3F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pic>
            <p:nvPicPr>
              <p:cNvPr id="16" name="그림 15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37879" b="42364" l="22041" r="25300">
                            <a14:foregroundMark x1="25086" y1="41273" x2="25086" y2="41273"/>
                            <a14:foregroundMark x1="22256" y1="39576" x2="22041" y2="39636"/>
                            <a14:backgroundMark x1="22084" y1="38909" x2="21870" y2="40242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1780" t="37351" r="74276" b="57073"/>
              <a:stretch/>
            </p:blipFill>
            <p:spPr>
              <a:xfrm>
                <a:off x="6303473" y="2840764"/>
                <a:ext cx="359999" cy="360000"/>
              </a:xfrm>
              <a:prstGeom prst="rect">
                <a:avLst/>
              </a:prstGeom>
            </p:spPr>
          </p:pic>
        </p:grpSp>
      </p:grpSp>
      <p:grpSp>
        <p:nvGrpSpPr>
          <p:cNvPr id="20" name="그룹 19"/>
          <p:cNvGrpSpPr/>
          <p:nvPr/>
        </p:nvGrpSpPr>
        <p:grpSpPr>
          <a:xfrm>
            <a:off x="1420191" y="3388043"/>
            <a:ext cx="4524375" cy="1362075"/>
            <a:chOff x="1219199" y="2314575"/>
            <a:chExt cx="4524375" cy="1362075"/>
          </a:xfrm>
        </p:grpSpPr>
        <p:sp>
          <p:nvSpPr>
            <p:cNvPr id="22" name="모서리가 둥근 직사각형 21"/>
            <p:cNvSpPr/>
            <p:nvPr/>
          </p:nvSpPr>
          <p:spPr>
            <a:xfrm>
              <a:off x="1219199" y="2314575"/>
              <a:ext cx="4524375" cy="1362075"/>
            </a:xfrm>
            <a:prstGeom prst="roundRect">
              <a:avLst>
                <a:gd name="adj" fmla="val 8275"/>
              </a:avLst>
            </a:prstGeom>
            <a:noFill/>
            <a:ln>
              <a:solidFill>
                <a:srgbClr val="F3F3F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SK-7-text-34"/>
            <p:cNvSpPr/>
            <p:nvPr/>
          </p:nvSpPr>
          <p:spPr>
            <a:xfrm>
              <a:off x="2060323" y="2739777"/>
              <a:ext cx="3185276" cy="242888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>
                <a:lnSpc>
                  <a:spcPts val="1913"/>
                </a:lnSpc>
                <a:buNone/>
              </a:pPr>
              <a:r>
                <a:rPr lang="ko-KR" altLang="en-US" sz="1400" b="1" dirty="0" smtClean="0">
                  <a:solidFill>
                    <a:srgbClr val="1A1C1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본부 부서 및 </a:t>
              </a:r>
              <a:r>
                <a:rPr lang="ko-KR" altLang="en-US" sz="1400" b="1" dirty="0" err="1" smtClean="0">
                  <a:solidFill>
                    <a:srgbClr val="1A1C1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직무별</a:t>
              </a:r>
              <a:r>
                <a:rPr lang="ko-KR" altLang="en-US" sz="1400" b="1" dirty="0" smtClean="0">
                  <a:solidFill>
                    <a:srgbClr val="1A1C1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관심사 키워드 설정</a:t>
              </a:r>
              <a:endParaRPr lang="en-US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24" name="SK-7-text-35"/>
            <p:cNvSpPr/>
            <p:nvPr/>
          </p:nvSpPr>
          <p:spPr>
            <a:xfrm>
              <a:off x="2060322" y="3020764"/>
              <a:ext cx="3448051" cy="373261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>
                <a:lnSpc>
                  <a:spcPct val="150000"/>
                </a:lnSpc>
              </a:pPr>
              <a:r>
                <a:rPr lang="ko-KR" altLang="en-US" sz="1200" dirty="0" smtClean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정형화된 키워드를 활용한 정보 </a:t>
              </a:r>
              <a:r>
                <a:rPr lang="ko-KR" altLang="en-US" sz="12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수집 및 분석 </a:t>
              </a:r>
              <a:r>
                <a:rPr lang="ko-KR" altLang="en-US" sz="1200" dirty="0" smtClean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구조</a:t>
              </a:r>
              <a:endPara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25" name="타원 24"/>
            <p:cNvSpPr/>
            <p:nvPr/>
          </p:nvSpPr>
          <p:spPr>
            <a:xfrm>
              <a:off x="1345949" y="2750764"/>
              <a:ext cx="540000" cy="540000"/>
            </a:xfrm>
            <a:prstGeom prst="ellipse">
              <a:avLst/>
            </a:prstGeom>
            <a:solidFill>
              <a:srgbClr val="D5E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1" name="그룹 40"/>
          <p:cNvGrpSpPr/>
          <p:nvPr/>
        </p:nvGrpSpPr>
        <p:grpSpPr>
          <a:xfrm>
            <a:off x="6287714" y="4840117"/>
            <a:ext cx="4524375" cy="1362075"/>
            <a:chOff x="1219199" y="2314575"/>
            <a:chExt cx="4524375" cy="1362075"/>
          </a:xfrm>
        </p:grpSpPr>
        <p:sp>
          <p:nvSpPr>
            <p:cNvPr id="43" name="모서리가 둥근 직사각형 42"/>
            <p:cNvSpPr/>
            <p:nvPr/>
          </p:nvSpPr>
          <p:spPr>
            <a:xfrm>
              <a:off x="1219199" y="2314575"/>
              <a:ext cx="4524375" cy="1362075"/>
            </a:xfrm>
            <a:prstGeom prst="roundRect">
              <a:avLst>
                <a:gd name="adj" fmla="val 8275"/>
              </a:avLst>
            </a:prstGeom>
            <a:noFill/>
            <a:ln>
              <a:solidFill>
                <a:srgbClr val="F3F3F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SK-7-text-34"/>
            <p:cNvSpPr/>
            <p:nvPr/>
          </p:nvSpPr>
          <p:spPr>
            <a:xfrm>
              <a:off x="2060323" y="2739777"/>
              <a:ext cx="3185276" cy="242888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>
                <a:lnSpc>
                  <a:spcPts val="1913"/>
                </a:lnSpc>
                <a:buNone/>
              </a:pPr>
              <a:r>
                <a:rPr lang="en-US" altLang="ko-KR" sz="1400" b="1" dirty="0" smtClean="0">
                  <a:solidFill>
                    <a:srgbClr val="1A1C1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AX </a:t>
              </a:r>
              <a:r>
                <a:rPr lang="ko-KR" altLang="en-US" sz="1400" b="1" dirty="0" smtClean="0">
                  <a:solidFill>
                    <a:srgbClr val="1A1C1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사례 확보</a:t>
              </a:r>
              <a:endParaRPr lang="en-US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45" name="SK-7-text-35"/>
            <p:cNvSpPr/>
            <p:nvPr/>
          </p:nvSpPr>
          <p:spPr>
            <a:xfrm>
              <a:off x="2060322" y="3020764"/>
              <a:ext cx="3448051" cy="373261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>
                <a:lnSpc>
                  <a:spcPct val="150000"/>
                </a:lnSpc>
              </a:pPr>
              <a:r>
                <a:rPr lang="en-US" altLang="ko-KR" sz="12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AI </a:t>
              </a:r>
              <a:r>
                <a:rPr lang="ko-KR" altLang="en-US" sz="12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활용 업무 프로세스 적용 사례를 </a:t>
              </a:r>
              <a:r>
                <a:rPr lang="ko-KR" altLang="en-US" sz="1200" dirty="0" smtClean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확보</a:t>
              </a:r>
              <a:endPara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46" name="타원 45"/>
            <p:cNvSpPr/>
            <p:nvPr/>
          </p:nvSpPr>
          <p:spPr>
            <a:xfrm>
              <a:off x="1345949" y="2750764"/>
              <a:ext cx="540000" cy="540000"/>
            </a:xfrm>
            <a:prstGeom prst="ellipse">
              <a:avLst/>
            </a:prstGeom>
            <a:solidFill>
              <a:srgbClr val="D5E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0" name="그룹 9"/>
          <p:cNvGrpSpPr/>
          <p:nvPr/>
        </p:nvGrpSpPr>
        <p:grpSpPr>
          <a:xfrm>
            <a:off x="6292881" y="3388042"/>
            <a:ext cx="4524375" cy="1362075"/>
            <a:chOff x="1164970" y="5387603"/>
            <a:chExt cx="4524375" cy="1362075"/>
          </a:xfrm>
        </p:grpSpPr>
        <p:grpSp>
          <p:nvGrpSpPr>
            <p:cNvPr id="34" name="그룹 33"/>
            <p:cNvGrpSpPr/>
            <p:nvPr/>
          </p:nvGrpSpPr>
          <p:grpSpPr>
            <a:xfrm>
              <a:off x="1164970" y="5387603"/>
              <a:ext cx="4524375" cy="1362075"/>
              <a:chOff x="1219199" y="2314575"/>
              <a:chExt cx="4524375" cy="1362075"/>
            </a:xfrm>
          </p:grpSpPr>
          <p:sp>
            <p:nvSpPr>
              <p:cNvPr id="36" name="모서리가 둥근 직사각형 35"/>
              <p:cNvSpPr/>
              <p:nvPr/>
            </p:nvSpPr>
            <p:spPr>
              <a:xfrm>
                <a:off x="1219199" y="2314575"/>
                <a:ext cx="4524375" cy="1362075"/>
              </a:xfrm>
              <a:prstGeom prst="roundRect">
                <a:avLst>
                  <a:gd name="adj" fmla="val 8275"/>
                </a:avLst>
              </a:prstGeom>
              <a:noFill/>
              <a:ln>
                <a:solidFill>
                  <a:srgbClr val="F3F3F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7" name="SK-7-text-34"/>
              <p:cNvSpPr/>
              <p:nvPr/>
            </p:nvSpPr>
            <p:spPr>
              <a:xfrm>
                <a:off x="2060323" y="2739777"/>
                <a:ext cx="3185276" cy="242888"/>
              </a:xfrm>
              <a:prstGeom prst="rect">
                <a:avLst/>
              </a:prstGeom>
              <a:noFill/>
              <a:ln/>
            </p:spPr>
            <p:txBody>
              <a:bodyPr vert="horz" wrap="square" lIns="0" tIns="0" rIns="0" bIns="0" rtlCol="0" anchor="ctr"/>
              <a:lstStyle/>
              <a:p>
                <a:pPr marL="0" indent="0">
                  <a:lnSpc>
                    <a:spcPts val="1913"/>
                  </a:lnSpc>
                  <a:buNone/>
                </a:pPr>
                <a:r>
                  <a:rPr lang="ko-KR" altLang="en-US" sz="1400" b="1" dirty="0" smtClean="0">
                    <a:solidFill>
                      <a:srgbClr val="1A1C1E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의사결정 지원 환경 구축</a:t>
                </a:r>
                <a:endParaRPr lang="en-US" sz="14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sp>
            <p:nvSpPr>
              <p:cNvPr id="38" name="SK-7-text-35"/>
              <p:cNvSpPr/>
              <p:nvPr/>
            </p:nvSpPr>
            <p:spPr>
              <a:xfrm>
                <a:off x="2060322" y="3020764"/>
                <a:ext cx="3448051" cy="373261"/>
              </a:xfrm>
              <a:prstGeom prst="rect">
                <a:avLst/>
              </a:prstGeom>
              <a:noFill/>
              <a:ln/>
            </p:spPr>
            <p:txBody>
              <a:bodyPr vert="horz" wrap="square" lIns="0" tIns="0" rIns="0" bIns="0" rtlCol="0" anchor="ctr"/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2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데이터 </a:t>
                </a:r>
                <a:r>
                  <a:rPr lang="ko-KR" altLang="en-US" sz="1200" dirty="0" smtClean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기반으로 의사결정을 지원하는 </a:t>
                </a:r>
                <a:r>
                  <a:rPr lang="ko-KR" altLang="en-US" sz="12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정보 제공 </a:t>
                </a:r>
                <a:r>
                  <a:rPr lang="ko-KR" altLang="en-US" sz="1200" dirty="0" smtClean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환경 구축</a:t>
                </a:r>
                <a:endParaRPr lang="en-US" altLang="ko-KR" sz="12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sp>
            <p:nvSpPr>
              <p:cNvPr id="39" name="타원 38"/>
              <p:cNvSpPr/>
              <p:nvPr/>
            </p:nvSpPr>
            <p:spPr>
              <a:xfrm>
                <a:off x="1345949" y="2750764"/>
                <a:ext cx="540000" cy="540000"/>
              </a:xfrm>
              <a:prstGeom prst="ellipse">
                <a:avLst/>
              </a:prstGeom>
              <a:solidFill>
                <a:srgbClr val="D5E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pic>
          <p:nvPicPr>
            <p:cNvPr id="48" name="그림 47"/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24774" b="29552" l="85182" r="88876">
                          <a14:foregroundMark x1="85935" y1="27939" x2="85935" y2="27939"/>
                          <a14:foregroundMark x1="87950" y1="27939" x2="87950" y2="27939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4720" t="24177" r="10662" b="69851"/>
            <a:stretch/>
          </p:blipFill>
          <p:spPr>
            <a:xfrm>
              <a:off x="1337206" y="5889004"/>
              <a:ext cx="447675" cy="409576"/>
            </a:xfrm>
            <a:prstGeom prst="rect">
              <a:avLst/>
            </a:prstGeom>
          </p:spPr>
        </p:pic>
      </p:grpSp>
      <p:grpSp>
        <p:nvGrpSpPr>
          <p:cNvPr id="9" name="그룹 8"/>
          <p:cNvGrpSpPr/>
          <p:nvPr/>
        </p:nvGrpSpPr>
        <p:grpSpPr>
          <a:xfrm>
            <a:off x="1420190" y="4840119"/>
            <a:ext cx="4524375" cy="1362075"/>
            <a:chOff x="6053017" y="3971856"/>
            <a:chExt cx="4524375" cy="1362075"/>
          </a:xfrm>
        </p:grpSpPr>
        <p:grpSp>
          <p:nvGrpSpPr>
            <p:cNvPr id="27" name="그룹 26"/>
            <p:cNvGrpSpPr/>
            <p:nvPr/>
          </p:nvGrpSpPr>
          <p:grpSpPr>
            <a:xfrm>
              <a:off x="6053017" y="3971856"/>
              <a:ext cx="4524375" cy="1362075"/>
              <a:chOff x="1219199" y="2314575"/>
              <a:chExt cx="4524375" cy="1362075"/>
            </a:xfrm>
          </p:grpSpPr>
          <p:sp>
            <p:nvSpPr>
              <p:cNvPr id="29" name="모서리가 둥근 직사각형 28"/>
              <p:cNvSpPr/>
              <p:nvPr/>
            </p:nvSpPr>
            <p:spPr>
              <a:xfrm>
                <a:off x="1219199" y="2314575"/>
                <a:ext cx="4524375" cy="1362075"/>
              </a:xfrm>
              <a:prstGeom prst="roundRect">
                <a:avLst>
                  <a:gd name="adj" fmla="val 8275"/>
                </a:avLst>
              </a:prstGeom>
              <a:noFill/>
              <a:ln>
                <a:solidFill>
                  <a:srgbClr val="F3F3F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" name="SK-7-text-34"/>
              <p:cNvSpPr/>
              <p:nvPr/>
            </p:nvSpPr>
            <p:spPr>
              <a:xfrm>
                <a:off x="2060323" y="2739777"/>
                <a:ext cx="3185276" cy="242888"/>
              </a:xfrm>
              <a:prstGeom prst="rect">
                <a:avLst/>
              </a:prstGeom>
              <a:noFill/>
              <a:ln/>
            </p:spPr>
            <p:txBody>
              <a:bodyPr vert="horz" wrap="square" lIns="0" tIns="0" rIns="0" bIns="0" rtlCol="0" anchor="ctr"/>
              <a:lstStyle/>
              <a:p>
                <a:pPr marL="0" indent="0">
                  <a:lnSpc>
                    <a:spcPts val="1913"/>
                  </a:lnSpc>
                  <a:buNone/>
                </a:pPr>
                <a:r>
                  <a:rPr lang="ko-KR" altLang="en-US" sz="1400" b="1" dirty="0" smtClean="0">
                    <a:solidFill>
                      <a:srgbClr val="1A1C1E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지속 가능한 데이터베이스 축적</a:t>
                </a:r>
                <a:endParaRPr lang="en-US" sz="14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sp>
            <p:nvSpPr>
              <p:cNvPr id="31" name="SK-7-text-35"/>
              <p:cNvSpPr/>
              <p:nvPr/>
            </p:nvSpPr>
            <p:spPr>
              <a:xfrm>
                <a:off x="2060322" y="3020764"/>
                <a:ext cx="3448051" cy="373261"/>
              </a:xfrm>
              <a:prstGeom prst="rect">
                <a:avLst/>
              </a:prstGeom>
              <a:noFill/>
              <a:ln/>
            </p:spPr>
            <p:txBody>
              <a:bodyPr vert="horz" wrap="square" lIns="0" tIns="0" rIns="0" bIns="0" rtlCol="0" anchor="ctr"/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2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리서치 결과의 축적 및 재활용 기반을 마련한다</a:t>
                </a:r>
                <a:endParaRPr lang="en-US" altLang="ko-KR" sz="12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sp>
            <p:nvSpPr>
              <p:cNvPr id="32" name="타원 31"/>
              <p:cNvSpPr/>
              <p:nvPr/>
            </p:nvSpPr>
            <p:spPr>
              <a:xfrm>
                <a:off x="1345949" y="2750764"/>
                <a:ext cx="540000" cy="540000"/>
              </a:xfrm>
              <a:prstGeom prst="ellipse">
                <a:avLst/>
              </a:prstGeom>
              <a:solidFill>
                <a:srgbClr val="D5E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pic>
          <p:nvPicPr>
            <p:cNvPr id="49" name="그림 48"/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1478" b="16035" l="43261" r="46348">
                          <a14:foregroundMark x1="44425" y1="14303" x2="45540" y2="14364"/>
                          <a14:foregroundMark x1="44211" y1="15758" x2="45583" y2="15576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875" t="10908" r="53266" b="83395"/>
            <a:stretch/>
          </p:blipFill>
          <p:spPr>
            <a:xfrm>
              <a:off x="6277427" y="4497990"/>
              <a:ext cx="344679" cy="36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44999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제목 1">
            <a:extLst>
              <a:ext uri="{FF2B5EF4-FFF2-40B4-BE49-F238E27FC236}">
                <a16:creationId xmlns:a16="http://schemas.microsoft.com/office/drawing/2014/main" id="{8665459D-C324-47E8-A25A-F93EFD004CE0}"/>
              </a:ext>
            </a:extLst>
          </p:cNvPr>
          <p:cNvSpPr txBox="1">
            <a:spLocks/>
          </p:cNvSpPr>
          <p:nvPr/>
        </p:nvSpPr>
        <p:spPr>
          <a:xfrm>
            <a:off x="8965" y="393690"/>
            <a:ext cx="861840" cy="44606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kern="1200" spc="-150">
                <a:solidFill>
                  <a:schemeClr val="tx1">
                    <a:lumMod val="85000"/>
                    <a:lumOff val="15000"/>
                  </a:schemeClr>
                </a:solidFill>
                <a:latin typeface="다음_Regular" panose="02000603060000000000" pitchFamily="2" charset="-127"/>
                <a:ea typeface="다음_Regular" panose="02000603060000000000" pitchFamily="2" charset="-127"/>
                <a:cs typeface="+mj-cs"/>
              </a:defRPr>
            </a:lvl1pPr>
          </a:lstStyle>
          <a:p>
            <a:pPr lvl="0">
              <a:defRPr/>
            </a:pPr>
            <a:r>
              <a:rPr lang="en-US" altLang="ko-KR" sz="2800" spc="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1-3</a:t>
            </a:r>
            <a:endParaRPr lang="ko-KR" altLang="en-US" sz="2000" spc="0" dirty="0">
              <a:solidFill>
                <a:prstClr val="black">
                  <a:lumMod val="85000"/>
                  <a:lumOff val="1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B133345-C92C-40E8-BF3B-D92E22377D6C}"/>
              </a:ext>
            </a:extLst>
          </p:cNvPr>
          <p:cNvSpPr/>
          <p:nvPr/>
        </p:nvSpPr>
        <p:spPr>
          <a:xfrm flipV="1">
            <a:off x="0" y="847230"/>
            <a:ext cx="770282" cy="28800"/>
          </a:xfrm>
          <a:prstGeom prst="rect">
            <a:avLst/>
          </a:prstGeom>
          <a:solidFill>
            <a:srgbClr val="0048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8" name="제목 1">
            <a:extLst>
              <a:ext uri="{FF2B5EF4-FFF2-40B4-BE49-F238E27FC236}">
                <a16:creationId xmlns:a16="http://schemas.microsoft.com/office/drawing/2014/main" id="{8665459D-C324-47E8-A25A-F93EFD004CE0}"/>
              </a:ext>
            </a:extLst>
          </p:cNvPr>
          <p:cNvSpPr txBox="1">
            <a:spLocks/>
          </p:cNvSpPr>
          <p:nvPr/>
        </p:nvSpPr>
        <p:spPr>
          <a:xfrm>
            <a:off x="870805" y="393690"/>
            <a:ext cx="7396700" cy="44606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kern="1200" spc="-150">
                <a:solidFill>
                  <a:schemeClr val="tx1">
                    <a:lumMod val="85000"/>
                    <a:lumOff val="15000"/>
                  </a:schemeClr>
                </a:solidFill>
                <a:latin typeface="다음_Regular" panose="02000603060000000000" pitchFamily="2" charset="-127"/>
                <a:ea typeface="다음_Regular" panose="02000603060000000000" pitchFamily="2" charset="-127"/>
                <a:cs typeface="+mj-cs"/>
              </a:defRPr>
            </a:lvl1pPr>
          </a:lstStyle>
          <a:p>
            <a:pPr lvl="0">
              <a:defRPr/>
            </a:pPr>
            <a:r>
              <a:rPr lang="en-US" altLang="ko-KR" sz="2800" spc="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T/F </a:t>
            </a:r>
            <a:r>
              <a:rPr lang="ko-KR" altLang="en-US" sz="2800" spc="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운영 계획</a:t>
            </a:r>
            <a:endParaRPr lang="ko-KR" altLang="en-US" sz="2000" spc="0" dirty="0">
              <a:solidFill>
                <a:prstClr val="black">
                  <a:lumMod val="85000"/>
                  <a:lumOff val="1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7" name="그룹 6"/>
          <p:cNvGrpSpPr/>
          <p:nvPr/>
        </p:nvGrpSpPr>
        <p:grpSpPr>
          <a:xfrm>
            <a:off x="987182" y="1308449"/>
            <a:ext cx="3377000" cy="1606200"/>
            <a:chOff x="1014151" y="1699951"/>
            <a:chExt cx="8237915" cy="1859499"/>
          </a:xfrm>
        </p:grpSpPr>
        <p:sp>
          <p:nvSpPr>
            <p:cNvPr id="9" name="직사각형 8"/>
            <p:cNvSpPr/>
            <p:nvPr/>
          </p:nvSpPr>
          <p:spPr>
            <a:xfrm>
              <a:off x="1014151" y="1704108"/>
              <a:ext cx="8237915" cy="1855342"/>
            </a:xfrm>
            <a:prstGeom prst="rect">
              <a:avLst/>
            </a:prstGeom>
            <a:solidFill>
              <a:srgbClr val="F7F7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/>
            <p:cNvSpPr/>
            <p:nvPr/>
          </p:nvSpPr>
          <p:spPr>
            <a:xfrm flipH="1">
              <a:off x="1059866" y="1699951"/>
              <a:ext cx="130853" cy="1855343"/>
            </a:xfrm>
            <a:prstGeom prst="rect">
              <a:avLst/>
            </a:prstGeom>
            <a:solidFill>
              <a:srgbClr val="0048D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1593286" y="1545670"/>
            <a:ext cx="2098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Project Manager</a:t>
            </a: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4909" b="29273" l="53846" r="57002">
                        <a14:foregroundMark x1="55360" y1="25758" x2="55403" y2="28121"/>
                        <a14:foregroundMark x1="55703" y1="26545" x2="55703" y2="26545"/>
                        <a14:foregroundMark x1="55832" y1="26000" x2="56389" y2="26970"/>
                        <a14:foregroundMark x1="54674" y1="26242" x2="54674" y2="26061"/>
                        <a14:foregroundMark x1="54417" y1="27212" x2="54417" y2="2721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3452" t="24364" r="42603" b="70182"/>
          <a:stretch/>
        </p:blipFill>
        <p:spPr>
          <a:xfrm>
            <a:off x="1225287" y="1553847"/>
            <a:ext cx="367999" cy="360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593286" y="1883883"/>
            <a:ext cx="243007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BPO</a:t>
            </a:r>
            <a:r>
              <a:rPr lang="ko-KR" altLang="en-US" dirty="0" err="1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지원그룹</a:t>
            </a:r>
            <a:r>
              <a:rPr lang="ko-KR" altLang="en-US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이병헌</a:t>
            </a:r>
            <a:endParaRPr lang="en-US" altLang="ko-KR" dirty="0" smtClean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593284" y="2343817"/>
            <a:ext cx="2661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프로젝트 총괄 및 </a:t>
            </a:r>
            <a:r>
              <a:rPr lang="en-US" altLang="ko-KR" sz="1200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n8n </a:t>
            </a:r>
            <a:r>
              <a:rPr lang="ko-KR" altLang="en-US" sz="1200" dirty="0" err="1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워크플로우</a:t>
            </a:r>
            <a:r>
              <a:rPr lang="ko-KR" altLang="en-US" sz="1200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설계</a:t>
            </a:r>
            <a:endParaRPr lang="en-US" altLang="ko-KR" sz="1200" dirty="0" smtClean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grpSp>
        <p:nvGrpSpPr>
          <p:cNvPr id="48" name="그룹 47"/>
          <p:cNvGrpSpPr/>
          <p:nvPr/>
        </p:nvGrpSpPr>
        <p:grpSpPr>
          <a:xfrm>
            <a:off x="4622788" y="1277208"/>
            <a:ext cx="3377000" cy="1606200"/>
            <a:chOff x="1014151" y="1699951"/>
            <a:chExt cx="8237915" cy="1859499"/>
          </a:xfrm>
        </p:grpSpPr>
        <p:sp>
          <p:nvSpPr>
            <p:cNvPr id="49" name="직사각형 48"/>
            <p:cNvSpPr/>
            <p:nvPr/>
          </p:nvSpPr>
          <p:spPr>
            <a:xfrm>
              <a:off x="1014151" y="1704108"/>
              <a:ext cx="8237915" cy="1855342"/>
            </a:xfrm>
            <a:prstGeom prst="rect">
              <a:avLst/>
            </a:prstGeom>
            <a:solidFill>
              <a:srgbClr val="F7F7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직사각형 49"/>
            <p:cNvSpPr/>
            <p:nvPr/>
          </p:nvSpPr>
          <p:spPr>
            <a:xfrm flipH="1">
              <a:off x="1059866" y="1699951"/>
              <a:ext cx="130853" cy="1855343"/>
            </a:xfrm>
            <a:prstGeom prst="rect">
              <a:avLst/>
            </a:prstGeom>
            <a:solidFill>
              <a:srgbClr val="0048D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1" name="TextBox 50"/>
          <p:cNvSpPr txBox="1"/>
          <p:nvPr/>
        </p:nvSpPr>
        <p:spPr>
          <a:xfrm>
            <a:off x="5228892" y="1514429"/>
            <a:ext cx="2098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Web UI Designer</a:t>
            </a:r>
          </a:p>
        </p:txBody>
      </p:sp>
      <p:pic>
        <p:nvPicPr>
          <p:cNvPr id="52" name="그림 51"/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4909" b="29273" l="53846" r="57002">
                        <a14:foregroundMark x1="55360" y1="25758" x2="55403" y2="28121"/>
                        <a14:foregroundMark x1="55703" y1="26545" x2="55703" y2="26545"/>
                        <a14:foregroundMark x1="55832" y1="26000" x2="56389" y2="26970"/>
                        <a14:foregroundMark x1="54674" y1="26242" x2="54674" y2="26061"/>
                        <a14:foregroundMark x1="54417" y1="27212" x2="54417" y2="2721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3452" t="24364" r="42603" b="70182"/>
          <a:stretch/>
        </p:blipFill>
        <p:spPr>
          <a:xfrm>
            <a:off x="4860893" y="1522606"/>
            <a:ext cx="367999" cy="36000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5228892" y="1852642"/>
            <a:ext cx="243007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GA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센터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/ </a:t>
            </a:r>
            <a:r>
              <a:rPr lang="en-US" altLang="ko-KR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2</a:t>
            </a:r>
            <a:r>
              <a:rPr lang="ko-KR" altLang="en-US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팀 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변민정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5228890" y="2312576"/>
            <a:ext cx="2661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웹 </a:t>
            </a:r>
            <a:r>
              <a:rPr lang="ko-KR" altLang="en-US" sz="1200" dirty="0" err="1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프론트엔드</a:t>
            </a:r>
            <a:r>
              <a:rPr lang="ko-KR" altLang="en-US" sz="1200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기능 구현 및 </a:t>
            </a:r>
            <a:r>
              <a:rPr lang="ko-KR" altLang="en-US" sz="1200" dirty="0" err="1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웹훅</a:t>
            </a:r>
            <a:r>
              <a:rPr lang="ko-KR" altLang="en-US" sz="1200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연동</a:t>
            </a:r>
            <a:endParaRPr lang="en-US" altLang="ko-KR" sz="1200" dirty="0" smtClean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grpSp>
        <p:nvGrpSpPr>
          <p:cNvPr id="55" name="그룹 54"/>
          <p:cNvGrpSpPr/>
          <p:nvPr/>
        </p:nvGrpSpPr>
        <p:grpSpPr>
          <a:xfrm>
            <a:off x="8191922" y="1273618"/>
            <a:ext cx="3377000" cy="1606200"/>
            <a:chOff x="1014151" y="1699951"/>
            <a:chExt cx="8237915" cy="1859499"/>
          </a:xfrm>
        </p:grpSpPr>
        <p:sp>
          <p:nvSpPr>
            <p:cNvPr id="56" name="직사각형 55"/>
            <p:cNvSpPr/>
            <p:nvPr/>
          </p:nvSpPr>
          <p:spPr>
            <a:xfrm>
              <a:off x="1014151" y="1704108"/>
              <a:ext cx="8237915" cy="1855342"/>
            </a:xfrm>
            <a:prstGeom prst="rect">
              <a:avLst/>
            </a:prstGeom>
            <a:solidFill>
              <a:srgbClr val="F7F7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직사각형 56"/>
            <p:cNvSpPr/>
            <p:nvPr/>
          </p:nvSpPr>
          <p:spPr>
            <a:xfrm flipH="1">
              <a:off x="1059866" y="1699951"/>
              <a:ext cx="130853" cy="1855343"/>
            </a:xfrm>
            <a:prstGeom prst="rect">
              <a:avLst/>
            </a:prstGeom>
            <a:solidFill>
              <a:srgbClr val="0048D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8" name="TextBox 57"/>
          <p:cNvSpPr txBox="1"/>
          <p:nvPr/>
        </p:nvSpPr>
        <p:spPr>
          <a:xfrm>
            <a:off x="8798026" y="1510839"/>
            <a:ext cx="2098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Database Manager</a:t>
            </a:r>
          </a:p>
        </p:txBody>
      </p:sp>
      <p:pic>
        <p:nvPicPr>
          <p:cNvPr id="59" name="그림 58"/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4909" b="29273" l="53846" r="57002">
                        <a14:foregroundMark x1="55360" y1="25758" x2="55403" y2="28121"/>
                        <a14:foregroundMark x1="55703" y1="26545" x2="55703" y2="26545"/>
                        <a14:foregroundMark x1="55832" y1="26000" x2="56389" y2="26970"/>
                        <a14:foregroundMark x1="54674" y1="26242" x2="54674" y2="26061"/>
                        <a14:foregroundMark x1="54417" y1="27212" x2="54417" y2="2721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3452" t="24364" r="42603" b="70182"/>
          <a:stretch/>
        </p:blipFill>
        <p:spPr>
          <a:xfrm>
            <a:off x="8430027" y="1519016"/>
            <a:ext cx="367999" cy="360000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8798026" y="1849052"/>
            <a:ext cx="2430074" cy="459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BW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센터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/ 2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팀 김지민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8798024" y="2308986"/>
            <a:ext cx="2661505" cy="337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웹 </a:t>
            </a:r>
            <a:r>
              <a:rPr lang="ko-KR" altLang="en-US" sz="1200" dirty="0" err="1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백엔드</a:t>
            </a:r>
            <a:r>
              <a:rPr lang="ko-KR" altLang="en-US" sz="1200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기능 구현 및 데이터베이스 연동</a:t>
            </a:r>
            <a:endParaRPr lang="en-US" altLang="ko-KR" sz="1200" dirty="0" smtClean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64" name="직사각형 63"/>
          <p:cNvSpPr/>
          <p:nvPr/>
        </p:nvSpPr>
        <p:spPr>
          <a:xfrm flipH="1">
            <a:off x="1024662" y="3305240"/>
            <a:ext cx="1942857" cy="803100"/>
          </a:xfrm>
          <a:prstGeom prst="rect">
            <a:avLst/>
          </a:prstGeom>
          <a:solidFill>
            <a:srgbClr val="D5E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5" name="TextBox 64"/>
          <p:cNvSpPr txBox="1"/>
          <p:nvPr/>
        </p:nvSpPr>
        <p:spPr>
          <a:xfrm>
            <a:off x="1024662" y="3352500"/>
            <a:ext cx="1942857" cy="715581"/>
          </a:xfrm>
          <a:prstGeom prst="rect">
            <a:avLst/>
          </a:prstGeom>
          <a:solidFill>
            <a:srgbClr val="D5E3FF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500" b="1" dirty="0" smtClean="0">
                <a:solidFill>
                  <a:srgbClr val="0048D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Week 1</a:t>
            </a:r>
          </a:p>
          <a:p>
            <a:pPr algn="ctr">
              <a:lnSpc>
                <a:spcPct val="150000"/>
              </a:lnSpc>
            </a:pPr>
            <a:r>
              <a:rPr lang="en-US" altLang="ko-KR" sz="1200" b="1" dirty="0" smtClean="0">
                <a:solidFill>
                  <a:srgbClr val="0048D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4/22</a:t>
            </a:r>
            <a:endParaRPr lang="en-US" altLang="ko-KR" sz="1200" b="1" dirty="0">
              <a:solidFill>
                <a:srgbClr val="0048D7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9" name="모서리가 둥근 직사각형 68"/>
          <p:cNvSpPr/>
          <p:nvPr/>
        </p:nvSpPr>
        <p:spPr>
          <a:xfrm>
            <a:off x="1005922" y="4198537"/>
            <a:ext cx="1961597" cy="1110525"/>
          </a:xfrm>
          <a:prstGeom prst="roundRect">
            <a:avLst>
              <a:gd name="adj" fmla="val 8275"/>
            </a:avLst>
          </a:prstGeom>
          <a:noFill/>
          <a:ln>
            <a:solidFill>
              <a:srgbClr val="F3F3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직사각형 83"/>
          <p:cNvSpPr/>
          <p:nvPr/>
        </p:nvSpPr>
        <p:spPr>
          <a:xfrm flipH="1">
            <a:off x="3175013" y="3305240"/>
            <a:ext cx="1942857" cy="803100"/>
          </a:xfrm>
          <a:prstGeom prst="rect">
            <a:avLst/>
          </a:prstGeom>
          <a:solidFill>
            <a:srgbClr val="D5E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5" name="TextBox 84"/>
          <p:cNvSpPr txBox="1"/>
          <p:nvPr/>
        </p:nvSpPr>
        <p:spPr>
          <a:xfrm>
            <a:off x="3175013" y="3352500"/>
            <a:ext cx="1942857" cy="715581"/>
          </a:xfrm>
          <a:prstGeom prst="rect">
            <a:avLst/>
          </a:prstGeom>
          <a:solidFill>
            <a:srgbClr val="D5E3FF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lnSpc>
                <a:spcPct val="150000"/>
              </a:lnSpc>
              <a:defRPr sz="1500" b="1">
                <a:solidFill>
                  <a:srgbClr val="0048D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/>
              <a:t>Week 2 ~ 4</a:t>
            </a:r>
          </a:p>
          <a:p>
            <a:r>
              <a:rPr lang="en-US" altLang="ko-KR" sz="1200" dirty="0"/>
              <a:t>4/29 ~ 5/12</a:t>
            </a:r>
          </a:p>
        </p:txBody>
      </p:sp>
      <p:sp>
        <p:nvSpPr>
          <p:cNvPr id="86" name="모서리가 둥근 직사각형 85"/>
          <p:cNvSpPr/>
          <p:nvPr/>
        </p:nvSpPr>
        <p:spPr>
          <a:xfrm>
            <a:off x="3156273" y="4198537"/>
            <a:ext cx="1961597" cy="1110525"/>
          </a:xfrm>
          <a:prstGeom prst="roundRect">
            <a:avLst>
              <a:gd name="adj" fmla="val 8275"/>
            </a:avLst>
          </a:prstGeom>
          <a:noFill/>
          <a:ln>
            <a:solidFill>
              <a:srgbClr val="F3F3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8" name="직사각형 87"/>
          <p:cNvSpPr/>
          <p:nvPr/>
        </p:nvSpPr>
        <p:spPr>
          <a:xfrm flipH="1">
            <a:off x="5325364" y="3305240"/>
            <a:ext cx="1942857" cy="803100"/>
          </a:xfrm>
          <a:prstGeom prst="rect">
            <a:avLst/>
          </a:prstGeom>
          <a:solidFill>
            <a:srgbClr val="D5E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9" name="TextBox 88"/>
          <p:cNvSpPr txBox="1"/>
          <p:nvPr/>
        </p:nvSpPr>
        <p:spPr>
          <a:xfrm>
            <a:off x="5325364" y="3352500"/>
            <a:ext cx="1942857" cy="715581"/>
          </a:xfrm>
          <a:prstGeom prst="rect">
            <a:avLst/>
          </a:prstGeom>
          <a:solidFill>
            <a:srgbClr val="D5E3FF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lnSpc>
                <a:spcPct val="150000"/>
              </a:lnSpc>
              <a:defRPr sz="1500" b="1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>
                <a:solidFill>
                  <a:srgbClr val="0048D7"/>
                </a:solidFill>
              </a:rPr>
              <a:t>Week 5 ~ 10</a:t>
            </a:r>
          </a:p>
          <a:p>
            <a:r>
              <a:rPr lang="en-US" altLang="ko-KR" sz="1200" dirty="0">
                <a:solidFill>
                  <a:srgbClr val="0048D7"/>
                </a:solidFill>
              </a:rPr>
              <a:t>5/19 ~ 6/23</a:t>
            </a:r>
          </a:p>
        </p:txBody>
      </p:sp>
      <p:sp>
        <p:nvSpPr>
          <p:cNvPr id="90" name="모서리가 둥근 직사각형 89"/>
          <p:cNvSpPr/>
          <p:nvPr/>
        </p:nvSpPr>
        <p:spPr>
          <a:xfrm>
            <a:off x="5306624" y="4198537"/>
            <a:ext cx="1961597" cy="1110525"/>
          </a:xfrm>
          <a:prstGeom prst="roundRect">
            <a:avLst>
              <a:gd name="adj" fmla="val 8275"/>
            </a:avLst>
          </a:prstGeom>
          <a:noFill/>
          <a:ln>
            <a:solidFill>
              <a:srgbClr val="F3F3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2" name="직사각형 91"/>
          <p:cNvSpPr/>
          <p:nvPr/>
        </p:nvSpPr>
        <p:spPr>
          <a:xfrm flipH="1">
            <a:off x="7475715" y="3305240"/>
            <a:ext cx="1942857" cy="803100"/>
          </a:xfrm>
          <a:prstGeom prst="rect">
            <a:avLst/>
          </a:prstGeom>
          <a:solidFill>
            <a:srgbClr val="D5E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3" name="TextBox 92"/>
          <p:cNvSpPr txBox="1"/>
          <p:nvPr/>
        </p:nvSpPr>
        <p:spPr>
          <a:xfrm>
            <a:off x="7475715" y="3352500"/>
            <a:ext cx="1942857" cy="715581"/>
          </a:xfrm>
          <a:prstGeom prst="rect">
            <a:avLst/>
          </a:prstGeom>
          <a:solidFill>
            <a:srgbClr val="D5E3FF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lnSpc>
                <a:spcPct val="150000"/>
              </a:lnSpc>
              <a:defRPr sz="1500" b="1">
                <a:solidFill>
                  <a:srgbClr val="0048D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/>
              <a:t>Week 11 ~ 13</a:t>
            </a:r>
          </a:p>
          <a:p>
            <a:r>
              <a:rPr lang="en-US" altLang="ko-KR" sz="1200" dirty="0"/>
              <a:t>6/30 ~ 7/14</a:t>
            </a:r>
          </a:p>
        </p:txBody>
      </p:sp>
      <p:sp>
        <p:nvSpPr>
          <p:cNvPr id="94" name="모서리가 둥근 직사각형 93"/>
          <p:cNvSpPr/>
          <p:nvPr/>
        </p:nvSpPr>
        <p:spPr>
          <a:xfrm>
            <a:off x="7456975" y="4198537"/>
            <a:ext cx="1961597" cy="1110525"/>
          </a:xfrm>
          <a:prstGeom prst="roundRect">
            <a:avLst>
              <a:gd name="adj" fmla="val 8275"/>
            </a:avLst>
          </a:prstGeom>
          <a:noFill/>
          <a:ln>
            <a:solidFill>
              <a:srgbClr val="F3F3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직사각형 95"/>
          <p:cNvSpPr/>
          <p:nvPr/>
        </p:nvSpPr>
        <p:spPr>
          <a:xfrm flipH="1">
            <a:off x="9626065" y="3305240"/>
            <a:ext cx="1942857" cy="803100"/>
          </a:xfrm>
          <a:prstGeom prst="rect">
            <a:avLst/>
          </a:prstGeom>
          <a:solidFill>
            <a:srgbClr val="D5E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7" name="TextBox 96"/>
          <p:cNvSpPr txBox="1"/>
          <p:nvPr/>
        </p:nvSpPr>
        <p:spPr>
          <a:xfrm>
            <a:off x="9626065" y="3352500"/>
            <a:ext cx="1942857" cy="715581"/>
          </a:xfrm>
          <a:prstGeom prst="rect">
            <a:avLst/>
          </a:prstGeom>
          <a:solidFill>
            <a:srgbClr val="D5E3FF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lnSpc>
                <a:spcPct val="150000"/>
              </a:lnSpc>
              <a:defRPr sz="1500" b="1">
                <a:solidFill>
                  <a:srgbClr val="0048D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/>
              <a:t>Week 14 ~ 15</a:t>
            </a:r>
          </a:p>
          <a:p>
            <a:r>
              <a:rPr lang="en-US" altLang="ko-KR" sz="1200" dirty="0"/>
              <a:t>7/21 ~ 7/28</a:t>
            </a:r>
          </a:p>
        </p:txBody>
      </p:sp>
      <p:sp>
        <p:nvSpPr>
          <p:cNvPr id="98" name="모서리가 둥근 직사각형 97"/>
          <p:cNvSpPr/>
          <p:nvPr/>
        </p:nvSpPr>
        <p:spPr>
          <a:xfrm>
            <a:off x="9607325" y="4198537"/>
            <a:ext cx="1961597" cy="1110525"/>
          </a:xfrm>
          <a:prstGeom prst="roundRect">
            <a:avLst>
              <a:gd name="adj" fmla="val 8275"/>
            </a:avLst>
          </a:prstGeom>
          <a:noFill/>
          <a:ln>
            <a:solidFill>
              <a:srgbClr val="F3F3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모서리가 둥근 직사각형 98"/>
          <p:cNvSpPr/>
          <p:nvPr/>
        </p:nvSpPr>
        <p:spPr>
          <a:xfrm>
            <a:off x="1005922" y="5423911"/>
            <a:ext cx="1961597" cy="641609"/>
          </a:xfrm>
          <a:prstGeom prst="roundRect">
            <a:avLst>
              <a:gd name="adj" fmla="val 8275"/>
            </a:avLst>
          </a:prstGeom>
          <a:noFill/>
          <a:ln>
            <a:solidFill>
              <a:srgbClr val="F3F3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" name="TextBox 103"/>
          <p:cNvSpPr txBox="1"/>
          <p:nvPr/>
        </p:nvSpPr>
        <p:spPr>
          <a:xfrm>
            <a:off x="1124119" y="5437515"/>
            <a:ext cx="1725202" cy="614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200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이병헌</a:t>
            </a:r>
            <a:r>
              <a:rPr lang="en-US" altLang="ko-KR" sz="1200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1200" dirty="0" err="1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변민정</a:t>
            </a:r>
            <a:endParaRPr lang="en-US" altLang="ko-KR" sz="1200" dirty="0" smtClean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200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김지민</a:t>
            </a:r>
            <a:r>
              <a:rPr lang="en-US" altLang="ko-KR" sz="1200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1200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최상호</a:t>
            </a:r>
            <a:endParaRPr lang="en-US" altLang="ko-KR" sz="1200" dirty="0" smtClean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108" name="모서리가 둥근 직사각형 107"/>
          <p:cNvSpPr/>
          <p:nvPr/>
        </p:nvSpPr>
        <p:spPr>
          <a:xfrm>
            <a:off x="3179133" y="5460219"/>
            <a:ext cx="1961597" cy="641609"/>
          </a:xfrm>
          <a:prstGeom prst="roundRect">
            <a:avLst>
              <a:gd name="adj" fmla="val 8275"/>
            </a:avLst>
          </a:prstGeom>
          <a:noFill/>
          <a:ln>
            <a:solidFill>
              <a:srgbClr val="F3F3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9" name="TextBox 108"/>
          <p:cNvSpPr txBox="1"/>
          <p:nvPr/>
        </p:nvSpPr>
        <p:spPr>
          <a:xfrm>
            <a:off x="3297330" y="5473823"/>
            <a:ext cx="1725202" cy="614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200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이병헌</a:t>
            </a:r>
            <a:r>
              <a:rPr lang="en-US" altLang="ko-KR" sz="1200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1200" dirty="0" err="1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변민정</a:t>
            </a:r>
            <a:endParaRPr lang="en-US" altLang="ko-KR" sz="1200" dirty="0" smtClean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200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김지민</a:t>
            </a:r>
            <a:r>
              <a:rPr lang="en-US" altLang="ko-KR" sz="1200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1200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최상호</a:t>
            </a:r>
            <a:endParaRPr lang="en-US" altLang="ko-KR" sz="1200" dirty="0" smtClean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110" name="모서리가 둥근 직사각형 109"/>
          <p:cNvSpPr/>
          <p:nvPr/>
        </p:nvSpPr>
        <p:spPr>
          <a:xfrm>
            <a:off x="5306624" y="5456259"/>
            <a:ext cx="1961597" cy="641609"/>
          </a:xfrm>
          <a:prstGeom prst="roundRect">
            <a:avLst>
              <a:gd name="adj" fmla="val 8275"/>
            </a:avLst>
          </a:prstGeom>
          <a:noFill/>
          <a:ln>
            <a:solidFill>
              <a:srgbClr val="F3F3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1" name="TextBox 110"/>
          <p:cNvSpPr txBox="1"/>
          <p:nvPr/>
        </p:nvSpPr>
        <p:spPr>
          <a:xfrm>
            <a:off x="5424821" y="5469863"/>
            <a:ext cx="1725202" cy="614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200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이병헌</a:t>
            </a:r>
            <a:r>
              <a:rPr lang="en-US" altLang="ko-KR" sz="1200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1200" dirty="0" err="1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변민정</a:t>
            </a:r>
            <a:endParaRPr lang="en-US" altLang="ko-KR" sz="1200" dirty="0" smtClean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200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김지민</a:t>
            </a:r>
            <a:r>
              <a:rPr lang="en-US" altLang="ko-KR" sz="1200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1200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최상호</a:t>
            </a:r>
            <a:endParaRPr lang="en-US" altLang="ko-KR" sz="1200" dirty="0" smtClean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114" name="모서리가 둥근 직사각형 113"/>
          <p:cNvSpPr/>
          <p:nvPr/>
        </p:nvSpPr>
        <p:spPr>
          <a:xfrm>
            <a:off x="7456975" y="5456259"/>
            <a:ext cx="1961597" cy="641609"/>
          </a:xfrm>
          <a:prstGeom prst="roundRect">
            <a:avLst>
              <a:gd name="adj" fmla="val 8275"/>
            </a:avLst>
          </a:prstGeom>
          <a:noFill/>
          <a:ln>
            <a:solidFill>
              <a:srgbClr val="F3F3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5" name="TextBox 114"/>
          <p:cNvSpPr txBox="1"/>
          <p:nvPr/>
        </p:nvSpPr>
        <p:spPr>
          <a:xfrm>
            <a:off x="7575172" y="5506411"/>
            <a:ext cx="172520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200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이병헌</a:t>
            </a:r>
            <a:r>
              <a:rPr lang="en-US" altLang="ko-KR" sz="1200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1200" dirty="0" err="1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변민정</a:t>
            </a:r>
            <a:r>
              <a:rPr lang="en-US" altLang="ko-KR" sz="1200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1200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김지민</a:t>
            </a:r>
            <a:endParaRPr lang="en-US" altLang="ko-KR" sz="1200" dirty="0" smtClean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800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*</a:t>
            </a:r>
            <a:r>
              <a:rPr lang="ko-KR" altLang="en-US" sz="800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최상호 </a:t>
            </a:r>
            <a:r>
              <a:rPr lang="en-US" altLang="ko-KR" sz="800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Pre-</a:t>
            </a:r>
            <a:r>
              <a:rPr lang="ko-KR" altLang="en-US" sz="800" dirty="0" err="1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보직자</a:t>
            </a:r>
            <a:r>
              <a:rPr lang="ko-KR" altLang="en-US" sz="800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교육으로 이탈</a:t>
            </a:r>
            <a:endParaRPr lang="en-US" altLang="ko-KR" sz="800" dirty="0" smtClean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116" name="모서리가 둥근 직사각형 115"/>
          <p:cNvSpPr/>
          <p:nvPr/>
        </p:nvSpPr>
        <p:spPr>
          <a:xfrm>
            <a:off x="9607325" y="5469865"/>
            <a:ext cx="1961597" cy="641609"/>
          </a:xfrm>
          <a:prstGeom prst="roundRect">
            <a:avLst>
              <a:gd name="adj" fmla="val 8275"/>
            </a:avLst>
          </a:prstGeom>
          <a:noFill/>
          <a:ln>
            <a:solidFill>
              <a:srgbClr val="F3F3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7" name="TextBox 116"/>
          <p:cNvSpPr txBox="1"/>
          <p:nvPr/>
        </p:nvSpPr>
        <p:spPr>
          <a:xfrm>
            <a:off x="9725522" y="5597769"/>
            <a:ext cx="1725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200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이병헌</a:t>
            </a:r>
            <a:r>
              <a:rPr lang="en-US" altLang="ko-KR" sz="1200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1200" dirty="0" err="1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변민정</a:t>
            </a:r>
            <a:r>
              <a:rPr lang="en-US" altLang="ko-KR" sz="1200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1200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김지민</a:t>
            </a:r>
            <a:endParaRPr lang="en-US" altLang="ko-KR" sz="1200" dirty="0" smtClean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1124119" y="4253305"/>
            <a:ext cx="17179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Kick-Off </a:t>
            </a:r>
            <a:r>
              <a:rPr lang="ko-KR" altLang="en-US" sz="1400" b="1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미팅</a:t>
            </a:r>
            <a:endParaRPr lang="en-US" altLang="ko-KR" sz="1400" b="1" dirty="0" smtClean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3278112" y="4238796"/>
            <a:ext cx="17179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AI </a:t>
            </a:r>
            <a:r>
              <a:rPr lang="ko-KR" altLang="en-US" sz="1400" b="1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교육</a:t>
            </a:r>
            <a:endParaRPr lang="en-US" altLang="ko-KR" sz="1400" b="1" dirty="0" smtClean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5359560" y="4243139"/>
            <a:ext cx="18369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</a:t>
            </a:r>
            <a:r>
              <a:rPr lang="en-US" altLang="ko-KR" sz="1400" b="1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8n </a:t>
            </a:r>
            <a:r>
              <a:rPr lang="ko-KR" altLang="en-US" sz="1400" b="1" dirty="0" err="1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워크플로우</a:t>
            </a:r>
            <a:r>
              <a:rPr lang="ko-KR" altLang="en-US" sz="1400" b="1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설계</a:t>
            </a:r>
            <a:endParaRPr lang="en-US" altLang="ko-KR" sz="1400" b="1" dirty="0" smtClean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121" name="TextBox 120"/>
          <p:cNvSpPr txBox="1"/>
          <p:nvPr/>
        </p:nvSpPr>
        <p:spPr>
          <a:xfrm>
            <a:off x="7575172" y="4238796"/>
            <a:ext cx="17179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n8n </a:t>
            </a:r>
            <a:r>
              <a:rPr lang="ko-KR" altLang="en-US" sz="1400" b="1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설계</a:t>
            </a:r>
            <a:r>
              <a:rPr lang="en-US" altLang="ko-KR" sz="1400" b="1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1400" b="1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웹 구축</a:t>
            </a:r>
            <a:endParaRPr lang="en-US" altLang="ko-KR" sz="1400" b="1" dirty="0" smtClean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9725522" y="4240634"/>
            <a:ext cx="17179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테스트 및 오류 개선</a:t>
            </a:r>
            <a:endParaRPr lang="en-US" altLang="ko-KR" sz="1400" b="1" dirty="0" smtClean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grpSp>
        <p:nvGrpSpPr>
          <p:cNvPr id="125" name="그룹 124"/>
          <p:cNvGrpSpPr/>
          <p:nvPr/>
        </p:nvGrpSpPr>
        <p:grpSpPr>
          <a:xfrm>
            <a:off x="1063094" y="4627270"/>
            <a:ext cx="1686456" cy="276999"/>
            <a:chOff x="1063094" y="4650704"/>
            <a:chExt cx="1686456" cy="276999"/>
          </a:xfrm>
        </p:grpSpPr>
        <p:sp>
          <p:nvSpPr>
            <p:cNvPr id="45" name="1/2 액자 44"/>
            <p:cNvSpPr/>
            <p:nvPr/>
          </p:nvSpPr>
          <p:spPr>
            <a:xfrm rot="8100000">
              <a:off x="1063094" y="4689137"/>
              <a:ext cx="185568" cy="185568"/>
            </a:xfrm>
            <a:prstGeom prst="halfFrame">
              <a:avLst>
                <a:gd name="adj1" fmla="val 21510"/>
                <a:gd name="adj2" fmla="val 22538"/>
              </a:avLst>
            </a:prstGeom>
            <a:solidFill>
              <a:srgbClr val="D5E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1336694" y="4650704"/>
              <a:ext cx="14128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 smtClean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프로젝트 계획 공유</a:t>
              </a:r>
              <a:endParaRPr lang="en-US" altLang="ko-KR" sz="1200" dirty="0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126" name="그룹 125"/>
          <p:cNvGrpSpPr/>
          <p:nvPr/>
        </p:nvGrpSpPr>
        <p:grpSpPr>
          <a:xfrm>
            <a:off x="1063094" y="4950414"/>
            <a:ext cx="1778943" cy="276999"/>
            <a:chOff x="1063094" y="4650704"/>
            <a:chExt cx="1778943" cy="276999"/>
          </a:xfrm>
        </p:grpSpPr>
        <p:sp>
          <p:nvSpPr>
            <p:cNvPr id="127" name="1/2 액자 126"/>
            <p:cNvSpPr/>
            <p:nvPr/>
          </p:nvSpPr>
          <p:spPr>
            <a:xfrm rot="8100000">
              <a:off x="1063094" y="4689137"/>
              <a:ext cx="185568" cy="185568"/>
            </a:xfrm>
            <a:prstGeom prst="halfFrame">
              <a:avLst>
                <a:gd name="adj1" fmla="val 21510"/>
                <a:gd name="adj2" fmla="val 22538"/>
              </a:avLst>
            </a:prstGeom>
            <a:solidFill>
              <a:srgbClr val="D5E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1336694" y="4650704"/>
              <a:ext cx="15053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 smtClean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역할 및 </a:t>
              </a:r>
              <a:r>
                <a:rPr lang="en-US" altLang="ko-KR" sz="1200" dirty="0" smtClean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R&amp;R </a:t>
              </a:r>
              <a:r>
                <a:rPr lang="ko-KR" altLang="en-US" sz="1200" dirty="0" smtClean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정의</a:t>
              </a:r>
              <a:endParaRPr lang="en-US" altLang="ko-KR" sz="1200" dirty="0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129" name="그룹 128"/>
          <p:cNvGrpSpPr/>
          <p:nvPr/>
        </p:nvGrpSpPr>
        <p:grpSpPr>
          <a:xfrm>
            <a:off x="3217087" y="4627270"/>
            <a:ext cx="1686456" cy="276999"/>
            <a:chOff x="1063094" y="4650704"/>
            <a:chExt cx="1686456" cy="276999"/>
          </a:xfrm>
        </p:grpSpPr>
        <p:sp>
          <p:nvSpPr>
            <p:cNvPr id="130" name="1/2 액자 129"/>
            <p:cNvSpPr/>
            <p:nvPr/>
          </p:nvSpPr>
          <p:spPr>
            <a:xfrm rot="8100000">
              <a:off x="1063094" y="4689137"/>
              <a:ext cx="185568" cy="185568"/>
            </a:xfrm>
            <a:prstGeom prst="halfFrame">
              <a:avLst>
                <a:gd name="adj1" fmla="val 21510"/>
                <a:gd name="adj2" fmla="val 22538"/>
              </a:avLst>
            </a:prstGeom>
            <a:solidFill>
              <a:srgbClr val="D5E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31" name="TextBox 130"/>
            <p:cNvSpPr txBox="1"/>
            <p:nvPr/>
          </p:nvSpPr>
          <p:spPr>
            <a:xfrm>
              <a:off x="1336694" y="4650704"/>
              <a:ext cx="14128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n8n </a:t>
              </a:r>
              <a:r>
                <a:rPr lang="ko-KR" altLang="en-US" sz="1200" dirty="0" smtClean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이용 방법 교육</a:t>
              </a:r>
              <a:endParaRPr lang="en-US" altLang="ko-KR" sz="1200" dirty="0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132" name="그룹 131"/>
          <p:cNvGrpSpPr/>
          <p:nvPr/>
        </p:nvGrpSpPr>
        <p:grpSpPr>
          <a:xfrm>
            <a:off x="3217087" y="4950414"/>
            <a:ext cx="1778943" cy="276999"/>
            <a:chOff x="1063094" y="4650704"/>
            <a:chExt cx="1778943" cy="276999"/>
          </a:xfrm>
        </p:grpSpPr>
        <p:sp>
          <p:nvSpPr>
            <p:cNvPr id="133" name="1/2 액자 132"/>
            <p:cNvSpPr/>
            <p:nvPr/>
          </p:nvSpPr>
          <p:spPr>
            <a:xfrm rot="8100000">
              <a:off x="1063094" y="4689137"/>
              <a:ext cx="185568" cy="185568"/>
            </a:xfrm>
            <a:prstGeom prst="halfFrame">
              <a:avLst>
                <a:gd name="adj1" fmla="val 21510"/>
                <a:gd name="adj2" fmla="val 22538"/>
              </a:avLst>
            </a:prstGeom>
            <a:solidFill>
              <a:srgbClr val="D5E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1336694" y="4650704"/>
              <a:ext cx="15053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 err="1" smtClean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바이브</a:t>
              </a:r>
              <a:r>
                <a:rPr lang="ko-KR" altLang="en-US" sz="1200" dirty="0" smtClean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코딩 학습</a:t>
              </a:r>
              <a:endParaRPr lang="en-US" altLang="ko-KR" sz="1200" dirty="0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135" name="그룹 134"/>
          <p:cNvGrpSpPr/>
          <p:nvPr/>
        </p:nvGrpSpPr>
        <p:grpSpPr>
          <a:xfrm>
            <a:off x="5387827" y="4627270"/>
            <a:ext cx="1762196" cy="276999"/>
            <a:chOff x="1063094" y="4650704"/>
            <a:chExt cx="1762196" cy="276999"/>
          </a:xfrm>
        </p:grpSpPr>
        <p:sp>
          <p:nvSpPr>
            <p:cNvPr id="136" name="1/2 액자 135"/>
            <p:cNvSpPr/>
            <p:nvPr/>
          </p:nvSpPr>
          <p:spPr>
            <a:xfrm rot="8100000">
              <a:off x="1063094" y="4689137"/>
              <a:ext cx="185568" cy="185568"/>
            </a:xfrm>
            <a:prstGeom prst="halfFrame">
              <a:avLst>
                <a:gd name="adj1" fmla="val 21510"/>
                <a:gd name="adj2" fmla="val 22538"/>
              </a:avLst>
            </a:prstGeom>
            <a:solidFill>
              <a:srgbClr val="D5E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37" name="TextBox 136"/>
            <p:cNvSpPr txBox="1"/>
            <p:nvPr/>
          </p:nvSpPr>
          <p:spPr>
            <a:xfrm>
              <a:off x="1336694" y="4650704"/>
              <a:ext cx="148859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 smtClean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키워드 기반 </a:t>
              </a:r>
              <a:r>
                <a:rPr lang="ko-KR" altLang="en-US" sz="1200" dirty="0" err="1" smtClean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웹크롤링</a:t>
              </a:r>
              <a:endParaRPr lang="en-US" altLang="ko-KR" sz="1200" dirty="0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138" name="그룹 137"/>
          <p:cNvGrpSpPr/>
          <p:nvPr/>
        </p:nvGrpSpPr>
        <p:grpSpPr>
          <a:xfrm>
            <a:off x="5387827" y="4950414"/>
            <a:ext cx="1778943" cy="276999"/>
            <a:chOff x="1063094" y="4650704"/>
            <a:chExt cx="1778943" cy="276999"/>
          </a:xfrm>
        </p:grpSpPr>
        <p:sp>
          <p:nvSpPr>
            <p:cNvPr id="139" name="1/2 액자 138"/>
            <p:cNvSpPr/>
            <p:nvPr/>
          </p:nvSpPr>
          <p:spPr>
            <a:xfrm rot="8100000">
              <a:off x="1063094" y="4689137"/>
              <a:ext cx="185568" cy="185568"/>
            </a:xfrm>
            <a:prstGeom prst="halfFrame">
              <a:avLst>
                <a:gd name="adj1" fmla="val 21510"/>
                <a:gd name="adj2" fmla="val 22538"/>
              </a:avLst>
            </a:prstGeom>
            <a:solidFill>
              <a:srgbClr val="D5E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40" name="TextBox 139"/>
            <p:cNvSpPr txBox="1"/>
            <p:nvPr/>
          </p:nvSpPr>
          <p:spPr>
            <a:xfrm>
              <a:off x="1336694" y="4650704"/>
              <a:ext cx="15053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AI </a:t>
              </a:r>
              <a:r>
                <a:rPr lang="ko-KR" altLang="en-US" sz="1200" dirty="0" smtClean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활용 리포트 생성</a:t>
              </a:r>
              <a:endParaRPr lang="en-US" altLang="ko-KR" sz="1200" dirty="0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141" name="그룹 140"/>
          <p:cNvGrpSpPr/>
          <p:nvPr/>
        </p:nvGrpSpPr>
        <p:grpSpPr>
          <a:xfrm>
            <a:off x="7520609" y="4627270"/>
            <a:ext cx="1772480" cy="276999"/>
            <a:chOff x="1063094" y="4650704"/>
            <a:chExt cx="1772480" cy="276999"/>
          </a:xfrm>
        </p:grpSpPr>
        <p:sp>
          <p:nvSpPr>
            <p:cNvPr id="142" name="1/2 액자 141"/>
            <p:cNvSpPr/>
            <p:nvPr/>
          </p:nvSpPr>
          <p:spPr>
            <a:xfrm rot="8100000">
              <a:off x="1063094" y="4689137"/>
              <a:ext cx="185568" cy="185568"/>
            </a:xfrm>
            <a:prstGeom prst="halfFrame">
              <a:avLst>
                <a:gd name="adj1" fmla="val 21510"/>
                <a:gd name="adj2" fmla="val 22538"/>
              </a:avLst>
            </a:prstGeom>
            <a:solidFill>
              <a:srgbClr val="D5E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43" name="TextBox 142"/>
            <p:cNvSpPr txBox="1"/>
            <p:nvPr/>
          </p:nvSpPr>
          <p:spPr>
            <a:xfrm>
              <a:off x="1336693" y="4650704"/>
              <a:ext cx="149888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 smtClean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프론트 및 </a:t>
              </a:r>
              <a:r>
                <a:rPr lang="ko-KR" altLang="en-US" sz="1200" dirty="0" err="1" smtClean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백엔드</a:t>
              </a:r>
              <a:r>
                <a:rPr lang="ko-KR" altLang="en-US" sz="1200" dirty="0" smtClean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개발</a:t>
              </a:r>
              <a:endParaRPr lang="en-US" altLang="ko-KR" sz="1200" dirty="0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144" name="그룹 143"/>
          <p:cNvGrpSpPr/>
          <p:nvPr/>
        </p:nvGrpSpPr>
        <p:grpSpPr>
          <a:xfrm>
            <a:off x="7520609" y="4950414"/>
            <a:ext cx="1778943" cy="276999"/>
            <a:chOff x="1063094" y="4650704"/>
            <a:chExt cx="1778943" cy="276999"/>
          </a:xfrm>
        </p:grpSpPr>
        <p:sp>
          <p:nvSpPr>
            <p:cNvPr id="145" name="1/2 액자 144"/>
            <p:cNvSpPr/>
            <p:nvPr/>
          </p:nvSpPr>
          <p:spPr>
            <a:xfrm rot="8100000">
              <a:off x="1063094" y="4689137"/>
              <a:ext cx="185568" cy="185568"/>
            </a:xfrm>
            <a:prstGeom prst="halfFrame">
              <a:avLst>
                <a:gd name="adj1" fmla="val 21510"/>
                <a:gd name="adj2" fmla="val 22538"/>
              </a:avLst>
            </a:prstGeom>
            <a:solidFill>
              <a:srgbClr val="D5E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1336694" y="4650704"/>
              <a:ext cx="15053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뉴스레터 생성</a:t>
              </a:r>
              <a:endPara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147" name="그룹 146"/>
          <p:cNvGrpSpPr/>
          <p:nvPr/>
        </p:nvGrpSpPr>
        <p:grpSpPr>
          <a:xfrm>
            <a:off x="9680586" y="4626629"/>
            <a:ext cx="1686456" cy="276999"/>
            <a:chOff x="1063094" y="4650704"/>
            <a:chExt cx="1686456" cy="276999"/>
          </a:xfrm>
        </p:grpSpPr>
        <p:sp>
          <p:nvSpPr>
            <p:cNvPr id="148" name="1/2 액자 147"/>
            <p:cNvSpPr/>
            <p:nvPr/>
          </p:nvSpPr>
          <p:spPr>
            <a:xfrm rot="8100000">
              <a:off x="1063094" y="4689137"/>
              <a:ext cx="185568" cy="185568"/>
            </a:xfrm>
            <a:prstGeom prst="halfFrame">
              <a:avLst>
                <a:gd name="adj1" fmla="val 21510"/>
                <a:gd name="adj2" fmla="val 22538"/>
              </a:avLst>
            </a:prstGeom>
            <a:solidFill>
              <a:srgbClr val="D5E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1336694" y="4650704"/>
              <a:ext cx="14128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 smtClean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웹 </a:t>
              </a:r>
              <a:r>
                <a:rPr lang="en-US" altLang="ko-KR" sz="1200" dirty="0" smtClean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UI </a:t>
              </a:r>
              <a:r>
                <a:rPr lang="ko-KR" altLang="en-US" sz="1200" dirty="0" smtClean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및 </a:t>
              </a:r>
              <a:r>
                <a:rPr lang="en-US" altLang="ko-KR" sz="1200" dirty="0" smtClean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UX </a:t>
              </a:r>
              <a:r>
                <a:rPr lang="ko-KR" altLang="en-US" sz="1200" dirty="0" smtClean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개선</a:t>
              </a:r>
              <a:endParaRPr lang="en-US" altLang="ko-KR" sz="1200" dirty="0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150" name="그룹 149"/>
          <p:cNvGrpSpPr/>
          <p:nvPr/>
        </p:nvGrpSpPr>
        <p:grpSpPr>
          <a:xfrm>
            <a:off x="9680586" y="4949773"/>
            <a:ext cx="1778943" cy="276999"/>
            <a:chOff x="1063094" y="4650704"/>
            <a:chExt cx="1778943" cy="276999"/>
          </a:xfrm>
        </p:grpSpPr>
        <p:sp>
          <p:nvSpPr>
            <p:cNvPr id="151" name="1/2 액자 150"/>
            <p:cNvSpPr/>
            <p:nvPr/>
          </p:nvSpPr>
          <p:spPr>
            <a:xfrm rot="8100000">
              <a:off x="1063094" y="4689137"/>
              <a:ext cx="185568" cy="185568"/>
            </a:xfrm>
            <a:prstGeom prst="halfFrame">
              <a:avLst>
                <a:gd name="adj1" fmla="val 21510"/>
                <a:gd name="adj2" fmla="val 22538"/>
              </a:avLst>
            </a:prstGeom>
            <a:solidFill>
              <a:srgbClr val="D5E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2" name="TextBox 151"/>
            <p:cNvSpPr txBox="1"/>
            <p:nvPr/>
          </p:nvSpPr>
          <p:spPr>
            <a:xfrm>
              <a:off x="1336694" y="4650704"/>
              <a:ext cx="15053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 smtClean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모바일 화면 </a:t>
              </a:r>
              <a:r>
                <a:rPr lang="en-US" altLang="ko-KR" sz="1200" dirty="0" smtClean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Align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99589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제목 1">
            <a:extLst>
              <a:ext uri="{FF2B5EF4-FFF2-40B4-BE49-F238E27FC236}">
                <a16:creationId xmlns:a16="http://schemas.microsoft.com/office/drawing/2014/main" id="{8665459D-C324-47E8-A25A-F93EFD004CE0}"/>
              </a:ext>
            </a:extLst>
          </p:cNvPr>
          <p:cNvSpPr txBox="1">
            <a:spLocks/>
          </p:cNvSpPr>
          <p:nvPr/>
        </p:nvSpPr>
        <p:spPr>
          <a:xfrm>
            <a:off x="8965" y="393690"/>
            <a:ext cx="861840" cy="44606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kern="1200" spc="-150">
                <a:solidFill>
                  <a:schemeClr val="tx1">
                    <a:lumMod val="85000"/>
                    <a:lumOff val="15000"/>
                  </a:schemeClr>
                </a:solidFill>
                <a:latin typeface="다음_Regular" panose="02000603060000000000" pitchFamily="2" charset="-127"/>
                <a:ea typeface="다음_Regular" panose="02000603060000000000" pitchFamily="2" charset="-127"/>
                <a:cs typeface="+mj-cs"/>
              </a:defRPr>
            </a:lvl1pPr>
          </a:lstStyle>
          <a:p>
            <a:pPr lvl="0">
              <a:defRPr/>
            </a:pPr>
            <a:r>
              <a:rPr lang="en-US" altLang="ko-KR" sz="2800" spc="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1-4</a:t>
            </a:r>
            <a:endParaRPr lang="ko-KR" altLang="en-US" sz="2000" spc="0" dirty="0">
              <a:solidFill>
                <a:prstClr val="black">
                  <a:lumMod val="85000"/>
                  <a:lumOff val="1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B133345-C92C-40E8-BF3B-D92E22377D6C}"/>
              </a:ext>
            </a:extLst>
          </p:cNvPr>
          <p:cNvSpPr/>
          <p:nvPr/>
        </p:nvSpPr>
        <p:spPr>
          <a:xfrm flipV="1">
            <a:off x="0" y="847230"/>
            <a:ext cx="770282" cy="28800"/>
          </a:xfrm>
          <a:prstGeom prst="rect">
            <a:avLst/>
          </a:prstGeom>
          <a:solidFill>
            <a:srgbClr val="0048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8" name="제목 1">
            <a:extLst>
              <a:ext uri="{FF2B5EF4-FFF2-40B4-BE49-F238E27FC236}">
                <a16:creationId xmlns:a16="http://schemas.microsoft.com/office/drawing/2014/main" id="{8665459D-C324-47E8-A25A-F93EFD004CE0}"/>
              </a:ext>
            </a:extLst>
          </p:cNvPr>
          <p:cNvSpPr txBox="1">
            <a:spLocks/>
          </p:cNvSpPr>
          <p:nvPr/>
        </p:nvSpPr>
        <p:spPr>
          <a:xfrm>
            <a:off x="870805" y="393690"/>
            <a:ext cx="7396700" cy="44606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kern="1200" spc="-150">
                <a:solidFill>
                  <a:schemeClr val="tx1">
                    <a:lumMod val="85000"/>
                    <a:lumOff val="15000"/>
                  </a:schemeClr>
                </a:solidFill>
                <a:latin typeface="다음_Regular" panose="02000603060000000000" pitchFamily="2" charset="-127"/>
                <a:ea typeface="다음_Regular" panose="02000603060000000000" pitchFamily="2" charset="-127"/>
                <a:cs typeface="+mj-cs"/>
              </a:defRPr>
            </a:lvl1pPr>
          </a:lstStyle>
          <a:p>
            <a:pPr lvl="0">
              <a:defRPr/>
            </a:pPr>
            <a:r>
              <a:rPr lang="ko-KR" altLang="en-US" sz="2800" spc="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개발 방식</a:t>
            </a:r>
            <a:endParaRPr lang="ko-KR" altLang="en-US" sz="2000" spc="0" dirty="0">
              <a:solidFill>
                <a:prstClr val="black">
                  <a:lumMod val="85000"/>
                  <a:lumOff val="1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1024658" y="1274687"/>
            <a:ext cx="2384004" cy="1688646"/>
            <a:chOff x="1024658" y="1274687"/>
            <a:chExt cx="2384004" cy="1688646"/>
          </a:xfrm>
        </p:grpSpPr>
        <p:sp>
          <p:nvSpPr>
            <p:cNvPr id="3" name="모서리가 둥근 직사각형 2"/>
            <p:cNvSpPr/>
            <p:nvPr/>
          </p:nvSpPr>
          <p:spPr>
            <a:xfrm>
              <a:off x="1024658" y="1518935"/>
              <a:ext cx="2384004" cy="1444398"/>
            </a:xfrm>
            <a:prstGeom prst="roundRect">
              <a:avLst>
                <a:gd name="adj" fmla="val 10976"/>
              </a:avLst>
            </a:prstGeom>
            <a:solidFill>
              <a:srgbClr val="F7F7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직사각형 33"/>
            <p:cNvSpPr/>
            <p:nvPr/>
          </p:nvSpPr>
          <p:spPr>
            <a:xfrm flipH="1">
              <a:off x="1024660" y="1274687"/>
              <a:ext cx="2384002" cy="536121"/>
            </a:xfrm>
            <a:prstGeom prst="rect">
              <a:avLst/>
            </a:prstGeom>
            <a:solidFill>
              <a:srgbClr val="D5E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77" name="모서리가 둥근 직사각형 76"/>
          <p:cNvSpPr/>
          <p:nvPr/>
        </p:nvSpPr>
        <p:spPr>
          <a:xfrm>
            <a:off x="1024658" y="3207582"/>
            <a:ext cx="5102121" cy="2693686"/>
          </a:xfrm>
          <a:prstGeom prst="roundRect">
            <a:avLst>
              <a:gd name="adj" fmla="val 9404"/>
            </a:avLst>
          </a:prstGeom>
          <a:solidFill>
            <a:srgbClr val="F7F7F7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7" name="그룹 56"/>
          <p:cNvGrpSpPr/>
          <p:nvPr/>
        </p:nvGrpSpPr>
        <p:grpSpPr>
          <a:xfrm>
            <a:off x="3742775" y="1274687"/>
            <a:ext cx="2384004" cy="1688646"/>
            <a:chOff x="1024658" y="1283154"/>
            <a:chExt cx="2384004" cy="1688646"/>
          </a:xfrm>
        </p:grpSpPr>
        <p:sp>
          <p:nvSpPr>
            <p:cNvPr id="58" name="모서리가 둥근 직사각형 57"/>
            <p:cNvSpPr/>
            <p:nvPr/>
          </p:nvSpPr>
          <p:spPr>
            <a:xfrm>
              <a:off x="1024658" y="1527402"/>
              <a:ext cx="2384004" cy="1444398"/>
            </a:xfrm>
            <a:prstGeom prst="roundRect">
              <a:avLst>
                <a:gd name="adj" fmla="val 10976"/>
              </a:avLst>
            </a:prstGeom>
            <a:solidFill>
              <a:srgbClr val="F7F7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" name="직사각형 58"/>
            <p:cNvSpPr/>
            <p:nvPr/>
          </p:nvSpPr>
          <p:spPr>
            <a:xfrm flipH="1">
              <a:off x="1024660" y="1283154"/>
              <a:ext cx="2384002" cy="536121"/>
            </a:xfrm>
            <a:prstGeom prst="rect">
              <a:avLst/>
            </a:prstGeom>
            <a:solidFill>
              <a:srgbClr val="D5E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1245232" y="1389631"/>
              <a:ext cx="1942857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5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범용 </a:t>
              </a:r>
              <a:r>
                <a:rPr lang="en-US" altLang="ko-KR" sz="15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LLM </a:t>
              </a:r>
              <a:r>
                <a:rPr lang="ko-KR" altLang="en-US" sz="1500" b="1" dirty="0" err="1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바이브</a:t>
              </a:r>
              <a:r>
                <a:rPr lang="ko-KR" altLang="en-US" sz="15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코딩</a:t>
              </a:r>
              <a:endParaRPr lang="en-US" altLang="ko-KR" sz="12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61" name="그룹 60"/>
          <p:cNvGrpSpPr/>
          <p:nvPr/>
        </p:nvGrpSpPr>
        <p:grpSpPr>
          <a:xfrm>
            <a:off x="6460892" y="1274687"/>
            <a:ext cx="2384004" cy="1688646"/>
            <a:chOff x="1024658" y="1283154"/>
            <a:chExt cx="2384004" cy="1688646"/>
          </a:xfrm>
        </p:grpSpPr>
        <p:sp>
          <p:nvSpPr>
            <p:cNvPr id="62" name="모서리가 둥근 직사각형 61"/>
            <p:cNvSpPr/>
            <p:nvPr/>
          </p:nvSpPr>
          <p:spPr>
            <a:xfrm>
              <a:off x="1024658" y="1527402"/>
              <a:ext cx="2384004" cy="1444398"/>
            </a:xfrm>
            <a:prstGeom prst="roundRect">
              <a:avLst>
                <a:gd name="adj" fmla="val 10976"/>
              </a:avLst>
            </a:prstGeom>
            <a:solidFill>
              <a:srgbClr val="F7F7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직사각형 62"/>
            <p:cNvSpPr/>
            <p:nvPr/>
          </p:nvSpPr>
          <p:spPr>
            <a:xfrm flipH="1">
              <a:off x="1024660" y="1283154"/>
              <a:ext cx="2384002" cy="536121"/>
            </a:xfrm>
            <a:prstGeom prst="rect">
              <a:avLst/>
            </a:prstGeom>
            <a:solidFill>
              <a:srgbClr val="D5E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1077547" y="1389631"/>
              <a:ext cx="2276972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5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데이터 저장 및 </a:t>
              </a:r>
              <a:r>
                <a:rPr lang="ko-KR" altLang="en-US" sz="1500" b="1" dirty="0" err="1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백엔드</a:t>
              </a:r>
              <a:r>
                <a:rPr lang="ko-KR" altLang="en-US" sz="15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구축</a:t>
              </a:r>
              <a:endParaRPr lang="en-US" altLang="ko-KR" sz="12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69" name="그룹 68"/>
          <p:cNvGrpSpPr/>
          <p:nvPr/>
        </p:nvGrpSpPr>
        <p:grpSpPr>
          <a:xfrm>
            <a:off x="9179009" y="1274687"/>
            <a:ext cx="2384004" cy="1688646"/>
            <a:chOff x="1024658" y="1283154"/>
            <a:chExt cx="2384004" cy="1688646"/>
          </a:xfrm>
        </p:grpSpPr>
        <p:sp>
          <p:nvSpPr>
            <p:cNvPr id="70" name="모서리가 둥근 직사각형 69"/>
            <p:cNvSpPr/>
            <p:nvPr/>
          </p:nvSpPr>
          <p:spPr>
            <a:xfrm>
              <a:off x="1024658" y="1527402"/>
              <a:ext cx="2384004" cy="1444398"/>
            </a:xfrm>
            <a:prstGeom prst="roundRect">
              <a:avLst>
                <a:gd name="adj" fmla="val 10976"/>
              </a:avLst>
            </a:prstGeom>
            <a:solidFill>
              <a:srgbClr val="F7F7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" name="직사각형 70"/>
            <p:cNvSpPr/>
            <p:nvPr/>
          </p:nvSpPr>
          <p:spPr>
            <a:xfrm flipH="1">
              <a:off x="1024660" y="1283154"/>
              <a:ext cx="2384002" cy="536121"/>
            </a:xfrm>
            <a:prstGeom prst="rect">
              <a:avLst/>
            </a:prstGeom>
            <a:solidFill>
              <a:srgbClr val="D5E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1245232" y="1389631"/>
              <a:ext cx="1942857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5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코드 이력 관리</a:t>
              </a:r>
              <a:endParaRPr lang="en-US" altLang="ko-KR" sz="12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1318454" y="3469512"/>
            <a:ext cx="4362679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[</a:t>
            </a:r>
            <a:r>
              <a:rPr lang="ko-KR" altLang="en-US" b="1" dirty="0" err="1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프론트엔드</a:t>
            </a:r>
            <a:r>
              <a:rPr lang="en-US" altLang="ko-KR" b="1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]</a:t>
            </a:r>
            <a:endParaRPr lang="en-US" altLang="ko-KR" dirty="0" smtClean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사용자가 확인할 수 있는 웹 </a:t>
            </a:r>
            <a:r>
              <a:rPr lang="en-US" altLang="ko-KR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HTML </a:t>
            </a:r>
            <a:r>
              <a:rPr lang="ko-KR" altLang="en-US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환경</a:t>
            </a:r>
            <a:endParaRPr lang="en-US" altLang="ko-KR" dirty="0" smtClean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Claude AI</a:t>
            </a:r>
            <a:r>
              <a:rPr lang="ko-KR" altLang="en-US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활용한 </a:t>
            </a:r>
            <a:r>
              <a:rPr lang="ko-KR" altLang="en-US" dirty="0" err="1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바이브</a:t>
            </a:r>
            <a:r>
              <a:rPr lang="ko-KR" altLang="en-US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코딩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  · Web </a:t>
            </a:r>
            <a:r>
              <a:rPr lang="ko-KR" altLang="en-US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기반 대화 기능</a:t>
            </a:r>
            <a:endParaRPr lang="en-US" altLang="ko-KR" dirty="0" smtClean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  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· </a:t>
            </a:r>
            <a:r>
              <a:rPr lang="en-US" altLang="ko-KR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Claude Code </a:t>
            </a:r>
            <a:r>
              <a:rPr lang="ko-KR" altLang="en-US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기반 코딩 자동화</a:t>
            </a:r>
            <a:endParaRPr lang="en-US" altLang="ko-KR" dirty="0" smtClean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79" name="모서리가 둥근 직사각형 78"/>
          <p:cNvSpPr/>
          <p:nvPr/>
        </p:nvSpPr>
        <p:spPr>
          <a:xfrm>
            <a:off x="6460892" y="3207581"/>
            <a:ext cx="5102121" cy="2693686"/>
          </a:xfrm>
          <a:prstGeom prst="roundRect">
            <a:avLst>
              <a:gd name="adj" fmla="val 9404"/>
            </a:avLst>
          </a:prstGeom>
          <a:solidFill>
            <a:srgbClr val="F7F7F7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/>
          <p:cNvSpPr txBox="1"/>
          <p:nvPr/>
        </p:nvSpPr>
        <p:spPr>
          <a:xfrm>
            <a:off x="6754689" y="3469512"/>
            <a:ext cx="472490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[</a:t>
            </a:r>
            <a:r>
              <a:rPr lang="ko-KR" altLang="en-US" b="1" dirty="0" err="1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백엔드</a:t>
            </a:r>
            <a:r>
              <a:rPr lang="en-US" altLang="ko-KR" b="1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]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데이터 처리</a:t>
            </a:r>
            <a:r>
              <a:rPr lang="en-US" altLang="ko-KR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로그인 및 권한 등 인증 </a:t>
            </a:r>
            <a:r>
              <a:rPr lang="ko-KR" altLang="en-US" dirty="0" err="1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로직</a:t>
            </a:r>
            <a:endParaRPr lang="en-US" altLang="ko-KR" dirty="0" smtClean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dirty="0" err="1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Supabase</a:t>
            </a:r>
            <a:r>
              <a:rPr lang="en-US" altLang="ko-KR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데이터베이스 구축하여</a:t>
            </a:r>
            <a:endParaRPr lang="en-US" altLang="ko-KR" dirty="0" smtClean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   </a:t>
            </a:r>
            <a:r>
              <a:rPr lang="ko-KR" altLang="en-US" dirty="0" err="1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프론트엔드와</a:t>
            </a:r>
            <a:r>
              <a:rPr lang="ko-KR" altLang="en-US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통신</a:t>
            </a:r>
            <a:endParaRPr lang="en-US" altLang="ko-KR" dirty="0" smtClean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1130437" y="1381164"/>
            <a:ext cx="217244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워크플로우</a:t>
            </a:r>
            <a:r>
              <a:rPr lang="ko-KR" altLang="en-US" sz="15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제작 및 자동화</a:t>
            </a:r>
            <a:endParaRPr lang="en-US" altLang="ko-KR" sz="15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94" name="그림 9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1010" y="2031074"/>
            <a:ext cx="1800000" cy="667200"/>
          </a:xfrm>
          <a:prstGeom prst="rect">
            <a:avLst/>
          </a:prstGeom>
        </p:spPr>
      </p:pic>
      <p:pic>
        <p:nvPicPr>
          <p:cNvPr id="96" name="그림 9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2893" y="2189996"/>
            <a:ext cx="1800000" cy="349886"/>
          </a:xfrm>
          <a:prstGeom prst="rect">
            <a:avLst/>
          </a:prstGeom>
        </p:spPr>
      </p:pic>
      <p:pic>
        <p:nvPicPr>
          <p:cNvPr id="97" name="그림 9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4777" y="2171580"/>
            <a:ext cx="1800000" cy="386719"/>
          </a:xfrm>
          <a:prstGeom prst="rect">
            <a:avLst/>
          </a:prstGeom>
        </p:spPr>
      </p:pic>
      <p:pic>
        <p:nvPicPr>
          <p:cNvPr id="99" name="그림 9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7084" y="2113574"/>
            <a:ext cx="1800000" cy="50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020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>
            <a:extLst>
              <a:ext uri="{FF2B5EF4-FFF2-40B4-BE49-F238E27FC236}">
                <a16:creationId xmlns:a16="http://schemas.microsoft.com/office/drawing/2014/main" id="{8665459D-C324-47E8-A25A-F93EFD004CE0}"/>
              </a:ext>
            </a:extLst>
          </p:cNvPr>
          <p:cNvSpPr txBox="1">
            <a:spLocks/>
          </p:cNvSpPr>
          <p:nvPr/>
        </p:nvSpPr>
        <p:spPr>
          <a:xfrm>
            <a:off x="0" y="2456405"/>
            <a:ext cx="12192000" cy="1453215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kern="1200" spc="-150">
                <a:solidFill>
                  <a:schemeClr val="tx1">
                    <a:lumMod val="85000"/>
                    <a:lumOff val="15000"/>
                  </a:schemeClr>
                </a:solidFill>
                <a:latin typeface="다음_Regular" panose="02000603060000000000" pitchFamily="2" charset="-127"/>
                <a:ea typeface="다음_Regular" panose="02000603060000000000" pitchFamily="2" charset="-127"/>
                <a:cs typeface="+mj-cs"/>
              </a:defRPr>
            </a:lvl1pPr>
          </a:lstStyle>
          <a:p>
            <a:pPr lvl="0" algn="ctr">
              <a:defRPr/>
            </a:pPr>
            <a:r>
              <a:rPr lang="en-US" altLang="ko-KR" spc="0" dirty="0" smtClean="0">
                <a:solidFill>
                  <a:srgbClr val="1F2A44"/>
                </a:solidFill>
                <a:latin typeface="+mj-lt"/>
                <a:ea typeface="+mj-ea"/>
                <a:cs typeface="KoPubWorld돋움체 Bold" panose="00000800000000000000" pitchFamily="2" charset="-127"/>
              </a:rPr>
              <a:t>2. </a:t>
            </a:r>
            <a:r>
              <a:rPr lang="ko-KR" altLang="en-US" spc="0" dirty="0" smtClean="0">
                <a:solidFill>
                  <a:srgbClr val="1F2A44"/>
                </a:solidFill>
                <a:latin typeface="+mj-lt"/>
                <a:ea typeface="+mj-ea"/>
                <a:cs typeface="KoPubWorld돋움체 Bold" panose="00000800000000000000" pitchFamily="2" charset="-127"/>
              </a:rPr>
              <a:t>운영 결과</a:t>
            </a:r>
            <a:endParaRPr lang="ko-KR" altLang="en-US" spc="0" dirty="0">
              <a:solidFill>
                <a:srgbClr val="1F2A44"/>
              </a:solidFill>
              <a:latin typeface="+mj-lt"/>
              <a:ea typeface="+mj-ea"/>
              <a:cs typeface="KoPubWorld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90257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그룹 33"/>
          <p:cNvGrpSpPr/>
          <p:nvPr/>
        </p:nvGrpSpPr>
        <p:grpSpPr>
          <a:xfrm>
            <a:off x="626055" y="5524380"/>
            <a:ext cx="10637689" cy="709457"/>
            <a:chOff x="1014151" y="1699951"/>
            <a:chExt cx="22251814" cy="1859499"/>
          </a:xfrm>
        </p:grpSpPr>
        <p:sp>
          <p:nvSpPr>
            <p:cNvPr id="35" name="직사각형 34"/>
            <p:cNvSpPr/>
            <p:nvPr/>
          </p:nvSpPr>
          <p:spPr>
            <a:xfrm>
              <a:off x="1014151" y="1704108"/>
              <a:ext cx="22251814" cy="1855342"/>
            </a:xfrm>
            <a:prstGeom prst="rect">
              <a:avLst/>
            </a:prstGeom>
            <a:solidFill>
              <a:srgbClr val="F7F7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직사각형 35"/>
            <p:cNvSpPr/>
            <p:nvPr/>
          </p:nvSpPr>
          <p:spPr>
            <a:xfrm flipH="1">
              <a:off x="1059866" y="1699951"/>
              <a:ext cx="130853" cy="1855343"/>
            </a:xfrm>
            <a:prstGeom prst="rect">
              <a:avLst/>
            </a:prstGeom>
            <a:solidFill>
              <a:srgbClr val="0048D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7" name="제목 1">
            <a:extLst>
              <a:ext uri="{FF2B5EF4-FFF2-40B4-BE49-F238E27FC236}">
                <a16:creationId xmlns:a16="http://schemas.microsoft.com/office/drawing/2014/main" id="{8665459D-C324-47E8-A25A-F93EFD004CE0}"/>
              </a:ext>
            </a:extLst>
          </p:cNvPr>
          <p:cNvSpPr txBox="1">
            <a:spLocks/>
          </p:cNvSpPr>
          <p:nvPr/>
        </p:nvSpPr>
        <p:spPr>
          <a:xfrm>
            <a:off x="8965" y="393690"/>
            <a:ext cx="861840" cy="44606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kern="1200" spc="-150">
                <a:solidFill>
                  <a:schemeClr val="tx1">
                    <a:lumMod val="85000"/>
                    <a:lumOff val="15000"/>
                  </a:schemeClr>
                </a:solidFill>
                <a:latin typeface="다음_Regular" panose="02000603060000000000" pitchFamily="2" charset="-127"/>
                <a:ea typeface="다음_Regular" panose="02000603060000000000" pitchFamily="2" charset="-127"/>
                <a:cs typeface="+mj-cs"/>
              </a:defRPr>
            </a:lvl1pPr>
          </a:lstStyle>
          <a:p>
            <a:pPr lvl="0">
              <a:defRPr/>
            </a:pPr>
            <a:r>
              <a:rPr lang="en-US" altLang="ko-KR" sz="2800" spc="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2-1</a:t>
            </a:r>
            <a:endParaRPr lang="ko-KR" altLang="en-US" sz="2000" spc="0" dirty="0">
              <a:solidFill>
                <a:prstClr val="black">
                  <a:lumMod val="85000"/>
                  <a:lumOff val="1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B133345-C92C-40E8-BF3B-D92E22377D6C}"/>
              </a:ext>
            </a:extLst>
          </p:cNvPr>
          <p:cNvSpPr/>
          <p:nvPr/>
        </p:nvSpPr>
        <p:spPr>
          <a:xfrm flipV="1">
            <a:off x="0" y="847230"/>
            <a:ext cx="770282" cy="28800"/>
          </a:xfrm>
          <a:prstGeom prst="rect">
            <a:avLst/>
          </a:prstGeom>
          <a:solidFill>
            <a:srgbClr val="0048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8" name="제목 1">
            <a:extLst>
              <a:ext uri="{FF2B5EF4-FFF2-40B4-BE49-F238E27FC236}">
                <a16:creationId xmlns:a16="http://schemas.microsoft.com/office/drawing/2014/main" id="{8665459D-C324-47E8-A25A-F93EFD004CE0}"/>
              </a:ext>
            </a:extLst>
          </p:cNvPr>
          <p:cNvSpPr txBox="1">
            <a:spLocks/>
          </p:cNvSpPr>
          <p:nvPr/>
        </p:nvSpPr>
        <p:spPr>
          <a:xfrm>
            <a:off x="870805" y="393690"/>
            <a:ext cx="7396700" cy="44606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kern="1200" spc="-150">
                <a:solidFill>
                  <a:schemeClr val="tx1">
                    <a:lumMod val="85000"/>
                    <a:lumOff val="15000"/>
                  </a:schemeClr>
                </a:solidFill>
                <a:latin typeface="다음_Regular" panose="02000603060000000000" pitchFamily="2" charset="-127"/>
                <a:ea typeface="다음_Regular" panose="02000603060000000000" pitchFamily="2" charset="-127"/>
                <a:cs typeface="+mj-cs"/>
              </a:defRPr>
            </a:lvl1pPr>
          </a:lstStyle>
          <a:p>
            <a:pPr lvl="0">
              <a:defRPr/>
            </a:pPr>
            <a:r>
              <a:rPr lang="ko-KR" altLang="en-US" sz="2800" spc="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핵심 기능</a:t>
            </a:r>
            <a:endParaRPr lang="ko-KR" altLang="en-US" sz="2000" spc="0" dirty="0">
              <a:solidFill>
                <a:prstClr val="black">
                  <a:lumMod val="85000"/>
                  <a:lumOff val="1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21" name="SK-10-img-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8361" y="1263536"/>
            <a:ext cx="3115384" cy="377397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351422" y="1863860"/>
            <a:ext cx="256318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핵심 키워드 </a:t>
            </a:r>
            <a:r>
              <a:rPr lang="en-US" altLang="ko-KR" sz="1400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+ </a:t>
            </a:r>
            <a:r>
              <a:rPr lang="ko-KR" altLang="en-US" sz="1400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확장 키워드 체계로</a:t>
            </a:r>
            <a:endParaRPr lang="en-US" altLang="ko-KR" sz="1400" dirty="0" smtClean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검색 폭 확보</a:t>
            </a:r>
            <a:endParaRPr lang="en-US" altLang="ko-KR" sz="1400" dirty="0" smtClean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581996" y="2879682"/>
            <a:ext cx="208766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1. </a:t>
            </a:r>
            <a:r>
              <a:rPr lang="ko-KR" altLang="en-US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키워드 </a:t>
            </a:r>
            <a:r>
              <a:rPr lang="ko-KR" altLang="en-US" sz="1400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검색</a:t>
            </a:r>
            <a:endParaRPr lang="en-US" altLang="ko-KR" sz="1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581995" y="3344367"/>
            <a:ext cx="208766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2</a:t>
            </a:r>
            <a:r>
              <a:rPr lang="en-US" altLang="ko-KR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 </a:t>
            </a:r>
            <a:r>
              <a:rPr lang="ko-KR" altLang="en-US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관련 기사 </a:t>
            </a:r>
            <a:r>
              <a:rPr lang="en-US" altLang="ko-KR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AI </a:t>
            </a:r>
            <a:r>
              <a:rPr lang="ko-KR" altLang="en-US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자동 </a:t>
            </a:r>
            <a:r>
              <a:rPr lang="ko-KR" altLang="en-US" sz="1400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선별</a:t>
            </a:r>
            <a:endParaRPr lang="en-US" altLang="ko-KR" sz="1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581995" y="3809051"/>
            <a:ext cx="2087666" cy="378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3. AI </a:t>
            </a:r>
            <a:r>
              <a:rPr lang="ko-KR" altLang="en-US" sz="1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인사이트</a:t>
            </a:r>
            <a:r>
              <a:rPr lang="ko-KR" altLang="en-US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리포트 제작</a:t>
            </a:r>
            <a:endParaRPr lang="en-US" altLang="ko-KR" sz="1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grpSp>
        <p:nvGrpSpPr>
          <p:cNvPr id="30" name="그룹 29"/>
          <p:cNvGrpSpPr/>
          <p:nvPr/>
        </p:nvGrpSpPr>
        <p:grpSpPr>
          <a:xfrm>
            <a:off x="8351422" y="1497564"/>
            <a:ext cx="1424345" cy="296298"/>
            <a:chOff x="7570026" y="1968157"/>
            <a:chExt cx="1512961" cy="296298"/>
          </a:xfrm>
        </p:grpSpPr>
        <p:pic>
          <p:nvPicPr>
            <p:cNvPr id="31" name="SK-10-img-5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70026" y="1968157"/>
              <a:ext cx="1512961" cy="296298"/>
            </a:xfrm>
            <a:prstGeom prst="rect">
              <a:avLst/>
            </a:prstGeom>
          </p:spPr>
        </p:pic>
        <p:sp>
          <p:nvSpPr>
            <p:cNvPr id="32" name="SK-10-text-26"/>
            <p:cNvSpPr/>
            <p:nvPr/>
          </p:nvSpPr>
          <p:spPr>
            <a:xfrm>
              <a:off x="7640579" y="1978194"/>
              <a:ext cx="1371855" cy="276225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575"/>
                </a:lnSpc>
                <a:buNone/>
              </a:pPr>
              <a:r>
                <a:rPr lang="ko-KR" altLang="en-US" sz="1200" b="1" dirty="0" smtClean="0">
                  <a:solidFill>
                    <a:srgbClr val="003366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리서치 허브</a:t>
              </a:r>
              <a:endParaRPr 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1031985" y="5724426"/>
            <a:ext cx="92883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각 키워드는 정보조사분석 담당자를 중심으로 </a:t>
            </a:r>
            <a:r>
              <a:rPr lang="en-US" altLang="ko-KR" sz="1400" dirty="0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400" dirty="0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 선정한 후</a:t>
            </a:r>
            <a:r>
              <a:rPr lang="en-US" altLang="ko-KR" sz="1400" dirty="0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400" dirty="0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각 센터장의 </a:t>
            </a:r>
            <a:r>
              <a:rPr lang="en-US" altLang="ko-KR" sz="1400" dirty="0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400" dirty="0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 검토 하에 최종 선정되었음</a:t>
            </a:r>
            <a:endParaRPr lang="en-US" altLang="ko-KR" sz="1400" dirty="0" smtClean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056" y="1263536"/>
            <a:ext cx="7370385" cy="377397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9" name="Image 2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971" y="5802115"/>
            <a:ext cx="190500" cy="1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781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제목 1">
            <a:extLst>
              <a:ext uri="{FF2B5EF4-FFF2-40B4-BE49-F238E27FC236}">
                <a16:creationId xmlns:a16="http://schemas.microsoft.com/office/drawing/2014/main" id="{8665459D-C324-47E8-A25A-F93EFD004CE0}"/>
              </a:ext>
            </a:extLst>
          </p:cNvPr>
          <p:cNvSpPr txBox="1">
            <a:spLocks/>
          </p:cNvSpPr>
          <p:nvPr/>
        </p:nvSpPr>
        <p:spPr>
          <a:xfrm>
            <a:off x="8965" y="393690"/>
            <a:ext cx="861840" cy="44606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kern="1200" spc="-150">
                <a:solidFill>
                  <a:schemeClr val="tx1">
                    <a:lumMod val="85000"/>
                    <a:lumOff val="15000"/>
                  </a:schemeClr>
                </a:solidFill>
                <a:latin typeface="다음_Regular" panose="02000603060000000000" pitchFamily="2" charset="-127"/>
                <a:ea typeface="다음_Regular" panose="02000603060000000000" pitchFamily="2" charset="-127"/>
                <a:cs typeface="+mj-cs"/>
              </a:defRPr>
            </a:lvl1pPr>
          </a:lstStyle>
          <a:p>
            <a:pPr lvl="0">
              <a:defRPr/>
            </a:pPr>
            <a:r>
              <a:rPr lang="en-US" altLang="ko-KR" sz="2800" spc="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2-1</a:t>
            </a:r>
            <a:endParaRPr lang="ko-KR" altLang="en-US" sz="2000" spc="0" dirty="0">
              <a:solidFill>
                <a:prstClr val="black">
                  <a:lumMod val="85000"/>
                  <a:lumOff val="1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B133345-C92C-40E8-BF3B-D92E22377D6C}"/>
              </a:ext>
            </a:extLst>
          </p:cNvPr>
          <p:cNvSpPr/>
          <p:nvPr/>
        </p:nvSpPr>
        <p:spPr>
          <a:xfrm flipV="1">
            <a:off x="0" y="847230"/>
            <a:ext cx="770282" cy="28800"/>
          </a:xfrm>
          <a:prstGeom prst="rect">
            <a:avLst/>
          </a:prstGeom>
          <a:solidFill>
            <a:srgbClr val="0048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8" name="제목 1">
            <a:extLst>
              <a:ext uri="{FF2B5EF4-FFF2-40B4-BE49-F238E27FC236}">
                <a16:creationId xmlns:a16="http://schemas.microsoft.com/office/drawing/2014/main" id="{8665459D-C324-47E8-A25A-F93EFD004CE0}"/>
              </a:ext>
            </a:extLst>
          </p:cNvPr>
          <p:cNvSpPr txBox="1">
            <a:spLocks/>
          </p:cNvSpPr>
          <p:nvPr/>
        </p:nvSpPr>
        <p:spPr>
          <a:xfrm>
            <a:off x="870805" y="393690"/>
            <a:ext cx="7396700" cy="44606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kern="1200" spc="-150">
                <a:solidFill>
                  <a:schemeClr val="tx1">
                    <a:lumMod val="85000"/>
                    <a:lumOff val="15000"/>
                  </a:schemeClr>
                </a:solidFill>
                <a:latin typeface="다음_Regular" panose="02000603060000000000" pitchFamily="2" charset="-127"/>
                <a:ea typeface="다음_Regular" panose="02000603060000000000" pitchFamily="2" charset="-127"/>
                <a:cs typeface="+mj-cs"/>
              </a:defRPr>
            </a:lvl1pPr>
          </a:lstStyle>
          <a:p>
            <a:pPr lvl="0">
              <a:defRPr/>
            </a:pPr>
            <a:r>
              <a:rPr lang="ko-KR" altLang="en-US" sz="2800" spc="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핵심 기능</a:t>
            </a:r>
            <a:endParaRPr lang="ko-KR" altLang="en-US" sz="2000" spc="0" dirty="0">
              <a:solidFill>
                <a:prstClr val="black">
                  <a:lumMod val="85000"/>
                  <a:lumOff val="1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40" name="그림 3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437" y="1263536"/>
            <a:ext cx="7369200" cy="376055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41" name="그룹 40"/>
          <p:cNvGrpSpPr/>
          <p:nvPr/>
        </p:nvGrpSpPr>
        <p:grpSpPr>
          <a:xfrm>
            <a:off x="626055" y="5524380"/>
            <a:ext cx="10637689" cy="709457"/>
            <a:chOff x="1014151" y="1699951"/>
            <a:chExt cx="22251814" cy="1859499"/>
          </a:xfrm>
        </p:grpSpPr>
        <p:sp>
          <p:nvSpPr>
            <p:cNvPr id="42" name="직사각형 41"/>
            <p:cNvSpPr/>
            <p:nvPr/>
          </p:nvSpPr>
          <p:spPr>
            <a:xfrm>
              <a:off x="1014151" y="1704108"/>
              <a:ext cx="22251814" cy="1855342"/>
            </a:xfrm>
            <a:prstGeom prst="rect">
              <a:avLst/>
            </a:prstGeom>
            <a:solidFill>
              <a:srgbClr val="F7F7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직사각형 42"/>
            <p:cNvSpPr/>
            <p:nvPr/>
          </p:nvSpPr>
          <p:spPr>
            <a:xfrm flipH="1">
              <a:off x="1059866" y="1699951"/>
              <a:ext cx="130853" cy="1855343"/>
            </a:xfrm>
            <a:prstGeom prst="rect">
              <a:avLst/>
            </a:prstGeom>
            <a:solidFill>
              <a:srgbClr val="0048D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6" name="TextBox 45"/>
          <p:cNvSpPr txBox="1"/>
          <p:nvPr/>
        </p:nvSpPr>
        <p:spPr>
          <a:xfrm>
            <a:off x="1031985" y="5634347"/>
            <a:ext cx="92883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네이버 뉴스 검색 </a:t>
            </a:r>
            <a:r>
              <a:rPr lang="en-US" altLang="ko-KR" sz="1400" dirty="0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API, </a:t>
            </a:r>
            <a:r>
              <a:rPr lang="ko-KR" altLang="en-US" sz="1400" dirty="0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구글 검색 </a:t>
            </a:r>
            <a:r>
              <a:rPr lang="en-US" altLang="ko-KR" sz="1400" dirty="0" err="1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Serper</a:t>
            </a:r>
            <a:r>
              <a:rPr lang="en-US" altLang="ko-KR" sz="1400" dirty="0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API</a:t>
            </a:r>
            <a:r>
              <a:rPr lang="ko-KR" altLang="en-US" sz="1400" dirty="0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 활용한 뉴스 </a:t>
            </a:r>
            <a:r>
              <a:rPr lang="ko-KR" altLang="en-US" sz="1400" dirty="0" err="1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크롤링</a:t>
            </a:r>
            <a:r>
              <a:rPr lang="ko-KR" altLang="en-US" sz="1400" dirty="0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실시</a:t>
            </a:r>
            <a:endParaRPr lang="en-US" altLang="ko-KR" sz="1400" dirty="0" smtClean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lang="ko-KR" altLang="en-US" sz="1400" dirty="0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→ </a:t>
            </a:r>
            <a:r>
              <a:rPr lang="en-US" altLang="ko-KR" sz="1400" dirty="0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LLM API</a:t>
            </a:r>
            <a:r>
              <a:rPr lang="ko-KR" altLang="en-US" sz="1400" dirty="0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 활용하여 중복 뉴스 기사 제거</a:t>
            </a:r>
            <a:r>
              <a:rPr lang="en-US" altLang="ko-KR" sz="1400" dirty="0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400" dirty="0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적합한 뉴스 기사 </a:t>
            </a:r>
            <a:r>
              <a:rPr lang="en-US" altLang="ko-KR" sz="1400" dirty="0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</a:t>
            </a:r>
            <a:r>
              <a:rPr lang="ko-KR" altLang="en-US" sz="1400" dirty="0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 추출</a:t>
            </a:r>
            <a:endParaRPr lang="en-US" altLang="ko-KR" sz="1400" dirty="0" smtClean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47" name="Image 2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971" y="5703593"/>
            <a:ext cx="190500" cy="1524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7331126" y="5630130"/>
            <a:ext cx="34874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solidFill>
                  <a:srgbClr val="0048D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LLM </a:t>
            </a:r>
            <a:r>
              <a:rPr lang="ko-KR" altLang="en-US" sz="1200" dirty="0" err="1">
                <a:solidFill>
                  <a:srgbClr val="0048D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오케스트레이터</a:t>
            </a:r>
            <a:r>
              <a:rPr lang="ko-KR" altLang="en-US" sz="1200" dirty="0">
                <a:solidFill>
                  <a:srgbClr val="0048D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>
                <a:solidFill>
                  <a:srgbClr val="0048D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API : Gemini 3.1 Flash </a:t>
            </a:r>
            <a:r>
              <a:rPr lang="en-US" altLang="ko-KR" sz="1200" dirty="0" smtClean="0">
                <a:solidFill>
                  <a:srgbClr val="0048D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Lite</a:t>
            </a:r>
          </a:p>
          <a:p>
            <a:r>
              <a:rPr lang="en-US" altLang="ko-KR" sz="1200" dirty="0" smtClean="0">
                <a:solidFill>
                  <a:srgbClr val="0048D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*</a:t>
            </a:r>
            <a:r>
              <a:rPr lang="ko-KR" altLang="en-US" sz="1200" dirty="0" err="1" smtClean="0">
                <a:solidFill>
                  <a:srgbClr val="0048D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경량형</a:t>
            </a:r>
            <a:r>
              <a:rPr lang="ko-KR" altLang="en-US" sz="1200" dirty="0" smtClean="0">
                <a:solidFill>
                  <a:srgbClr val="0048D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smtClean="0">
                <a:solidFill>
                  <a:srgbClr val="0048D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AI </a:t>
            </a:r>
            <a:r>
              <a:rPr lang="ko-KR" altLang="en-US" sz="1200" dirty="0" smtClean="0">
                <a:solidFill>
                  <a:srgbClr val="0048D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모델로서</a:t>
            </a:r>
            <a:r>
              <a:rPr lang="en-US" altLang="ko-KR" sz="1200" dirty="0" smtClean="0">
                <a:solidFill>
                  <a:srgbClr val="0048D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200" dirty="0" smtClean="0">
                <a:solidFill>
                  <a:srgbClr val="0048D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심층 추론에 한계 명확</a:t>
            </a:r>
            <a:r>
              <a:rPr lang="en-US" altLang="ko-KR" sz="1200" dirty="0" smtClean="0">
                <a:solidFill>
                  <a:srgbClr val="0048D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200" dirty="0">
              <a:solidFill>
                <a:srgbClr val="0048D7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49" name="그림 48"/>
          <p:cNvPicPr>
            <a:picLocks noChangeAspect="1"/>
          </p:cNvPicPr>
          <p:nvPr/>
        </p:nvPicPr>
        <p:blipFill rotWithShape="1"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51110" b="55821" l="43270" r="46289">
                        <a14:foregroundMark x1="44940" y1="55273" x2="44940" y2="5527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2893" t="50521" r="53334" b="43590"/>
          <a:stretch/>
        </p:blipFill>
        <p:spPr>
          <a:xfrm>
            <a:off x="7135596" y="5689793"/>
            <a:ext cx="163019" cy="180000"/>
          </a:xfrm>
          <a:prstGeom prst="rect">
            <a:avLst/>
          </a:prstGeom>
        </p:spPr>
      </p:pic>
      <p:pic>
        <p:nvPicPr>
          <p:cNvPr id="57" name="SK-10-img-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48361" y="1263536"/>
            <a:ext cx="3115384" cy="3773978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8351422" y="1863860"/>
            <a:ext cx="256318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핵심 키워드 </a:t>
            </a:r>
            <a:r>
              <a:rPr lang="en-US" altLang="ko-KR" sz="1400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+ </a:t>
            </a:r>
            <a:r>
              <a:rPr lang="ko-KR" altLang="en-US" sz="1400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확장 키워드 체계로</a:t>
            </a:r>
            <a:endParaRPr lang="en-US" altLang="ko-KR" sz="1400" dirty="0" smtClean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검색 폭 확보</a:t>
            </a:r>
            <a:endParaRPr lang="en-US" altLang="ko-KR" sz="1400" dirty="0" smtClean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8581996" y="2879682"/>
            <a:ext cx="208766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1. </a:t>
            </a:r>
            <a:r>
              <a:rPr lang="ko-KR" altLang="en-US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키워드 </a:t>
            </a:r>
            <a:r>
              <a:rPr lang="ko-KR" altLang="en-US" sz="1400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검색</a:t>
            </a:r>
            <a:endParaRPr lang="en-US" altLang="ko-KR" sz="1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8581995" y="3344367"/>
            <a:ext cx="208766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2</a:t>
            </a:r>
            <a:r>
              <a:rPr lang="en-US" altLang="ko-KR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 </a:t>
            </a:r>
            <a:r>
              <a:rPr lang="ko-KR" altLang="en-US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관련 기사 </a:t>
            </a:r>
            <a:r>
              <a:rPr lang="en-US" altLang="ko-KR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AI </a:t>
            </a:r>
            <a:r>
              <a:rPr lang="ko-KR" altLang="en-US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자동 </a:t>
            </a:r>
            <a:r>
              <a:rPr lang="ko-KR" altLang="en-US" sz="1400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선별</a:t>
            </a:r>
            <a:endParaRPr lang="en-US" altLang="ko-KR" sz="1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8581995" y="3809051"/>
            <a:ext cx="2087666" cy="378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3. AI </a:t>
            </a:r>
            <a:r>
              <a:rPr lang="ko-KR" altLang="en-US" sz="1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인사이트</a:t>
            </a:r>
            <a:r>
              <a:rPr lang="ko-KR" altLang="en-US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리포트 제작</a:t>
            </a:r>
            <a:endParaRPr lang="en-US" altLang="ko-KR" sz="1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grpSp>
        <p:nvGrpSpPr>
          <p:cNvPr id="62" name="그룹 61"/>
          <p:cNvGrpSpPr/>
          <p:nvPr/>
        </p:nvGrpSpPr>
        <p:grpSpPr>
          <a:xfrm>
            <a:off x="8351422" y="1497564"/>
            <a:ext cx="1424345" cy="296298"/>
            <a:chOff x="7570026" y="1968157"/>
            <a:chExt cx="1512961" cy="296298"/>
          </a:xfrm>
        </p:grpSpPr>
        <p:pic>
          <p:nvPicPr>
            <p:cNvPr id="63" name="SK-10-img-5" descr="preencoded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570026" y="1968157"/>
              <a:ext cx="1512961" cy="296298"/>
            </a:xfrm>
            <a:prstGeom prst="rect">
              <a:avLst/>
            </a:prstGeom>
          </p:spPr>
        </p:pic>
        <p:sp>
          <p:nvSpPr>
            <p:cNvPr id="64" name="SK-10-text-26"/>
            <p:cNvSpPr/>
            <p:nvPr/>
          </p:nvSpPr>
          <p:spPr>
            <a:xfrm>
              <a:off x="7640579" y="1978194"/>
              <a:ext cx="1371855" cy="276225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575"/>
                </a:lnSpc>
                <a:buNone/>
              </a:pPr>
              <a:r>
                <a:rPr lang="ko-KR" altLang="en-US" sz="1200" b="1" dirty="0" smtClean="0">
                  <a:solidFill>
                    <a:srgbClr val="003366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리서치 허브</a:t>
              </a:r>
              <a:endParaRPr 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03008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제목 1">
            <a:extLst>
              <a:ext uri="{FF2B5EF4-FFF2-40B4-BE49-F238E27FC236}">
                <a16:creationId xmlns:a16="http://schemas.microsoft.com/office/drawing/2014/main" id="{8665459D-C324-47E8-A25A-F93EFD004CE0}"/>
              </a:ext>
            </a:extLst>
          </p:cNvPr>
          <p:cNvSpPr txBox="1">
            <a:spLocks/>
          </p:cNvSpPr>
          <p:nvPr/>
        </p:nvSpPr>
        <p:spPr>
          <a:xfrm>
            <a:off x="8965" y="393690"/>
            <a:ext cx="861840" cy="44606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kern="1200" spc="-150">
                <a:solidFill>
                  <a:schemeClr val="tx1">
                    <a:lumMod val="85000"/>
                    <a:lumOff val="15000"/>
                  </a:schemeClr>
                </a:solidFill>
                <a:latin typeface="다음_Regular" panose="02000603060000000000" pitchFamily="2" charset="-127"/>
                <a:ea typeface="다음_Regular" panose="02000603060000000000" pitchFamily="2" charset="-127"/>
                <a:cs typeface="+mj-cs"/>
              </a:defRPr>
            </a:lvl1pPr>
          </a:lstStyle>
          <a:p>
            <a:pPr lvl="0">
              <a:defRPr/>
            </a:pPr>
            <a:r>
              <a:rPr lang="en-US" altLang="ko-KR" sz="2800" spc="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2-1</a:t>
            </a:r>
            <a:endParaRPr lang="ko-KR" altLang="en-US" sz="2000" spc="0" dirty="0">
              <a:solidFill>
                <a:prstClr val="black">
                  <a:lumMod val="85000"/>
                  <a:lumOff val="1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B133345-C92C-40E8-BF3B-D92E22377D6C}"/>
              </a:ext>
            </a:extLst>
          </p:cNvPr>
          <p:cNvSpPr/>
          <p:nvPr/>
        </p:nvSpPr>
        <p:spPr>
          <a:xfrm flipV="1">
            <a:off x="0" y="847230"/>
            <a:ext cx="770282" cy="28800"/>
          </a:xfrm>
          <a:prstGeom prst="rect">
            <a:avLst/>
          </a:prstGeom>
          <a:solidFill>
            <a:srgbClr val="0048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8" name="제목 1">
            <a:extLst>
              <a:ext uri="{FF2B5EF4-FFF2-40B4-BE49-F238E27FC236}">
                <a16:creationId xmlns:a16="http://schemas.microsoft.com/office/drawing/2014/main" id="{8665459D-C324-47E8-A25A-F93EFD004CE0}"/>
              </a:ext>
            </a:extLst>
          </p:cNvPr>
          <p:cNvSpPr txBox="1">
            <a:spLocks/>
          </p:cNvSpPr>
          <p:nvPr/>
        </p:nvSpPr>
        <p:spPr>
          <a:xfrm>
            <a:off x="870805" y="393690"/>
            <a:ext cx="7396700" cy="44606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kern="1200" spc="-150">
                <a:solidFill>
                  <a:schemeClr val="tx1">
                    <a:lumMod val="85000"/>
                    <a:lumOff val="15000"/>
                  </a:schemeClr>
                </a:solidFill>
                <a:latin typeface="다음_Regular" panose="02000603060000000000" pitchFamily="2" charset="-127"/>
                <a:ea typeface="다음_Regular" panose="02000603060000000000" pitchFamily="2" charset="-127"/>
                <a:cs typeface="+mj-cs"/>
              </a:defRPr>
            </a:lvl1pPr>
          </a:lstStyle>
          <a:p>
            <a:pPr lvl="0">
              <a:defRPr/>
            </a:pPr>
            <a:r>
              <a:rPr lang="ko-KR" altLang="en-US" sz="2800" spc="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핵심 기능</a:t>
            </a:r>
            <a:endParaRPr lang="ko-KR" altLang="en-US" sz="2000" spc="0" dirty="0">
              <a:solidFill>
                <a:prstClr val="black">
                  <a:lumMod val="85000"/>
                  <a:lumOff val="1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38" name="그림 3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909" y="1264871"/>
            <a:ext cx="7369200" cy="376198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9" name="SK-10-img-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8361" y="1263536"/>
            <a:ext cx="3115384" cy="3773978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351422" y="1863860"/>
            <a:ext cx="256318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핵심 키워드 </a:t>
            </a:r>
            <a:r>
              <a:rPr lang="en-US" altLang="ko-KR" sz="1400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+ </a:t>
            </a:r>
            <a:r>
              <a:rPr lang="ko-KR" altLang="en-US" sz="1400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확장 키워드 체계로</a:t>
            </a:r>
            <a:endParaRPr lang="en-US" altLang="ko-KR" sz="1400" dirty="0" smtClean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검색 폭 확보</a:t>
            </a:r>
            <a:endParaRPr lang="en-US" altLang="ko-KR" sz="1400" dirty="0" smtClean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581996" y="2879682"/>
            <a:ext cx="208766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1. </a:t>
            </a:r>
            <a:r>
              <a:rPr lang="ko-KR" altLang="en-US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키워드 </a:t>
            </a:r>
            <a:r>
              <a:rPr lang="ko-KR" altLang="en-US" sz="1400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검색</a:t>
            </a:r>
            <a:endParaRPr lang="en-US" altLang="ko-KR" sz="1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581995" y="3344367"/>
            <a:ext cx="208766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2</a:t>
            </a:r>
            <a:r>
              <a:rPr lang="en-US" altLang="ko-KR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 </a:t>
            </a:r>
            <a:r>
              <a:rPr lang="ko-KR" altLang="en-US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관련 기사 </a:t>
            </a:r>
            <a:r>
              <a:rPr lang="en-US" altLang="ko-KR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AI </a:t>
            </a:r>
            <a:r>
              <a:rPr lang="ko-KR" altLang="en-US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자동 </a:t>
            </a:r>
            <a:r>
              <a:rPr lang="ko-KR" altLang="en-US" sz="1400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선별</a:t>
            </a:r>
            <a:endParaRPr lang="en-US" altLang="ko-KR" sz="1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581995" y="3809051"/>
            <a:ext cx="2087666" cy="378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3. AI </a:t>
            </a:r>
            <a:r>
              <a:rPr lang="ko-KR" altLang="en-US" sz="1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인사이트</a:t>
            </a:r>
            <a:r>
              <a:rPr lang="ko-KR" altLang="en-US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리포트 제작</a:t>
            </a:r>
            <a:endParaRPr lang="en-US" altLang="ko-KR" sz="1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grpSp>
        <p:nvGrpSpPr>
          <p:cNvPr id="44" name="그룹 43"/>
          <p:cNvGrpSpPr/>
          <p:nvPr/>
        </p:nvGrpSpPr>
        <p:grpSpPr>
          <a:xfrm>
            <a:off x="8351422" y="1497564"/>
            <a:ext cx="1424345" cy="296298"/>
            <a:chOff x="7570026" y="1968157"/>
            <a:chExt cx="1512961" cy="296298"/>
          </a:xfrm>
        </p:grpSpPr>
        <p:pic>
          <p:nvPicPr>
            <p:cNvPr id="45" name="SK-10-img-5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70026" y="1968157"/>
              <a:ext cx="1512961" cy="296298"/>
            </a:xfrm>
            <a:prstGeom prst="rect">
              <a:avLst/>
            </a:prstGeom>
          </p:spPr>
        </p:pic>
        <p:sp>
          <p:nvSpPr>
            <p:cNvPr id="46" name="SK-10-text-26"/>
            <p:cNvSpPr/>
            <p:nvPr/>
          </p:nvSpPr>
          <p:spPr>
            <a:xfrm>
              <a:off x="7640579" y="1978194"/>
              <a:ext cx="1371855" cy="276225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575"/>
                </a:lnSpc>
                <a:buNone/>
              </a:pPr>
              <a:r>
                <a:rPr lang="ko-KR" altLang="en-US" sz="1200" b="1" dirty="0" smtClean="0">
                  <a:solidFill>
                    <a:srgbClr val="003366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리서치 허브</a:t>
              </a:r>
              <a:endParaRPr 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47" name="그룹 46"/>
          <p:cNvGrpSpPr/>
          <p:nvPr/>
        </p:nvGrpSpPr>
        <p:grpSpPr>
          <a:xfrm>
            <a:off x="626055" y="5524380"/>
            <a:ext cx="10637689" cy="709457"/>
            <a:chOff x="1014151" y="1699951"/>
            <a:chExt cx="22251814" cy="1859499"/>
          </a:xfrm>
        </p:grpSpPr>
        <p:sp>
          <p:nvSpPr>
            <p:cNvPr id="48" name="직사각형 47"/>
            <p:cNvSpPr/>
            <p:nvPr/>
          </p:nvSpPr>
          <p:spPr>
            <a:xfrm>
              <a:off x="1014151" y="1704108"/>
              <a:ext cx="22251814" cy="1855342"/>
            </a:xfrm>
            <a:prstGeom prst="rect">
              <a:avLst/>
            </a:prstGeom>
            <a:solidFill>
              <a:srgbClr val="F7F7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직사각형 48"/>
            <p:cNvSpPr/>
            <p:nvPr/>
          </p:nvSpPr>
          <p:spPr>
            <a:xfrm flipH="1">
              <a:off x="1059866" y="1699951"/>
              <a:ext cx="130853" cy="1855343"/>
            </a:xfrm>
            <a:prstGeom prst="rect">
              <a:avLst/>
            </a:prstGeom>
            <a:solidFill>
              <a:srgbClr val="0048D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1031985" y="5724426"/>
            <a:ext cx="92883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AI </a:t>
            </a:r>
            <a:r>
              <a:rPr lang="ko-KR" altLang="en-US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리포트 방향성 설정은 사전 </a:t>
            </a:r>
            <a:r>
              <a:rPr lang="en-US" altLang="ko-KR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Preset</a:t>
            </a:r>
            <a:r>
              <a:rPr lang="ko-KR" altLang="en-US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된 프롬프트를 </a:t>
            </a:r>
            <a:r>
              <a:rPr lang="en-US" altLang="ko-KR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LLM API</a:t>
            </a:r>
            <a:r>
              <a:rPr lang="ko-KR" altLang="en-US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 전달하도록 구현</a:t>
            </a:r>
            <a:endParaRPr lang="en-US" altLang="ko-KR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51" name="Image 2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971" y="5802115"/>
            <a:ext cx="190500" cy="1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743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제목 1">
            <a:extLst>
              <a:ext uri="{FF2B5EF4-FFF2-40B4-BE49-F238E27FC236}">
                <a16:creationId xmlns:a16="http://schemas.microsoft.com/office/drawing/2014/main" id="{8665459D-C324-47E8-A25A-F93EFD004CE0}"/>
              </a:ext>
            </a:extLst>
          </p:cNvPr>
          <p:cNvSpPr txBox="1">
            <a:spLocks/>
          </p:cNvSpPr>
          <p:nvPr/>
        </p:nvSpPr>
        <p:spPr>
          <a:xfrm>
            <a:off x="8965" y="393690"/>
            <a:ext cx="861840" cy="44606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kern="1200" spc="-150">
                <a:solidFill>
                  <a:schemeClr val="tx1">
                    <a:lumMod val="85000"/>
                    <a:lumOff val="15000"/>
                  </a:schemeClr>
                </a:solidFill>
                <a:latin typeface="다음_Regular" panose="02000603060000000000" pitchFamily="2" charset="-127"/>
                <a:ea typeface="다음_Regular" panose="02000603060000000000" pitchFamily="2" charset="-127"/>
                <a:cs typeface="+mj-cs"/>
              </a:defRPr>
            </a:lvl1pPr>
          </a:lstStyle>
          <a:p>
            <a:pPr lvl="0">
              <a:defRPr/>
            </a:pPr>
            <a:r>
              <a:rPr lang="en-US" altLang="ko-KR" sz="2800" spc="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2-1</a:t>
            </a:r>
            <a:endParaRPr lang="ko-KR" altLang="en-US" sz="2000" spc="0" dirty="0">
              <a:solidFill>
                <a:prstClr val="black">
                  <a:lumMod val="85000"/>
                  <a:lumOff val="1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B133345-C92C-40E8-BF3B-D92E22377D6C}"/>
              </a:ext>
            </a:extLst>
          </p:cNvPr>
          <p:cNvSpPr/>
          <p:nvPr/>
        </p:nvSpPr>
        <p:spPr>
          <a:xfrm flipV="1">
            <a:off x="0" y="847230"/>
            <a:ext cx="770282" cy="28800"/>
          </a:xfrm>
          <a:prstGeom prst="rect">
            <a:avLst/>
          </a:prstGeom>
          <a:solidFill>
            <a:srgbClr val="0048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8" name="제목 1">
            <a:extLst>
              <a:ext uri="{FF2B5EF4-FFF2-40B4-BE49-F238E27FC236}">
                <a16:creationId xmlns:a16="http://schemas.microsoft.com/office/drawing/2014/main" id="{8665459D-C324-47E8-A25A-F93EFD004CE0}"/>
              </a:ext>
            </a:extLst>
          </p:cNvPr>
          <p:cNvSpPr txBox="1">
            <a:spLocks/>
          </p:cNvSpPr>
          <p:nvPr/>
        </p:nvSpPr>
        <p:spPr>
          <a:xfrm>
            <a:off x="870805" y="393690"/>
            <a:ext cx="7396700" cy="44606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kern="1200" spc="-150">
                <a:solidFill>
                  <a:schemeClr val="tx1">
                    <a:lumMod val="85000"/>
                    <a:lumOff val="15000"/>
                  </a:schemeClr>
                </a:solidFill>
                <a:latin typeface="다음_Regular" panose="02000603060000000000" pitchFamily="2" charset="-127"/>
                <a:ea typeface="다음_Regular" panose="02000603060000000000" pitchFamily="2" charset="-127"/>
                <a:cs typeface="+mj-cs"/>
              </a:defRPr>
            </a:lvl1pPr>
          </a:lstStyle>
          <a:p>
            <a:pPr lvl="0">
              <a:defRPr/>
            </a:pPr>
            <a:r>
              <a:rPr lang="ko-KR" altLang="en-US" sz="2800" spc="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핵심 기능</a:t>
            </a:r>
            <a:endParaRPr lang="ko-KR" altLang="en-US" sz="2000" spc="0" dirty="0">
              <a:solidFill>
                <a:prstClr val="black">
                  <a:lumMod val="85000"/>
                  <a:lumOff val="1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39" name="그림 3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909" y="1263536"/>
            <a:ext cx="7369200" cy="374810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0" name="SK-10-img-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8361" y="1263536"/>
            <a:ext cx="3115384" cy="377397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351422" y="1863860"/>
            <a:ext cx="256318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핵심 키워드 </a:t>
            </a:r>
            <a:r>
              <a:rPr lang="en-US" altLang="ko-KR" sz="1400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+ </a:t>
            </a:r>
            <a:r>
              <a:rPr lang="ko-KR" altLang="en-US" sz="1400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확장 키워드 체계로</a:t>
            </a:r>
            <a:endParaRPr lang="en-US" altLang="ko-KR" sz="1400" dirty="0" smtClean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검색 폭 확보</a:t>
            </a:r>
            <a:endParaRPr lang="en-US" altLang="ko-KR" sz="1400" dirty="0" smtClean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581996" y="2879682"/>
            <a:ext cx="208766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1. </a:t>
            </a:r>
            <a:r>
              <a:rPr lang="ko-KR" altLang="en-US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키워드 </a:t>
            </a:r>
            <a:r>
              <a:rPr lang="ko-KR" altLang="en-US" sz="1400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검색</a:t>
            </a:r>
            <a:endParaRPr lang="en-US" altLang="ko-KR" sz="1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581995" y="3344367"/>
            <a:ext cx="208766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2</a:t>
            </a:r>
            <a:r>
              <a:rPr lang="en-US" altLang="ko-KR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 </a:t>
            </a:r>
            <a:r>
              <a:rPr lang="ko-KR" altLang="en-US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관련 기사 </a:t>
            </a:r>
            <a:r>
              <a:rPr lang="en-US" altLang="ko-KR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AI </a:t>
            </a:r>
            <a:r>
              <a:rPr lang="ko-KR" altLang="en-US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자동 </a:t>
            </a:r>
            <a:r>
              <a:rPr lang="ko-KR" altLang="en-US" sz="1400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선별</a:t>
            </a:r>
            <a:endParaRPr lang="en-US" altLang="ko-KR" sz="1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581995" y="3809051"/>
            <a:ext cx="2087666" cy="378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3. AI </a:t>
            </a:r>
            <a:r>
              <a:rPr lang="ko-KR" altLang="en-US" sz="1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인사이트</a:t>
            </a:r>
            <a:r>
              <a:rPr lang="ko-KR" altLang="en-US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리포트 제작</a:t>
            </a:r>
            <a:endParaRPr lang="en-US" altLang="ko-KR" sz="1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grpSp>
        <p:nvGrpSpPr>
          <p:cNvPr id="45" name="그룹 44"/>
          <p:cNvGrpSpPr/>
          <p:nvPr/>
        </p:nvGrpSpPr>
        <p:grpSpPr>
          <a:xfrm>
            <a:off x="8351422" y="1497564"/>
            <a:ext cx="1424345" cy="296298"/>
            <a:chOff x="7570026" y="1968157"/>
            <a:chExt cx="1512961" cy="296298"/>
          </a:xfrm>
        </p:grpSpPr>
        <p:pic>
          <p:nvPicPr>
            <p:cNvPr id="46" name="SK-10-img-5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70026" y="1968157"/>
              <a:ext cx="1512961" cy="296298"/>
            </a:xfrm>
            <a:prstGeom prst="rect">
              <a:avLst/>
            </a:prstGeom>
          </p:spPr>
        </p:pic>
        <p:sp>
          <p:nvSpPr>
            <p:cNvPr id="47" name="SK-10-text-26"/>
            <p:cNvSpPr/>
            <p:nvPr/>
          </p:nvSpPr>
          <p:spPr>
            <a:xfrm>
              <a:off x="7640579" y="1978194"/>
              <a:ext cx="1371855" cy="276225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575"/>
                </a:lnSpc>
                <a:buNone/>
              </a:pPr>
              <a:r>
                <a:rPr lang="ko-KR" altLang="en-US" sz="1200" b="1" dirty="0" smtClean="0">
                  <a:solidFill>
                    <a:srgbClr val="003366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리서치 허브</a:t>
              </a:r>
              <a:endParaRPr 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48" name="그룹 47"/>
          <p:cNvGrpSpPr/>
          <p:nvPr/>
        </p:nvGrpSpPr>
        <p:grpSpPr>
          <a:xfrm>
            <a:off x="626055" y="5524380"/>
            <a:ext cx="10637689" cy="709457"/>
            <a:chOff x="1014151" y="1699951"/>
            <a:chExt cx="22251814" cy="1859499"/>
          </a:xfrm>
        </p:grpSpPr>
        <p:sp>
          <p:nvSpPr>
            <p:cNvPr id="49" name="직사각형 48"/>
            <p:cNvSpPr/>
            <p:nvPr/>
          </p:nvSpPr>
          <p:spPr>
            <a:xfrm>
              <a:off x="1014151" y="1704108"/>
              <a:ext cx="22251814" cy="1855342"/>
            </a:xfrm>
            <a:prstGeom prst="rect">
              <a:avLst/>
            </a:prstGeom>
            <a:solidFill>
              <a:srgbClr val="F7F7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직사각형 49"/>
            <p:cNvSpPr/>
            <p:nvPr/>
          </p:nvSpPr>
          <p:spPr>
            <a:xfrm flipH="1">
              <a:off x="1059866" y="1699951"/>
              <a:ext cx="130853" cy="1855343"/>
            </a:xfrm>
            <a:prstGeom prst="rect">
              <a:avLst/>
            </a:prstGeom>
            <a:solidFill>
              <a:srgbClr val="0048D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1" name="TextBox 50"/>
          <p:cNvSpPr txBox="1"/>
          <p:nvPr/>
        </p:nvSpPr>
        <p:spPr>
          <a:xfrm>
            <a:off x="1031985" y="5634347"/>
            <a:ext cx="92883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이트너스</a:t>
            </a:r>
            <a:r>
              <a:rPr lang="ko-KR" altLang="en-US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및 본부 전개 사업에 대한 맥락 자료를 </a:t>
            </a:r>
            <a:r>
              <a:rPr lang="en-US" altLang="ko-KR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LLM API</a:t>
            </a:r>
            <a:r>
              <a:rPr lang="ko-KR" altLang="en-US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 전달하여 맞춤형 시사점 제공 가능</a:t>
            </a:r>
            <a:endParaRPr lang="en-US" altLang="ko-KR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lang="ko-KR" altLang="en-US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→ 맥락 자료 </a:t>
            </a:r>
            <a:r>
              <a:rPr lang="en-US" altLang="ko-KR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4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생성형</a:t>
            </a:r>
            <a:r>
              <a:rPr lang="ko-KR" altLang="en-US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LLM</a:t>
            </a:r>
            <a:r>
              <a:rPr lang="ko-KR" altLang="en-US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 작성한 일반적인 내용으로</a:t>
            </a:r>
            <a:r>
              <a:rPr lang="en-US" altLang="ko-KR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구체적인 정보는 포함하지 않기에 향후 시스템 고도화 시 재검토 필요</a:t>
            </a:r>
            <a:endParaRPr lang="en-US" altLang="ko-KR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52" name="Image 2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971" y="5703593"/>
            <a:ext cx="190500" cy="1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792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제목 1">
            <a:extLst>
              <a:ext uri="{FF2B5EF4-FFF2-40B4-BE49-F238E27FC236}">
                <a16:creationId xmlns:a16="http://schemas.microsoft.com/office/drawing/2014/main" id="{8665459D-C324-47E8-A25A-F93EFD004CE0}"/>
              </a:ext>
            </a:extLst>
          </p:cNvPr>
          <p:cNvSpPr txBox="1">
            <a:spLocks/>
          </p:cNvSpPr>
          <p:nvPr/>
        </p:nvSpPr>
        <p:spPr>
          <a:xfrm>
            <a:off x="8965" y="393690"/>
            <a:ext cx="861840" cy="44606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kern="1200" spc="-150">
                <a:solidFill>
                  <a:schemeClr val="tx1">
                    <a:lumMod val="85000"/>
                    <a:lumOff val="15000"/>
                  </a:schemeClr>
                </a:solidFill>
                <a:latin typeface="다음_Regular" panose="02000603060000000000" pitchFamily="2" charset="-127"/>
                <a:ea typeface="다음_Regular" panose="02000603060000000000" pitchFamily="2" charset="-127"/>
                <a:cs typeface="+mj-cs"/>
              </a:defRPr>
            </a:lvl1pPr>
          </a:lstStyle>
          <a:p>
            <a:pPr lvl="0">
              <a:defRPr/>
            </a:pPr>
            <a:r>
              <a:rPr lang="en-US" altLang="ko-KR" sz="2800" spc="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2-1</a:t>
            </a:r>
            <a:endParaRPr lang="ko-KR" altLang="en-US" sz="2000" spc="0" dirty="0">
              <a:solidFill>
                <a:prstClr val="black">
                  <a:lumMod val="85000"/>
                  <a:lumOff val="1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B133345-C92C-40E8-BF3B-D92E22377D6C}"/>
              </a:ext>
            </a:extLst>
          </p:cNvPr>
          <p:cNvSpPr/>
          <p:nvPr/>
        </p:nvSpPr>
        <p:spPr>
          <a:xfrm flipV="1">
            <a:off x="0" y="847230"/>
            <a:ext cx="770282" cy="28800"/>
          </a:xfrm>
          <a:prstGeom prst="rect">
            <a:avLst/>
          </a:prstGeom>
          <a:solidFill>
            <a:srgbClr val="0048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8" name="제목 1">
            <a:extLst>
              <a:ext uri="{FF2B5EF4-FFF2-40B4-BE49-F238E27FC236}">
                <a16:creationId xmlns:a16="http://schemas.microsoft.com/office/drawing/2014/main" id="{8665459D-C324-47E8-A25A-F93EFD004CE0}"/>
              </a:ext>
            </a:extLst>
          </p:cNvPr>
          <p:cNvSpPr txBox="1">
            <a:spLocks/>
          </p:cNvSpPr>
          <p:nvPr/>
        </p:nvSpPr>
        <p:spPr>
          <a:xfrm>
            <a:off x="870805" y="393690"/>
            <a:ext cx="7396700" cy="44606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kern="1200" spc="-150">
                <a:solidFill>
                  <a:schemeClr val="tx1">
                    <a:lumMod val="85000"/>
                    <a:lumOff val="15000"/>
                  </a:schemeClr>
                </a:solidFill>
                <a:latin typeface="다음_Regular" panose="02000603060000000000" pitchFamily="2" charset="-127"/>
                <a:ea typeface="다음_Regular" panose="02000603060000000000" pitchFamily="2" charset="-127"/>
                <a:cs typeface="+mj-cs"/>
              </a:defRPr>
            </a:lvl1pPr>
          </a:lstStyle>
          <a:p>
            <a:pPr lvl="0">
              <a:defRPr/>
            </a:pPr>
            <a:r>
              <a:rPr lang="ko-KR" altLang="en-US" sz="2800" spc="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핵심 기능</a:t>
            </a:r>
            <a:endParaRPr lang="ko-KR" altLang="en-US" sz="2000" spc="0" dirty="0">
              <a:solidFill>
                <a:prstClr val="black">
                  <a:lumMod val="85000"/>
                  <a:lumOff val="1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38" name="그림 3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909" y="1263536"/>
            <a:ext cx="7369200" cy="375059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9" name="SK-10-img-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8361" y="1263536"/>
            <a:ext cx="3115384" cy="3773978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351422" y="1863860"/>
            <a:ext cx="256318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주 </a:t>
            </a:r>
            <a:r>
              <a:rPr lang="en-US" altLang="ko-KR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</a:t>
            </a:r>
            <a:r>
              <a:rPr lang="ko-KR" altLang="en-US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회 뉴스레터 발송을 통한</a:t>
            </a:r>
            <a:endParaRPr lang="en-US" altLang="ko-KR" sz="1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시장 및 사업 동향 </a:t>
            </a:r>
            <a:r>
              <a:rPr lang="ko-KR" altLang="en-US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간편 확인</a:t>
            </a:r>
            <a:endParaRPr lang="en-US" altLang="ko-KR" sz="1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581996" y="2879682"/>
            <a:ext cx="2087666" cy="378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1. </a:t>
            </a:r>
            <a:r>
              <a:rPr lang="ko-KR" altLang="en-US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클라이언트 동향</a:t>
            </a:r>
            <a:endParaRPr lang="en-US" altLang="ko-KR" sz="1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581995" y="3344367"/>
            <a:ext cx="2087666" cy="378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2. </a:t>
            </a:r>
            <a:r>
              <a:rPr lang="ko-KR" altLang="en-US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업무 관련 뉴스</a:t>
            </a:r>
            <a:endParaRPr lang="en-US" altLang="ko-KR" sz="1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581995" y="3809051"/>
            <a:ext cx="2087666" cy="378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3. </a:t>
            </a:r>
            <a:r>
              <a:rPr lang="ko-KR" altLang="en-US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리서치 </a:t>
            </a:r>
            <a:r>
              <a:rPr lang="ko-KR" altLang="en-US" sz="1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인사이트</a:t>
            </a:r>
            <a:endParaRPr lang="en-US" altLang="ko-KR" sz="1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grpSp>
        <p:nvGrpSpPr>
          <p:cNvPr id="44" name="그룹 43"/>
          <p:cNvGrpSpPr/>
          <p:nvPr/>
        </p:nvGrpSpPr>
        <p:grpSpPr>
          <a:xfrm>
            <a:off x="8351422" y="1497564"/>
            <a:ext cx="1424345" cy="296298"/>
            <a:chOff x="7570026" y="1968157"/>
            <a:chExt cx="1512961" cy="296298"/>
          </a:xfrm>
        </p:grpSpPr>
        <p:pic>
          <p:nvPicPr>
            <p:cNvPr id="45" name="SK-10-img-5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70026" y="1968157"/>
              <a:ext cx="1512961" cy="296298"/>
            </a:xfrm>
            <a:prstGeom prst="rect">
              <a:avLst/>
            </a:prstGeom>
          </p:spPr>
        </p:pic>
        <p:sp>
          <p:nvSpPr>
            <p:cNvPr id="46" name="SK-10-text-26"/>
            <p:cNvSpPr/>
            <p:nvPr/>
          </p:nvSpPr>
          <p:spPr>
            <a:xfrm>
              <a:off x="7640579" y="1978194"/>
              <a:ext cx="1371855" cy="276225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algn="ctr">
                <a:lnSpc>
                  <a:spcPts val="1575"/>
                </a:lnSpc>
              </a:pPr>
              <a:r>
                <a:rPr lang="ko-KR" altLang="en-US" sz="1200" b="1" dirty="0">
                  <a:solidFill>
                    <a:srgbClr val="003366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주간 뉴스레터</a:t>
              </a:r>
              <a:endPara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589183" y="4273735"/>
            <a:ext cx="208766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4. </a:t>
            </a:r>
            <a:r>
              <a:rPr lang="ko-KR" altLang="en-US" sz="1400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사회적 트렌드</a:t>
            </a:r>
            <a:endParaRPr lang="en-US" altLang="ko-KR" sz="1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626055" y="5524380"/>
            <a:ext cx="10637689" cy="709457"/>
            <a:chOff x="1014151" y="1699951"/>
            <a:chExt cx="22251814" cy="1859499"/>
          </a:xfrm>
        </p:grpSpPr>
        <p:sp>
          <p:nvSpPr>
            <p:cNvPr id="48" name="직사각형 47"/>
            <p:cNvSpPr/>
            <p:nvPr/>
          </p:nvSpPr>
          <p:spPr>
            <a:xfrm>
              <a:off x="1014151" y="1704108"/>
              <a:ext cx="22251814" cy="1855342"/>
            </a:xfrm>
            <a:prstGeom prst="rect">
              <a:avLst/>
            </a:prstGeom>
            <a:solidFill>
              <a:srgbClr val="F7F7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직사각형 48"/>
            <p:cNvSpPr/>
            <p:nvPr/>
          </p:nvSpPr>
          <p:spPr>
            <a:xfrm flipH="1">
              <a:off x="1059866" y="1699951"/>
              <a:ext cx="130853" cy="1855343"/>
            </a:xfrm>
            <a:prstGeom prst="rect">
              <a:avLst/>
            </a:prstGeom>
            <a:solidFill>
              <a:srgbClr val="0048D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1031985" y="5634347"/>
            <a:ext cx="92883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과거 발송 내역 조회 가능하도록 </a:t>
            </a:r>
            <a:r>
              <a:rPr lang="ko-KR" altLang="en-US" sz="14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히스토리</a:t>
            </a:r>
            <a:r>
              <a:rPr lang="ko-KR" altLang="en-US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축적</a:t>
            </a:r>
            <a:endParaRPr lang="en-US" altLang="ko-KR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lang="ko-KR" altLang="en-US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→ </a:t>
            </a:r>
            <a:endParaRPr lang="en-US" altLang="ko-KR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51" name="Image 2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971" y="5703593"/>
            <a:ext cx="190500" cy="1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909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제목 1">
            <a:extLst>
              <a:ext uri="{FF2B5EF4-FFF2-40B4-BE49-F238E27FC236}">
                <a16:creationId xmlns:a16="http://schemas.microsoft.com/office/drawing/2014/main" id="{8665459D-C324-47E8-A25A-F93EFD004CE0}"/>
              </a:ext>
            </a:extLst>
          </p:cNvPr>
          <p:cNvSpPr txBox="1">
            <a:spLocks/>
          </p:cNvSpPr>
          <p:nvPr/>
        </p:nvSpPr>
        <p:spPr>
          <a:xfrm>
            <a:off x="8965" y="393690"/>
            <a:ext cx="861840" cy="44606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kern="1200" spc="-150">
                <a:solidFill>
                  <a:schemeClr val="tx1">
                    <a:lumMod val="85000"/>
                    <a:lumOff val="15000"/>
                  </a:schemeClr>
                </a:solidFill>
                <a:latin typeface="다음_Regular" panose="02000603060000000000" pitchFamily="2" charset="-127"/>
                <a:ea typeface="다음_Regular" panose="02000603060000000000" pitchFamily="2" charset="-127"/>
                <a:cs typeface="+mj-cs"/>
              </a:defRPr>
            </a:lvl1pPr>
          </a:lstStyle>
          <a:p>
            <a:pPr lvl="0">
              <a:defRPr/>
            </a:pPr>
            <a:r>
              <a:rPr lang="en-US" altLang="ko-KR" sz="2800" spc="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2-1</a:t>
            </a:r>
            <a:endParaRPr lang="ko-KR" altLang="en-US" sz="2000" spc="0" dirty="0">
              <a:solidFill>
                <a:prstClr val="black">
                  <a:lumMod val="85000"/>
                  <a:lumOff val="1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B133345-C92C-40E8-BF3B-D92E22377D6C}"/>
              </a:ext>
            </a:extLst>
          </p:cNvPr>
          <p:cNvSpPr/>
          <p:nvPr/>
        </p:nvSpPr>
        <p:spPr>
          <a:xfrm flipV="1">
            <a:off x="0" y="847230"/>
            <a:ext cx="770282" cy="28800"/>
          </a:xfrm>
          <a:prstGeom prst="rect">
            <a:avLst/>
          </a:prstGeom>
          <a:solidFill>
            <a:srgbClr val="0048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8" name="제목 1">
            <a:extLst>
              <a:ext uri="{FF2B5EF4-FFF2-40B4-BE49-F238E27FC236}">
                <a16:creationId xmlns:a16="http://schemas.microsoft.com/office/drawing/2014/main" id="{8665459D-C324-47E8-A25A-F93EFD004CE0}"/>
              </a:ext>
            </a:extLst>
          </p:cNvPr>
          <p:cNvSpPr txBox="1">
            <a:spLocks/>
          </p:cNvSpPr>
          <p:nvPr/>
        </p:nvSpPr>
        <p:spPr>
          <a:xfrm>
            <a:off x="870805" y="393690"/>
            <a:ext cx="7396700" cy="44606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kern="1200" spc="-150">
                <a:solidFill>
                  <a:schemeClr val="tx1">
                    <a:lumMod val="85000"/>
                    <a:lumOff val="15000"/>
                  </a:schemeClr>
                </a:solidFill>
                <a:latin typeface="다음_Regular" panose="02000603060000000000" pitchFamily="2" charset="-127"/>
                <a:ea typeface="다음_Regular" panose="02000603060000000000" pitchFamily="2" charset="-127"/>
                <a:cs typeface="+mj-cs"/>
              </a:defRPr>
            </a:lvl1pPr>
          </a:lstStyle>
          <a:p>
            <a:pPr lvl="0">
              <a:defRPr/>
            </a:pPr>
            <a:r>
              <a:rPr lang="ko-KR" altLang="en-US" sz="2800" spc="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핵심 기능</a:t>
            </a:r>
            <a:endParaRPr lang="ko-KR" altLang="en-US" sz="2000" spc="0" dirty="0">
              <a:solidFill>
                <a:prstClr val="black">
                  <a:lumMod val="85000"/>
                  <a:lumOff val="1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909" y="1263536"/>
            <a:ext cx="7369200" cy="376553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5" name="SK-10-img-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8361" y="1263536"/>
            <a:ext cx="3115384" cy="377397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351422" y="1863860"/>
            <a:ext cx="2563189" cy="701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주 </a:t>
            </a:r>
            <a:r>
              <a:rPr lang="en-US" altLang="ko-KR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</a:t>
            </a:r>
            <a:r>
              <a:rPr lang="ko-KR" altLang="en-US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회 뉴스레터 발송을 통한</a:t>
            </a:r>
            <a:endParaRPr lang="en-US" altLang="ko-KR" sz="1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시장 및 사업 동향 간편 확인</a:t>
            </a:r>
            <a:endParaRPr lang="en-US" altLang="ko-KR" sz="1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581996" y="2879682"/>
            <a:ext cx="2087666" cy="378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1. </a:t>
            </a:r>
            <a:r>
              <a:rPr lang="ko-KR" altLang="en-US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클라이언트 동향</a:t>
            </a:r>
            <a:endParaRPr lang="en-US" altLang="ko-KR" sz="1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581995" y="3344367"/>
            <a:ext cx="2087666" cy="378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2. </a:t>
            </a:r>
            <a:r>
              <a:rPr lang="ko-KR" altLang="en-US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업무 관련 뉴스</a:t>
            </a:r>
            <a:endParaRPr lang="en-US" altLang="ko-KR" sz="1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581995" y="3809051"/>
            <a:ext cx="2087666" cy="378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3. </a:t>
            </a:r>
            <a:r>
              <a:rPr lang="ko-KR" altLang="en-US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리서치 </a:t>
            </a:r>
            <a:r>
              <a:rPr lang="ko-KR" altLang="en-US" sz="1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인사이트</a:t>
            </a:r>
            <a:endParaRPr lang="en-US" altLang="ko-KR" sz="1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grpSp>
        <p:nvGrpSpPr>
          <p:cNvPr id="40" name="그룹 39"/>
          <p:cNvGrpSpPr/>
          <p:nvPr/>
        </p:nvGrpSpPr>
        <p:grpSpPr>
          <a:xfrm>
            <a:off x="8351422" y="1497564"/>
            <a:ext cx="1424345" cy="296298"/>
            <a:chOff x="7570026" y="1968157"/>
            <a:chExt cx="1512961" cy="296298"/>
          </a:xfrm>
        </p:grpSpPr>
        <p:pic>
          <p:nvPicPr>
            <p:cNvPr id="41" name="SK-10-img-5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70026" y="1968157"/>
              <a:ext cx="1512961" cy="296298"/>
            </a:xfrm>
            <a:prstGeom prst="rect">
              <a:avLst/>
            </a:prstGeom>
          </p:spPr>
        </p:pic>
        <p:sp>
          <p:nvSpPr>
            <p:cNvPr id="42" name="SK-10-text-26"/>
            <p:cNvSpPr/>
            <p:nvPr/>
          </p:nvSpPr>
          <p:spPr>
            <a:xfrm>
              <a:off x="7640579" y="1978194"/>
              <a:ext cx="1371855" cy="276225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algn="ctr">
                <a:lnSpc>
                  <a:spcPts val="1575"/>
                </a:lnSpc>
              </a:pPr>
              <a:r>
                <a:rPr lang="ko-KR" altLang="en-US" sz="1200" b="1" dirty="0">
                  <a:solidFill>
                    <a:srgbClr val="003366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주간 뉴스레터</a:t>
              </a:r>
              <a:endPara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8589183" y="4273735"/>
            <a:ext cx="208766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4. </a:t>
            </a:r>
            <a:r>
              <a:rPr lang="ko-KR" altLang="en-US" sz="1400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사회적 트렌드</a:t>
            </a:r>
            <a:endParaRPr lang="en-US" altLang="ko-KR" sz="1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grpSp>
        <p:nvGrpSpPr>
          <p:cNvPr id="44" name="그룹 43"/>
          <p:cNvGrpSpPr/>
          <p:nvPr/>
        </p:nvGrpSpPr>
        <p:grpSpPr>
          <a:xfrm>
            <a:off x="626055" y="5524380"/>
            <a:ext cx="10637689" cy="709457"/>
            <a:chOff x="1014151" y="1699951"/>
            <a:chExt cx="22251814" cy="1859499"/>
          </a:xfrm>
        </p:grpSpPr>
        <p:sp>
          <p:nvSpPr>
            <p:cNvPr id="45" name="직사각형 44"/>
            <p:cNvSpPr/>
            <p:nvPr/>
          </p:nvSpPr>
          <p:spPr>
            <a:xfrm>
              <a:off x="1014151" y="1704108"/>
              <a:ext cx="22251814" cy="1855342"/>
            </a:xfrm>
            <a:prstGeom prst="rect">
              <a:avLst/>
            </a:prstGeom>
            <a:solidFill>
              <a:srgbClr val="F7F7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직사각형 45"/>
            <p:cNvSpPr/>
            <p:nvPr/>
          </p:nvSpPr>
          <p:spPr>
            <a:xfrm flipH="1">
              <a:off x="1059866" y="1699951"/>
              <a:ext cx="130853" cy="1855343"/>
            </a:xfrm>
            <a:prstGeom prst="rect">
              <a:avLst/>
            </a:prstGeom>
            <a:solidFill>
              <a:srgbClr val="0048D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7" name="TextBox 46"/>
          <p:cNvSpPr txBox="1"/>
          <p:nvPr/>
        </p:nvSpPr>
        <p:spPr>
          <a:xfrm>
            <a:off x="1031985" y="5724426"/>
            <a:ext cx="92883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수정 요망</a:t>
            </a:r>
            <a:endParaRPr lang="en-US" altLang="ko-KR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48" name="Image 2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971" y="5802115"/>
            <a:ext cx="190500" cy="1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277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제목 1">
            <a:extLst>
              <a:ext uri="{FF2B5EF4-FFF2-40B4-BE49-F238E27FC236}">
                <a16:creationId xmlns:a16="http://schemas.microsoft.com/office/drawing/2014/main" id="{8665459D-C324-47E8-A25A-F93EFD004CE0}"/>
              </a:ext>
            </a:extLst>
          </p:cNvPr>
          <p:cNvSpPr txBox="1">
            <a:spLocks/>
          </p:cNvSpPr>
          <p:nvPr/>
        </p:nvSpPr>
        <p:spPr>
          <a:xfrm>
            <a:off x="8965" y="393690"/>
            <a:ext cx="861840" cy="44606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kern="1200" spc="-150">
                <a:solidFill>
                  <a:schemeClr val="tx1">
                    <a:lumMod val="85000"/>
                    <a:lumOff val="15000"/>
                  </a:schemeClr>
                </a:solidFill>
                <a:latin typeface="다음_Regular" panose="02000603060000000000" pitchFamily="2" charset="-127"/>
                <a:ea typeface="다음_Regular" panose="02000603060000000000" pitchFamily="2" charset="-127"/>
                <a:cs typeface="+mj-cs"/>
              </a:defRPr>
            </a:lvl1pPr>
          </a:lstStyle>
          <a:p>
            <a:pPr lvl="0">
              <a:defRPr/>
            </a:pPr>
            <a:r>
              <a:rPr lang="en-US" altLang="ko-KR" sz="2800" spc="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2-2</a:t>
            </a:r>
            <a:endParaRPr lang="ko-KR" altLang="en-US" sz="2000" spc="0" dirty="0">
              <a:solidFill>
                <a:prstClr val="black">
                  <a:lumMod val="85000"/>
                  <a:lumOff val="1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B133345-C92C-40E8-BF3B-D92E22377D6C}"/>
              </a:ext>
            </a:extLst>
          </p:cNvPr>
          <p:cNvSpPr/>
          <p:nvPr/>
        </p:nvSpPr>
        <p:spPr>
          <a:xfrm flipV="1">
            <a:off x="0" y="847230"/>
            <a:ext cx="770282" cy="28800"/>
          </a:xfrm>
          <a:prstGeom prst="rect">
            <a:avLst/>
          </a:prstGeom>
          <a:solidFill>
            <a:srgbClr val="0048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8" name="제목 1">
            <a:extLst>
              <a:ext uri="{FF2B5EF4-FFF2-40B4-BE49-F238E27FC236}">
                <a16:creationId xmlns:a16="http://schemas.microsoft.com/office/drawing/2014/main" id="{8665459D-C324-47E8-A25A-F93EFD004CE0}"/>
              </a:ext>
            </a:extLst>
          </p:cNvPr>
          <p:cNvSpPr txBox="1">
            <a:spLocks/>
          </p:cNvSpPr>
          <p:nvPr/>
        </p:nvSpPr>
        <p:spPr>
          <a:xfrm>
            <a:off x="870805" y="393690"/>
            <a:ext cx="7396700" cy="44606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kern="1200" spc="-150">
                <a:solidFill>
                  <a:schemeClr val="tx1">
                    <a:lumMod val="85000"/>
                    <a:lumOff val="15000"/>
                  </a:schemeClr>
                </a:solidFill>
                <a:latin typeface="다음_Regular" panose="02000603060000000000" pitchFamily="2" charset="-127"/>
                <a:ea typeface="다음_Regular" panose="02000603060000000000" pitchFamily="2" charset="-127"/>
                <a:cs typeface="+mj-cs"/>
              </a:defRPr>
            </a:lvl1pPr>
          </a:lstStyle>
          <a:p>
            <a:pPr lvl="0">
              <a:defRPr/>
            </a:pPr>
            <a:r>
              <a:rPr lang="ko-KR" altLang="en-US" sz="2800" spc="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사용자 편의 기능</a:t>
            </a:r>
            <a:endParaRPr lang="ko-KR" altLang="en-US" sz="2000" spc="0" dirty="0">
              <a:solidFill>
                <a:prstClr val="black">
                  <a:lumMod val="85000"/>
                  <a:lumOff val="1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909" y="1263536"/>
            <a:ext cx="7369200" cy="377799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5" name="SK-10-img-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8361" y="1263536"/>
            <a:ext cx="3115384" cy="377397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351422" y="1863860"/>
            <a:ext cx="2563189" cy="378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 err="1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데일리</a:t>
            </a:r>
            <a:r>
              <a:rPr lang="ko-KR" altLang="en-US" sz="1400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클라이언트 동향 </a:t>
            </a:r>
            <a:r>
              <a:rPr lang="ko-KR" altLang="en-US" sz="140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확인 가능</a:t>
            </a:r>
            <a:endParaRPr lang="en-US" altLang="ko-KR" sz="1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581996" y="2879682"/>
            <a:ext cx="2087666" cy="378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1. </a:t>
            </a:r>
            <a:r>
              <a:rPr lang="ko-KR" altLang="en-US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클라이언트 동향</a:t>
            </a:r>
            <a:endParaRPr lang="en-US" altLang="ko-KR" sz="1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581995" y="3344367"/>
            <a:ext cx="2087666" cy="378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2. </a:t>
            </a:r>
            <a:r>
              <a:rPr lang="ko-KR" altLang="en-US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업무 관련 뉴스</a:t>
            </a:r>
            <a:endParaRPr lang="en-US" altLang="ko-KR" sz="1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581995" y="3809051"/>
            <a:ext cx="2087666" cy="378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3. </a:t>
            </a:r>
            <a:r>
              <a:rPr lang="ko-KR" altLang="en-US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리서치 </a:t>
            </a:r>
            <a:r>
              <a:rPr lang="ko-KR" altLang="en-US" sz="1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인사이트</a:t>
            </a:r>
            <a:endParaRPr lang="en-US" altLang="ko-KR" sz="1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grpSp>
        <p:nvGrpSpPr>
          <p:cNvPr id="40" name="그룹 39"/>
          <p:cNvGrpSpPr/>
          <p:nvPr/>
        </p:nvGrpSpPr>
        <p:grpSpPr>
          <a:xfrm>
            <a:off x="8351422" y="1497564"/>
            <a:ext cx="1424345" cy="296298"/>
            <a:chOff x="7570026" y="1968157"/>
            <a:chExt cx="1512961" cy="296298"/>
          </a:xfrm>
        </p:grpSpPr>
        <p:pic>
          <p:nvPicPr>
            <p:cNvPr id="41" name="SK-10-img-5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70026" y="1968157"/>
              <a:ext cx="1512961" cy="296298"/>
            </a:xfrm>
            <a:prstGeom prst="rect">
              <a:avLst/>
            </a:prstGeom>
          </p:spPr>
        </p:pic>
        <p:sp>
          <p:nvSpPr>
            <p:cNvPr id="42" name="SK-10-text-26"/>
            <p:cNvSpPr/>
            <p:nvPr/>
          </p:nvSpPr>
          <p:spPr>
            <a:xfrm>
              <a:off x="7640579" y="1978194"/>
              <a:ext cx="1371855" cy="276225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algn="ctr">
                <a:lnSpc>
                  <a:spcPts val="1575"/>
                </a:lnSpc>
              </a:pPr>
              <a:r>
                <a:rPr lang="ko-KR" altLang="en-US" sz="1200" b="1" dirty="0" smtClean="0">
                  <a:solidFill>
                    <a:srgbClr val="003366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대시보드</a:t>
              </a:r>
              <a:endPara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8589183" y="4273735"/>
            <a:ext cx="208766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4. </a:t>
            </a:r>
            <a:r>
              <a:rPr lang="ko-KR" altLang="en-US" sz="1400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사회적 트렌드</a:t>
            </a:r>
            <a:endParaRPr lang="en-US" altLang="ko-KR" sz="1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grpSp>
        <p:nvGrpSpPr>
          <p:cNvPr id="44" name="그룹 43"/>
          <p:cNvGrpSpPr/>
          <p:nvPr/>
        </p:nvGrpSpPr>
        <p:grpSpPr>
          <a:xfrm>
            <a:off x="626055" y="5524380"/>
            <a:ext cx="10637689" cy="709457"/>
            <a:chOff x="1014151" y="1699951"/>
            <a:chExt cx="22251814" cy="1859499"/>
          </a:xfrm>
        </p:grpSpPr>
        <p:sp>
          <p:nvSpPr>
            <p:cNvPr id="45" name="직사각형 44"/>
            <p:cNvSpPr/>
            <p:nvPr/>
          </p:nvSpPr>
          <p:spPr>
            <a:xfrm>
              <a:off x="1014151" y="1704108"/>
              <a:ext cx="22251814" cy="1855342"/>
            </a:xfrm>
            <a:prstGeom prst="rect">
              <a:avLst/>
            </a:prstGeom>
            <a:solidFill>
              <a:srgbClr val="F7F7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직사각형 45"/>
            <p:cNvSpPr/>
            <p:nvPr/>
          </p:nvSpPr>
          <p:spPr>
            <a:xfrm flipH="1">
              <a:off x="1059866" y="1699951"/>
              <a:ext cx="130853" cy="1855343"/>
            </a:xfrm>
            <a:prstGeom prst="rect">
              <a:avLst/>
            </a:prstGeom>
            <a:solidFill>
              <a:srgbClr val="0048D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7" name="TextBox 46"/>
          <p:cNvSpPr txBox="1"/>
          <p:nvPr/>
        </p:nvSpPr>
        <p:spPr>
          <a:xfrm>
            <a:off x="1031985" y="5724426"/>
            <a:ext cx="92883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수정 요망</a:t>
            </a:r>
            <a:endParaRPr lang="en-US" altLang="ko-KR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48" name="Image 2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971" y="5802115"/>
            <a:ext cx="190500" cy="1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30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제목 1">
            <a:extLst>
              <a:ext uri="{FF2B5EF4-FFF2-40B4-BE49-F238E27FC236}">
                <a16:creationId xmlns:a16="http://schemas.microsoft.com/office/drawing/2014/main" id="{8665459D-C324-47E8-A25A-F93EFD004CE0}"/>
              </a:ext>
            </a:extLst>
          </p:cNvPr>
          <p:cNvSpPr txBox="1">
            <a:spLocks/>
          </p:cNvSpPr>
          <p:nvPr/>
        </p:nvSpPr>
        <p:spPr>
          <a:xfrm>
            <a:off x="8965" y="393690"/>
            <a:ext cx="861840" cy="44606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kern="1200" spc="-150">
                <a:solidFill>
                  <a:schemeClr val="tx1">
                    <a:lumMod val="85000"/>
                    <a:lumOff val="15000"/>
                  </a:schemeClr>
                </a:solidFill>
                <a:latin typeface="다음_Regular" panose="02000603060000000000" pitchFamily="2" charset="-127"/>
                <a:ea typeface="다음_Regular" panose="02000603060000000000" pitchFamily="2" charset="-127"/>
                <a:cs typeface="+mj-cs"/>
              </a:defRPr>
            </a:lvl1pPr>
          </a:lstStyle>
          <a:p>
            <a:pPr lvl="0">
              <a:defRPr/>
            </a:pPr>
            <a:r>
              <a:rPr lang="en-US" altLang="ko-KR" sz="2800" spc="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2-2</a:t>
            </a:r>
            <a:endParaRPr lang="ko-KR" altLang="en-US" sz="2000" spc="0" dirty="0">
              <a:solidFill>
                <a:prstClr val="black">
                  <a:lumMod val="85000"/>
                  <a:lumOff val="1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B133345-C92C-40E8-BF3B-D92E22377D6C}"/>
              </a:ext>
            </a:extLst>
          </p:cNvPr>
          <p:cNvSpPr/>
          <p:nvPr/>
        </p:nvSpPr>
        <p:spPr>
          <a:xfrm flipV="1">
            <a:off x="0" y="847230"/>
            <a:ext cx="770282" cy="28800"/>
          </a:xfrm>
          <a:prstGeom prst="rect">
            <a:avLst/>
          </a:prstGeom>
          <a:solidFill>
            <a:srgbClr val="0048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8" name="제목 1">
            <a:extLst>
              <a:ext uri="{FF2B5EF4-FFF2-40B4-BE49-F238E27FC236}">
                <a16:creationId xmlns:a16="http://schemas.microsoft.com/office/drawing/2014/main" id="{8665459D-C324-47E8-A25A-F93EFD004CE0}"/>
              </a:ext>
            </a:extLst>
          </p:cNvPr>
          <p:cNvSpPr txBox="1">
            <a:spLocks/>
          </p:cNvSpPr>
          <p:nvPr/>
        </p:nvSpPr>
        <p:spPr>
          <a:xfrm>
            <a:off x="870805" y="393690"/>
            <a:ext cx="7396700" cy="44606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kern="1200" spc="-150">
                <a:solidFill>
                  <a:schemeClr val="tx1">
                    <a:lumMod val="85000"/>
                    <a:lumOff val="15000"/>
                  </a:schemeClr>
                </a:solidFill>
                <a:latin typeface="다음_Regular" panose="02000603060000000000" pitchFamily="2" charset="-127"/>
                <a:ea typeface="다음_Regular" panose="02000603060000000000" pitchFamily="2" charset="-127"/>
                <a:cs typeface="+mj-cs"/>
              </a:defRPr>
            </a:lvl1pPr>
          </a:lstStyle>
          <a:p>
            <a:pPr lvl="0">
              <a:defRPr/>
            </a:pPr>
            <a:r>
              <a:rPr lang="ko-KR" altLang="en-US" sz="2800" spc="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사용자 편의 기능</a:t>
            </a:r>
            <a:endParaRPr lang="ko-KR" altLang="en-US" sz="2000" spc="0" dirty="0">
              <a:solidFill>
                <a:prstClr val="black">
                  <a:lumMod val="85000"/>
                  <a:lumOff val="1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22" name="SK-10-img-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8361" y="1263536"/>
            <a:ext cx="3115384" cy="377397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351422" y="1863860"/>
            <a:ext cx="25631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수정 요망</a:t>
            </a:r>
            <a:endParaRPr lang="en-US" altLang="ko-KR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581996" y="2879682"/>
            <a:ext cx="2087666" cy="378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1. </a:t>
            </a:r>
            <a:r>
              <a:rPr lang="ko-KR" altLang="en-US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클라이언트 동향</a:t>
            </a:r>
            <a:endParaRPr lang="en-US" altLang="ko-KR" sz="1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581995" y="3344367"/>
            <a:ext cx="2087666" cy="378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2. </a:t>
            </a:r>
            <a:r>
              <a:rPr lang="ko-KR" altLang="en-US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업무 관련 뉴스</a:t>
            </a:r>
            <a:endParaRPr lang="en-US" altLang="ko-KR" sz="1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581995" y="3809051"/>
            <a:ext cx="2087666" cy="378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3. </a:t>
            </a:r>
            <a:r>
              <a:rPr lang="ko-KR" altLang="en-US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리서치 </a:t>
            </a:r>
            <a:r>
              <a:rPr lang="ko-KR" altLang="en-US" sz="1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인사이트</a:t>
            </a:r>
            <a:endParaRPr lang="en-US" altLang="ko-KR" sz="1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grpSp>
        <p:nvGrpSpPr>
          <p:cNvPr id="38" name="그룹 37"/>
          <p:cNvGrpSpPr/>
          <p:nvPr/>
        </p:nvGrpSpPr>
        <p:grpSpPr>
          <a:xfrm>
            <a:off x="8351422" y="1497564"/>
            <a:ext cx="1424345" cy="296298"/>
            <a:chOff x="7570026" y="1968157"/>
            <a:chExt cx="1512961" cy="296298"/>
          </a:xfrm>
        </p:grpSpPr>
        <p:pic>
          <p:nvPicPr>
            <p:cNvPr id="39" name="SK-10-img-5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70026" y="1968157"/>
              <a:ext cx="1512961" cy="296298"/>
            </a:xfrm>
            <a:prstGeom prst="rect">
              <a:avLst/>
            </a:prstGeom>
          </p:spPr>
        </p:pic>
        <p:sp>
          <p:nvSpPr>
            <p:cNvPr id="40" name="SK-10-text-26"/>
            <p:cNvSpPr/>
            <p:nvPr/>
          </p:nvSpPr>
          <p:spPr>
            <a:xfrm>
              <a:off x="7640579" y="1978194"/>
              <a:ext cx="1371855" cy="276225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algn="ctr">
                <a:lnSpc>
                  <a:spcPts val="1575"/>
                </a:lnSpc>
              </a:pPr>
              <a:r>
                <a:rPr lang="ko-KR" altLang="en-US" sz="1200" b="1" dirty="0" smtClean="0">
                  <a:solidFill>
                    <a:srgbClr val="003366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저장 자료함</a:t>
              </a:r>
              <a:endPara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8589183" y="4273735"/>
            <a:ext cx="208766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4. </a:t>
            </a:r>
            <a:r>
              <a:rPr lang="ko-KR" altLang="en-US" sz="1400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사회적 트렌드</a:t>
            </a:r>
            <a:endParaRPr lang="en-US" altLang="ko-KR" sz="1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grpSp>
        <p:nvGrpSpPr>
          <p:cNvPr id="42" name="그룹 41"/>
          <p:cNvGrpSpPr/>
          <p:nvPr/>
        </p:nvGrpSpPr>
        <p:grpSpPr>
          <a:xfrm>
            <a:off x="626055" y="5524380"/>
            <a:ext cx="10637689" cy="709457"/>
            <a:chOff x="1014151" y="1699951"/>
            <a:chExt cx="22251814" cy="1859499"/>
          </a:xfrm>
        </p:grpSpPr>
        <p:sp>
          <p:nvSpPr>
            <p:cNvPr id="43" name="직사각형 42"/>
            <p:cNvSpPr/>
            <p:nvPr/>
          </p:nvSpPr>
          <p:spPr>
            <a:xfrm>
              <a:off x="1014151" y="1704108"/>
              <a:ext cx="22251814" cy="1855342"/>
            </a:xfrm>
            <a:prstGeom prst="rect">
              <a:avLst/>
            </a:prstGeom>
            <a:solidFill>
              <a:srgbClr val="F7F7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직사각형 43"/>
            <p:cNvSpPr/>
            <p:nvPr/>
          </p:nvSpPr>
          <p:spPr>
            <a:xfrm flipH="1">
              <a:off x="1059866" y="1699951"/>
              <a:ext cx="130853" cy="1855343"/>
            </a:xfrm>
            <a:prstGeom prst="rect">
              <a:avLst/>
            </a:prstGeom>
            <a:solidFill>
              <a:srgbClr val="0048D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5" name="TextBox 44"/>
          <p:cNvSpPr txBox="1"/>
          <p:nvPr/>
        </p:nvSpPr>
        <p:spPr>
          <a:xfrm>
            <a:off x="1031985" y="5724426"/>
            <a:ext cx="92883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수정 요망</a:t>
            </a:r>
            <a:endParaRPr lang="en-US" altLang="ko-KR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46" name="Image 2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971" y="5802115"/>
            <a:ext cx="190500" cy="152400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909" y="1263536"/>
            <a:ext cx="7369200" cy="373702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23171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제목 1">
            <a:extLst>
              <a:ext uri="{FF2B5EF4-FFF2-40B4-BE49-F238E27FC236}">
                <a16:creationId xmlns:a16="http://schemas.microsoft.com/office/drawing/2014/main" id="{8665459D-C324-47E8-A25A-F93EFD004CE0}"/>
              </a:ext>
            </a:extLst>
          </p:cNvPr>
          <p:cNvSpPr txBox="1">
            <a:spLocks/>
          </p:cNvSpPr>
          <p:nvPr/>
        </p:nvSpPr>
        <p:spPr>
          <a:xfrm>
            <a:off x="8965" y="393690"/>
            <a:ext cx="861840" cy="44606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kern="1200" spc="-150">
                <a:solidFill>
                  <a:schemeClr val="tx1">
                    <a:lumMod val="85000"/>
                    <a:lumOff val="15000"/>
                  </a:schemeClr>
                </a:solidFill>
                <a:latin typeface="다음_Regular" panose="02000603060000000000" pitchFamily="2" charset="-127"/>
                <a:ea typeface="다음_Regular" panose="02000603060000000000" pitchFamily="2" charset="-127"/>
                <a:cs typeface="+mj-cs"/>
              </a:defRPr>
            </a:lvl1pPr>
          </a:lstStyle>
          <a:p>
            <a:pPr lvl="0">
              <a:defRPr/>
            </a:pPr>
            <a:r>
              <a:rPr lang="en-US" altLang="ko-KR" sz="2800" spc="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2-2</a:t>
            </a:r>
            <a:endParaRPr lang="ko-KR" altLang="en-US" sz="2000" spc="0" dirty="0">
              <a:solidFill>
                <a:prstClr val="black">
                  <a:lumMod val="85000"/>
                  <a:lumOff val="1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B133345-C92C-40E8-BF3B-D92E22377D6C}"/>
              </a:ext>
            </a:extLst>
          </p:cNvPr>
          <p:cNvSpPr/>
          <p:nvPr/>
        </p:nvSpPr>
        <p:spPr>
          <a:xfrm flipV="1">
            <a:off x="0" y="847230"/>
            <a:ext cx="770282" cy="28800"/>
          </a:xfrm>
          <a:prstGeom prst="rect">
            <a:avLst/>
          </a:prstGeom>
          <a:solidFill>
            <a:srgbClr val="0048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8" name="제목 1">
            <a:extLst>
              <a:ext uri="{FF2B5EF4-FFF2-40B4-BE49-F238E27FC236}">
                <a16:creationId xmlns:a16="http://schemas.microsoft.com/office/drawing/2014/main" id="{8665459D-C324-47E8-A25A-F93EFD004CE0}"/>
              </a:ext>
            </a:extLst>
          </p:cNvPr>
          <p:cNvSpPr txBox="1">
            <a:spLocks/>
          </p:cNvSpPr>
          <p:nvPr/>
        </p:nvSpPr>
        <p:spPr>
          <a:xfrm>
            <a:off x="870805" y="393690"/>
            <a:ext cx="7396700" cy="44606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kern="1200" spc="-150">
                <a:solidFill>
                  <a:schemeClr val="tx1">
                    <a:lumMod val="85000"/>
                    <a:lumOff val="15000"/>
                  </a:schemeClr>
                </a:solidFill>
                <a:latin typeface="다음_Regular" panose="02000603060000000000" pitchFamily="2" charset="-127"/>
                <a:ea typeface="다음_Regular" panose="02000603060000000000" pitchFamily="2" charset="-127"/>
                <a:cs typeface="+mj-cs"/>
              </a:defRPr>
            </a:lvl1pPr>
          </a:lstStyle>
          <a:p>
            <a:pPr lvl="0">
              <a:defRPr/>
            </a:pPr>
            <a:r>
              <a:rPr lang="ko-KR" altLang="en-US" sz="2800" spc="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사용자 편의 기능</a:t>
            </a:r>
            <a:endParaRPr lang="ko-KR" altLang="en-US" sz="2000" spc="0" dirty="0">
              <a:solidFill>
                <a:prstClr val="black">
                  <a:lumMod val="85000"/>
                  <a:lumOff val="1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43" name="SK-10-img-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8361" y="1263536"/>
            <a:ext cx="3115384" cy="3773978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8351422" y="1863860"/>
            <a:ext cx="25631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수정 요망</a:t>
            </a:r>
            <a:endParaRPr lang="en-US" altLang="ko-KR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581996" y="2879682"/>
            <a:ext cx="2087666" cy="378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1. </a:t>
            </a:r>
            <a:r>
              <a:rPr lang="ko-KR" altLang="en-US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클라이언트 동향</a:t>
            </a:r>
            <a:endParaRPr lang="en-US" altLang="ko-KR" sz="1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581995" y="3344367"/>
            <a:ext cx="2087666" cy="378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2. </a:t>
            </a:r>
            <a:r>
              <a:rPr lang="ko-KR" altLang="en-US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업무 관련 뉴스</a:t>
            </a:r>
            <a:endParaRPr lang="en-US" altLang="ko-KR" sz="1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8581995" y="3809051"/>
            <a:ext cx="2087666" cy="378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3. </a:t>
            </a:r>
            <a:r>
              <a:rPr lang="ko-KR" altLang="en-US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리서치 </a:t>
            </a:r>
            <a:r>
              <a:rPr lang="ko-KR" altLang="en-US" sz="1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인사이트</a:t>
            </a:r>
            <a:endParaRPr lang="en-US" altLang="ko-KR" sz="1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grpSp>
        <p:nvGrpSpPr>
          <p:cNvPr id="48" name="그룹 47"/>
          <p:cNvGrpSpPr/>
          <p:nvPr/>
        </p:nvGrpSpPr>
        <p:grpSpPr>
          <a:xfrm>
            <a:off x="8351422" y="1497564"/>
            <a:ext cx="1424345" cy="296298"/>
            <a:chOff x="7570026" y="1968157"/>
            <a:chExt cx="1512961" cy="296298"/>
          </a:xfrm>
        </p:grpSpPr>
        <p:pic>
          <p:nvPicPr>
            <p:cNvPr id="49" name="SK-10-img-5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70026" y="1968157"/>
              <a:ext cx="1512961" cy="296298"/>
            </a:xfrm>
            <a:prstGeom prst="rect">
              <a:avLst/>
            </a:prstGeom>
          </p:spPr>
        </p:pic>
        <p:sp>
          <p:nvSpPr>
            <p:cNvPr id="50" name="SK-10-text-26"/>
            <p:cNvSpPr/>
            <p:nvPr/>
          </p:nvSpPr>
          <p:spPr>
            <a:xfrm>
              <a:off x="7640579" y="1978194"/>
              <a:ext cx="1371855" cy="276225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algn="ctr">
                <a:lnSpc>
                  <a:spcPts val="1575"/>
                </a:lnSpc>
              </a:pPr>
              <a:r>
                <a:rPr lang="ko-KR" altLang="en-US" sz="1200" b="1" dirty="0" smtClean="0">
                  <a:solidFill>
                    <a:srgbClr val="003366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지원 및 문의</a:t>
              </a:r>
              <a:endPara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sp>
        <p:nvSpPr>
          <p:cNvPr id="51" name="TextBox 50"/>
          <p:cNvSpPr txBox="1"/>
          <p:nvPr/>
        </p:nvSpPr>
        <p:spPr>
          <a:xfrm>
            <a:off x="8589183" y="4273735"/>
            <a:ext cx="208766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4. </a:t>
            </a:r>
            <a:r>
              <a:rPr lang="ko-KR" altLang="en-US" sz="1400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사회적 트렌드</a:t>
            </a:r>
            <a:endParaRPr lang="en-US" altLang="ko-KR" sz="1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grpSp>
        <p:nvGrpSpPr>
          <p:cNvPr id="52" name="그룹 51"/>
          <p:cNvGrpSpPr/>
          <p:nvPr/>
        </p:nvGrpSpPr>
        <p:grpSpPr>
          <a:xfrm>
            <a:off x="626055" y="5524380"/>
            <a:ext cx="10637689" cy="709457"/>
            <a:chOff x="1014151" y="1699951"/>
            <a:chExt cx="22251814" cy="1859499"/>
          </a:xfrm>
        </p:grpSpPr>
        <p:sp>
          <p:nvSpPr>
            <p:cNvPr id="53" name="직사각형 52"/>
            <p:cNvSpPr/>
            <p:nvPr/>
          </p:nvSpPr>
          <p:spPr>
            <a:xfrm>
              <a:off x="1014151" y="1704108"/>
              <a:ext cx="22251814" cy="1855342"/>
            </a:xfrm>
            <a:prstGeom prst="rect">
              <a:avLst/>
            </a:prstGeom>
            <a:solidFill>
              <a:srgbClr val="F7F7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직사각형 53"/>
            <p:cNvSpPr/>
            <p:nvPr/>
          </p:nvSpPr>
          <p:spPr>
            <a:xfrm flipH="1">
              <a:off x="1059866" y="1699951"/>
              <a:ext cx="130853" cy="1855343"/>
            </a:xfrm>
            <a:prstGeom prst="rect">
              <a:avLst/>
            </a:prstGeom>
            <a:solidFill>
              <a:srgbClr val="0048D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5" name="TextBox 54"/>
          <p:cNvSpPr txBox="1"/>
          <p:nvPr/>
        </p:nvSpPr>
        <p:spPr>
          <a:xfrm>
            <a:off x="1031985" y="5724426"/>
            <a:ext cx="92883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수정 요망</a:t>
            </a:r>
            <a:endParaRPr lang="en-US" altLang="ko-KR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56" name="Image 2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971" y="5802115"/>
            <a:ext cx="190500" cy="152400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061" y="1261950"/>
            <a:ext cx="7369200" cy="373565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67304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제목 1">
            <a:extLst>
              <a:ext uri="{FF2B5EF4-FFF2-40B4-BE49-F238E27FC236}">
                <a16:creationId xmlns:a16="http://schemas.microsoft.com/office/drawing/2014/main" id="{8665459D-C324-47E8-A25A-F93EFD004CE0}"/>
              </a:ext>
            </a:extLst>
          </p:cNvPr>
          <p:cNvSpPr txBox="1">
            <a:spLocks/>
          </p:cNvSpPr>
          <p:nvPr/>
        </p:nvSpPr>
        <p:spPr>
          <a:xfrm>
            <a:off x="8965" y="393690"/>
            <a:ext cx="861840" cy="44606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kern="1200" spc="-150">
                <a:solidFill>
                  <a:schemeClr val="tx1">
                    <a:lumMod val="85000"/>
                    <a:lumOff val="15000"/>
                  </a:schemeClr>
                </a:solidFill>
                <a:latin typeface="다음_Regular" panose="02000603060000000000" pitchFamily="2" charset="-127"/>
                <a:ea typeface="다음_Regular" panose="02000603060000000000" pitchFamily="2" charset="-127"/>
                <a:cs typeface="+mj-cs"/>
              </a:defRPr>
            </a:lvl1pPr>
          </a:lstStyle>
          <a:p>
            <a:pPr lvl="0">
              <a:defRPr/>
            </a:pPr>
            <a:r>
              <a:rPr lang="en-US" altLang="ko-KR" sz="2800" spc="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2-3</a:t>
            </a:r>
            <a:endParaRPr lang="ko-KR" altLang="en-US" sz="2000" spc="0" dirty="0">
              <a:solidFill>
                <a:prstClr val="black">
                  <a:lumMod val="85000"/>
                  <a:lumOff val="1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B133345-C92C-40E8-BF3B-D92E22377D6C}"/>
              </a:ext>
            </a:extLst>
          </p:cNvPr>
          <p:cNvSpPr/>
          <p:nvPr/>
        </p:nvSpPr>
        <p:spPr>
          <a:xfrm flipV="1">
            <a:off x="0" y="847230"/>
            <a:ext cx="770282" cy="28800"/>
          </a:xfrm>
          <a:prstGeom prst="rect">
            <a:avLst/>
          </a:prstGeom>
          <a:solidFill>
            <a:srgbClr val="0048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8" name="제목 1">
            <a:extLst>
              <a:ext uri="{FF2B5EF4-FFF2-40B4-BE49-F238E27FC236}">
                <a16:creationId xmlns:a16="http://schemas.microsoft.com/office/drawing/2014/main" id="{8665459D-C324-47E8-A25A-F93EFD004CE0}"/>
              </a:ext>
            </a:extLst>
          </p:cNvPr>
          <p:cNvSpPr txBox="1">
            <a:spLocks/>
          </p:cNvSpPr>
          <p:nvPr/>
        </p:nvSpPr>
        <p:spPr>
          <a:xfrm>
            <a:off x="870805" y="393690"/>
            <a:ext cx="7396700" cy="44606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kern="1200" spc="-150">
                <a:solidFill>
                  <a:schemeClr val="tx1">
                    <a:lumMod val="85000"/>
                    <a:lumOff val="15000"/>
                  </a:schemeClr>
                </a:solidFill>
                <a:latin typeface="다음_Regular" panose="02000603060000000000" pitchFamily="2" charset="-127"/>
                <a:ea typeface="다음_Regular" panose="02000603060000000000" pitchFamily="2" charset="-127"/>
                <a:cs typeface="+mj-cs"/>
              </a:defRPr>
            </a:lvl1pPr>
          </a:lstStyle>
          <a:p>
            <a:pPr lvl="0">
              <a:defRPr/>
            </a:pPr>
            <a:r>
              <a:rPr lang="ko-KR" altLang="en-US" sz="2800" spc="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추진 성과</a:t>
            </a:r>
            <a:endParaRPr lang="ko-KR" altLang="en-US" sz="2000" spc="0" dirty="0">
              <a:solidFill>
                <a:prstClr val="black">
                  <a:lumMod val="85000"/>
                  <a:lumOff val="1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581556" y="1360649"/>
            <a:ext cx="7811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개의 자동화 </a:t>
            </a:r>
            <a:r>
              <a:rPr lang="ko-KR" altLang="en-US" b="1" dirty="0" err="1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워크플로우</a:t>
            </a:r>
            <a:r>
              <a:rPr lang="ko-KR" altLang="en-US" b="1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설계</a:t>
            </a:r>
            <a:endParaRPr lang="en-US" altLang="ko-KR" b="1" dirty="0" smtClean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48664" y="1698862"/>
            <a:ext cx="86859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주요 기능 </a:t>
            </a:r>
            <a:r>
              <a:rPr lang="en-US" altLang="ko-KR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뉴스 </a:t>
            </a:r>
            <a:r>
              <a:rPr lang="ko-KR" altLang="en-US" dirty="0" err="1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크롤링</a:t>
            </a:r>
            <a:r>
              <a:rPr lang="en-US" altLang="ko-KR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AI</a:t>
            </a:r>
            <a:r>
              <a:rPr lang="ko-KR" altLang="en-US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리포트 생성</a:t>
            </a:r>
            <a:r>
              <a:rPr lang="en-US" altLang="ko-KR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뉴스레터 자료 취합</a:t>
            </a:r>
            <a:r>
              <a:rPr lang="en-US" altLang="ko-KR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뉴스레터 제작 및 발송</a:t>
            </a:r>
            <a:endParaRPr lang="en-US" altLang="ko-KR" dirty="0" smtClean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추가 기능 </a:t>
            </a:r>
            <a:r>
              <a:rPr lang="en-US" altLang="ko-KR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클라이언트 동향 수집</a:t>
            </a:r>
            <a:r>
              <a:rPr lang="en-US" altLang="ko-KR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회원 관리</a:t>
            </a:r>
            <a:endParaRPr lang="en-US" altLang="ko-KR" dirty="0" smtClean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9" name="SK-5-text-18"/>
          <p:cNvSpPr/>
          <p:nvPr/>
        </p:nvSpPr>
        <p:spPr>
          <a:xfrm>
            <a:off x="-209144" y="1063388"/>
            <a:ext cx="1790700" cy="135877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7500" b="1" dirty="0">
                <a:solidFill>
                  <a:srgbClr val="D5E3FF"/>
                </a:solidFill>
                <a:latin typeface="Noto Sans KR" pitchFamily="34" charset="0"/>
                <a:ea typeface="Noto Sans KR" pitchFamily="34" charset="-122"/>
              </a:rPr>
              <a:t>6</a:t>
            </a:r>
            <a:endParaRPr lang="en-US" sz="7500" dirty="0">
              <a:solidFill>
                <a:srgbClr val="D5E3FF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39364" y="3016689"/>
            <a:ext cx="7811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개의 핵심 키워드 기반 리서치 체계 구축</a:t>
            </a:r>
            <a:endParaRPr lang="en-US" altLang="ko-KR" b="1" dirty="0" smtClean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906472" y="3354902"/>
            <a:ext cx="81045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부서별 전개 중인 사업 관련 키워드 선정 </a:t>
            </a:r>
            <a:endParaRPr lang="en-US" altLang="ko-KR" dirty="0" smtClean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endParaRPr lang="en-US" altLang="ko-KR" dirty="0" smtClean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12" name="SK-5-text-18"/>
          <p:cNvSpPr/>
          <p:nvPr/>
        </p:nvSpPr>
        <p:spPr>
          <a:xfrm>
            <a:off x="1848664" y="2719428"/>
            <a:ext cx="1790700" cy="135877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7500" b="1" dirty="0" smtClean="0">
                <a:solidFill>
                  <a:srgbClr val="D5E3FF"/>
                </a:solidFill>
                <a:latin typeface="Noto Sans KR" pitchFamily="34" charset="0"/>
                <a:ea typeface="Noto Sans KR" pitchFamily="34" charset="-122"/>
              </a:rPr>
              <a:t>100</a:t>
            </a:r>
            <a:endParaRPr lang="en-US" sz="7500" dirty="0">
              <a:solidFill>
                <a:srgbClr val="D5E3F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661505" y="4672729"/>
            <a:ext cx="7811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추가 요망</a:t>
            </a:r>
            <a:endParaRPr lang="en-US" altLang="ko-KR" b="1" dirty="0" smtClean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928613" y="5010942"/>
            <a:ext cx="8685986" cy="459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추가 요망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15" name="SK-5-text-18"/>
          <p:cNvSpPr/>
          <p:nvPr/>
        </p:nvSpPr>
        <p:spPr>
          <a:xfrm>
            <a:off x="870805" y="4375468"/>
            <a:ext cx="1790700" cy="135877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7500" b="1" dirty="0" smtClean="0">
                <a:solidFill>
                  <a:srgbClr val="D5E3FF"/>
                </a:solidFill>
                <a:latin typeface="Noto Sans KR" pitchFamily="34" charset="0"/>
                <a:ea typeface="Noto Sans KR" pitchFamily="34" charset="-122"/>
              </a:rPr>
              <a:t>000</a:t>
            </a:r>
            <a:endParaRPr lang="en-US" sz="7500" dirty="0">
              <a:solidFill>
                <a:srgbClr val="D5E3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2507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제목 1">
            <a:extLst>
              <a:ext uri="{FF2B5EF4-FFF2-40B4-BE49-F238E27FC236}">
                <a16:creationId xmlns:a16="http://schemas.microsoft.com/office/drawing/2014/main" id="{8665459D-C324-47E8-A25A-F93EFD004CE0}"/>
              </a:ext>
            </a:extLst>
          </p:cNvPr>
          <p:cNvSpPr txBox="1">
            <a:spLocks/>
          </p:cNvSpPr>
          <p:nvPr/>
        </p:nvSpPr>
        <p:spPr>
          <a:xfrm>
            <a:off x="8965" y="393690"/>
            <a:ext cx="861840" cy="44606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kern="1200" spc="-150">
                <a:solidFill>
                  <a:schemeClr val="tx1">
                    <a:lumMod val="85000"/>
                    <a:lumOff val="15000"/>
                  </a:schemeClr>
                </a:solidFill>
                <a:latin typeface="다음_Regular" panose="02000603060000000000" pitchFamily="2" charset="-127"/>
                <a:ea typeface="다음_Regular" panose="02000603060000000000" pitchFamily="2" charset="-127"/>
                <a:cs typeface="+mj-cs"/>
              </a:defRPr>
            </a:lvl1pPr>
          </a:lstStyle>
          <a:p>
            <a:pPr lvl="0">
              <a:defRPr/>
            </a:pPr>
            <a:r>
              <a:rPr lang="en-US" altLang="ko-KR" sz="2800" spc="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2-3</a:t>
            </a:r>
            <a:endParaRPr lang="ko-KR" altLang="en-US" sz="2000" spc="0" dirty="0">
              <a:solidFill>
                <a:prstClr val="black">
                  <a:lumMod val="85000"/>
                  <a:lumOff val="1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B133345-C92C-40E8-BF3B-D92E22377D6C}"/>
              </a:ext>
            </a:extLst>
          </p:cNvPr>
          <p:cNvSpPr/>
          <p:nvPr/>
        </p:nvSpPr>
        <p:spPr>
          <a:xfrm flipV="1">
            <a:off x="0" y="847230"/>
            <a:ext cx="770282" cy="28800"/>
          </a:xfrm>
          <a:prstGeom prst="rect">
            <a:avLst/>
          </a:prstGeom>
          <a:solidFill>
            <a:srgbClr val="0048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8" name="제목 1">
            <a:extLst>
              <a:ext uri="{FF2B5EF4-FFF2-40B4-BE49-F238E27FC236}">
                <a16:creationId xmlns:a16="http://schemas.microsoft.com/office/drawing/2014/main" id="{8665459D-C324-47E8-A25A-F93EFD004CE0}"/>
              </a:ext>
            </a:extLst>
          </p:cNvPr>
          <p:cNvSpPr txBox="1">
            <a:spLocks/>
          </p:cNvSpPr>
          <p:nvPr/>
        </p:nvSpPr>
        <p:spPr>
          <a:xfrm>
            <a:off x="870805" y="393690"/>
            <a:ext cx="7396700" cy="44606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kern="1200" spc="-150">
                <a:solidFill>
                  <a:schemeClr val="tx1">
                    <a:lumMod val="85000"/>
                    <a:lumOff val="15000"/>
                  </a:schemeClr>
                </a:solidFill>
                <a:latin typeface="다음_Regular" panose="02000603060000000000" pitchFamily="2" charset="-127"/>
                <a:ea typeface="다음_Regular" panose="02000603060000000000" pitchFamily="2" charset="-127"/>
                <a:cs typeface="+mj-cs"/>
              </a:defRPr>
            </a:lvl1pPr>
          </a:lstStyle>
          <a:p>
            <a:pPr lvl="0">
              <a:defRPr/>
            </a:pPr>
            <a:r>
              <a:rPr lang="ko-KR" altLang="en-US" sz="2800" spc="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추진 성과</a:t>
            </a:r>
            <a:endParaRPr lang="ko-KR" altLang="en-US" sz="2000" spc="0" dirty="0">
              <a:solidFill>
                <a:prstClr val="black">
                  <a:lumMod val="85000"/>
                  <a:lumOff val="1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242811" y="1781775"/>
            <a:ext cx="7811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초의 평균 뉴스 기사 </a:t>
            </a:r>
            <a:r>
              <a:rPr lang="ko-KR" altLang="en-US" b="1" dirty="0" err="1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크롤링</a:t>
            </a:r>
            <a:r>
              <a:rPr lang="ko-KR" altLang="en-US" b="1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소요 시간</a:t>
            </a:r>
            <a:endParaRPr lang="en-US" altLang="ko-KR" b="1" dirty="0" smtClean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509919" y="2119988"/>
            <a:ext cx="868598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100</a:t>
            </a:r>
            <a:r>
              <a:rPr lang="ko-KR" altLang="en-US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개 기사 중 중복 건 제거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후 사용자에게 </a:t>
            </a:r>
            <a:r>
              <a:rPr lang="en-US" altLang="ko-KR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20</a:t>
            </a:r>
            <a:r>
              <a:rPr lang="ko-KR" altLang="en-US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개 제안</a:t>
            </a:r>
            <a:endParaRPr lang="en-US" altLang="ko-KR" dirty="0" smtClean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15" name="SK-5-text-18"/>
          <p:cNvSpPr/>
          <p:nvPr/>
        </p:nvSpPr>
        <p:spPr>
          <a:xfrm>
            <a:off x="452111" y="1484514"/>
            <a:ext cx="1790700" cy="135877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7500" b="1" dirty="0" smtClean="0">
                <a:solidFill>
                  <a:srgbClr val="D5E3FF"/>
                </a:solidFill>
                <a:latin typeface="Noto Sans KR" pitchFamily="34" charset="0"/>
                <a:ea typeface="Noto Sans KR" pitchFamily="34" charset="-122"/>
              </a:rPr>
              <a:t>7.5</a:t>
            </a:r>
            <a:endParaRPr lang="en-US" sz="7500" dirty="0">
              <a:solidFill>
                <a:srgbClr val="D5E3FF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75190" y="3296250"/>
            <a:ext cx="7811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초의 평균 </a:t>
            </a:r>
            <a:r>
              <a:rPr lang="en-US" altLang="ko-KR" b="1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AI </a:t>
            </a:r>
            <a:r>
              <a:rPr lang="ko-KR" altLang="en-US" b="1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리포트 생성 소요 시간</a:t>
            </a:r>
            <a:endParaRPr lang="en-US" altLang="ko-KR" b="1" dirty="0" smtClean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442298" y="3634463"/>
            <a:ext cx="7473477" cy="459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자사 사업 맥락 자료 기반 유의미한 시사점 및 </a:t>
            </a:r>
            <a:r>
              <a:rPr lang="en-US" altLang="ko-KR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Action Plan </a:t>
            </a:r>
            <a:r>
              <a:rPr lang="ko-KR" altLang="en-US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제공</a:t>
            </a:r>
            <a:endParaRPr lang="en-US" altLang="ko-KR" dirty="0" smtClean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18" name="SK-5-text-18"/>
          <p:cNvSpPr/>
          <p:nvPr/>
        </p:nvSpPr>
        <p:spPr>
          <a:xfrm>
            <a:off x="2007336" y="2998989"/>
            <a:ext cx="2167854" cy="135877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7500" b="1" dirty="0" smtClean="0">
                <a:solidFill>
                  <a:srgbClr val="D5E3FF"/>
                </a:solidFill>
                <a:latin typeface="Noto Sans KR" pitchFamily="34" charset="0"/>
                <a:ea typeface="Noto Sans KR" pitchFamily="34" charset="-122"/>
              </a:rPr>
              <a:t>13.4</a:t>
            </a:r>
            <a:endParaRPr lang="en-US" sz="7500" dirty="0">
              <a:solidFill>
                <a:srgbClr val="D5E3FF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038659" y="4895296"/>
            <a:ext cx="7811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추가 요망</a:t>
            </a:r>
            <a:endParaRPr lang="en-US" altLang="ko-KR" b="1" dirty="0" smtClean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305767" y="5233509"/>
            <a:ext cx="7473477" cy="459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추가 요망</a:t>
            </a:r>
            <a:endParaRPr lang="en-US" altLang="ko-KR" dirty="0" smtClean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21" name="SK-5-text-18"/>
          <p:cNvSpPr/>
          <p:nvPr/>
        </p:nvSpPr>
        <p:spPr>
          <a:xfrm>
            <a:off x="870805" y="4598035"/>
            <a:ext cx="2167854" cy="135877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7500" b="1" dirty="0" smtClean="0">
                <a:solidFill>
                  <a:srgbClr val="D5E3FF"/>
                </a:solidFill>
                <a:latin typeface="Noto Sans KR" pitchFamily="34" charset="0"/>
                <a:ea typeface="Noto Sans KR" pitchFamily="34" charset="-122"/>
              </a:rPr>
              <a:t>000</a:t>
            </a:r>
            <a:endParaRPr lang="en-US" sz="7500" dirty="0">
              <a:solidFill>
                <a:srgbClr val="D5E3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8116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제목 1">
            <a:extLst>
              <a:ext uri="{FF2B5EF4-FFF2-40B4-BE49-F238E27FC236}">
                <a16:creationId xmlns:a16="http://schemas.microsoft.com/office/drawing/2014/main" id="{8665459D-C324-47E8-A25A-F93EFD004CE0}"/>
              </a:ext>
            </a:extLst>
          </p:cNvPr>
          <p:cNvSpPr txBox="1">
            <a:spLocks/>
          </p:cNvSpPr>
          <p:nvPr/>
        </p:nvSpPr>
        <p:spPr>
          <a:xfrm>
            <a:off x="8965" y="393690"/>
            <a:ext cx="861840" cy="44606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kern="1200" spc="-150">
                <a:solidFill>
                  <a:schemeClr val="tx1">
                    <a:lumMod val="85000"/>
                    <a:lumOff val="15000"/>
                  </a:schemeClr>
                </a:solidFill>
                <a:latin typeface="다음_Regular" panose="02000603060000000000" pitchFamily="2" charset="-127"/>
                <a:ea typeface="다음_Regular" panose="02000603060000000000" pitchFamily="2" charset="-127"/>
                <a:cs typeface="+mj-cs"/>
              </a:defRPr>
            </a:lvl1pPr>
          </a:lstStyle>
          <a:p>
            <a:pPr lvl="0">
              <a:defRPr/>
            </a:pPr>
            <a:r>
              <a:rPr lang="en-US" altLang="ko-KR" sz="2800" spc="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2-4</a:t>
            </a:r>
            <a:endParaRPr lang="ko-KR" altLang="en-US" sz="2000" spc="0" dirty="0">
              <a:solidFill>
                <a:prstClr val="black">
                  <a:lumMod val="85000"/>
                  <a:lumOff val="1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B133345-C92C-40E8-BF3B-D92E22377D6C}"/>
              </a:ext>
            </a:extLst>
          </p:cNvPr>
          <p:cNvSpPr/>
          <p:nvPr/>
        </p:nvSpPr>
        <p:spPr>
          <a:xfrm flipV="1">
            <a:off x="0" y="847230"/>
            <a:ext cx="770282" cy="28800"/>
          </a:xfrm>
          <a:prstGeom prst="rect">
            <a:avLst/>
          </a:prstGeom>
          <a:solidFill>
            <a:srgbClr val="0048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8" name="제목 1">
            <a:extLst>
              <a:ext uri="{FF2B5EF4-FFF2-40B4-BE49-F238E27FC236}">
                <a16:creationId xmlns:a16="http://schemas.microsoft.com/office/drawing/2014/main" id="{8665459D-C324-47E8-A25A-F93EFD004CE0}"/>
              </a:ext>
            </a:extLst>
          </p:cNvPr>
          <p:cNvSpPr txBox="1">
            <a:spLocks/>
          </p:cNvSpPr>
          <p:nvPr/>
        </p:nvSpPr>
        <p:spPr>
          <a:xfrm>
            <a:off x="870805" y="393690"/>
            <a:ext cx="7396700" cy="44606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kern="1200" spc="-150">
                <a:solidFill>
                  <a:schemeClr val="tx1">
                    <a:lumMod val="85000"/>
                    <a:lumOff val="15000"/>
                  </a:schemeClr>
                </a:solidFill>
                <a:latin typeface="다음_Regular" panose="02000603060000000000" pitchFamily="2" charset="-127"/>
                <a:ea typeface="다음_Regular" panose="02000603060000000000" pitchFamily="2" charset="-127"/>
                <a:cs typeface="+mj-cs"/>
              </a:defRPr>
            </a:lvl1pPr>
          </a:lstStyle>
          <a:p>
            <a:pPr lvl="0">
              <a:defRPr/>
            </a:pPr>
            <a:r>
              <a:rPr lang="ko-KR" altLang="en-US" sz="2800" spc="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기능 시현</a:t>
            </a:r>
            <a:endParaRPr lang="ko-KR" altLang="en-US" sz="2000" spc="0" dirty="0">
              <a:solidFill>
                <a:prstClr val="black">
                  <a:lumMod val="85000"/>
                  <a:lumOff val="1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2323" y="1239981"/>
            <a:ext cx="4380807" cy="438080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49059" y="5503024"/>
            <a:ext cx="464733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b="1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bpodsplan1.github.io/Research-On/</a:t>
            </a:r>
            <a:endParaRPr lang="en-US" altLang="ko-KR" dirty="0" smtClean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81" r="17827"/>
          <a:stretch/>
        </p:blipFill>
        <p:spPr>
          <a:xfrm>
            <a:off x="1035380" y="1433922"/>
            <a:ext cx="5619749" cy="4565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773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>
            <a:extLst>
              <a:ext uri="{FF2B5EF4-FFF2-40B4-BE49-F238E27FC236}">
                <a16:creationId xmlns:a16="http://schemas.microsoft.com/office/drawing/2014/main" id="{8665459D-C324-47E8-A25A-F93EFD004CE0}"/>
              </a:ext>
            </a:extLst>
          </p:cNvPr>
          <p:cNvSpPr txBox="1">
            <a:spLocks/>
          </p:cNvSpPr>
          <p:nvPr/>
        </p:nvSpPr>
        <p:spPr>
          <a:xfrm>
            <a:off x="0" y="2456405"/>
            <a:ext cx="12192000" cy="1453215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kern="1200" spc="-150">
                <a:solidFill>
                  <a:schemeClr val="tx1">
                    <a:lumMod val="85000"/>
                    <a:lumOff val="15000"/>
                  </a:schemeClr>
                </a:solidFill>
                <a:latin typeface="다음_Regular" panose="02000603060000000000" pitchFamily="2" charset="-127"/>
                <a:ea typeface="다음_Regular" panose="02000603060000000000" pitchFamily="2" charset="-127"/>
                <a:cs typeface="+mj-cs"/>
              </a:defRPr>
            </a:lvl1pPr>
          </a:lstStyle>
          <a:p>
            <a:pPr lvl="0" algn="ctr">
              <a:defRPr/>
            </a:pPr>
            <a:r>
              <a:rPr lang="en-US" altLang="ko-KR" spc="0" dirty="0" smtClean="0">
                <a:solidFill>
                  <a:srgbClr val="1F2A44"/>
                </a:solidFill>
                <a:latin typeface="+mj-lt"/>
                <a:ea typeface="+mj-ea"/>
                <a:cs typeface="KoPubWorld돋움체 Bold" panose="00000800000000000000" pitchFamily="2" charset="-127"/>
              </a:rPr>
              <a:t>3. </a:t>
            </a:r>
            <a:r>
              <a:rPr lang="ko-KR" altLang="en-US" spc="0" dirty="0" smtClean="0">
                <a:solidFill>
                  <a:srgbClr val="1F2A44"/>
                </a:solidFill>
                <a:latin typeface="+mj-lt"/>
                <a:ea typeface="+mj-ea"/>
                <a:cs typeface="KoPubWorld돋움체 Bold" panose="00000800000000000000" pitchFamily="2" charset="-127"/>
              </a:rPr>
              <a:t>확장 및 고도화</a:t>
            </a:r>
            <a:endParaRPr lang="ko-KR" altLang="en-US" spc="0" dirty="0">
              <a:solidFill>
                <a:srgbClr val="1F2A44"/>
              </a:solidFill>
              <a:latin typeface="+mj-lt"/>
              <a:ea typeface="+mj-ea"/>
              <a:cs typeface="KoPubWorld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46448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제목 1">
            <a:extLst>
              <a:ext uri="{FF2B5EF4-FFF2-40B4-BE49-F238E27FC236}">
                <a16:creationId xmlns:a16="http://schemas.microsoft.com/office/drawing/2014/main" id="{8665459D-C324-47E8-A25A-F93EFD004CE0}"/>
              </a:ext>
            </a:extLst>
          </p:cNvPr>
          <p:cNvSpPr txBox="1">
            <a:spLocks/>
          </p:cNvSpPr>
          <p:nvPr/>
        </p:nvSpPr>
        <p:spPr>
          <a:xfrm>
            <a:off x="8965" y="393690"/>
            <a:ext cx="861840" cy="44606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kern="1200" spc="-150">
                <a:solidFill>
                  <a:schemeClr val="tx1">
                    <a:lumMod val="85000"/>
                    <a:lumOff val="15000"/>
                  </a:schemeClr>
                </a:solidFill>
                <a:latin typeface="다음_Regular" panose="02000603060000000000" pitchFamily="2" charset="-127"/>
                <a:ea typeface="다음_Regular" panose="02000603060000000000" pitchFamily="2" charset="-127"/>
                <a:cs typeface="+mj-cs"/>
              </a:defRPr>
            </a:lvl1pPr>
          </a:lstStyle>
          <a:p>
            <a:pPr lvl="0">
              <a:defRPr/>
            </a:pPr>
            <a:r>
              <a:rPr lang="en-US" altLang="ko-KR" sz="2800" spc="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3-1</a:t>
            </a:r>
            <a:endParaRPr lang="ko-KR" altLang="en-US" sz="2000" spc="0" dirty="0">
              <a:solidFill>
                <a:prstClr val="black">
                  <a:lumMod val="85000"/>
                  <a:lumOff val="1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B133345-C92C-40E8-BF3B-D92E22377D6C}"/>
              </a:ext>
            </a:extLst>
          </p:cNvPr>
          <p:cNvSpPr/>
          <p:nvPr/>
        </p:nvSpPr>
        <p:spPr>
          <a:xfrm flipV="1">
            <a:off x="0" y="847230"/>
            <a:ext cx="770282" cy="28800"/>
          </a:xfrm>
          <a:prstGeom prst="rect">
            <a:avLst/>
          </a:prstGeom>
          <a:solidFill>
            <a:srgbClr val="0048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8" name="제목 1">
            <a:extLst>
              <a:ext uri="{FF2B5EF4-FFF2-40B4-BE49-F238E27FC236}">
                <a16:creationId xmlns:a16="http://schemas.microsoft.com/office/drawing/2014/main" id="{8665459D-C324-47E8-A25A-F93EFD004CE0}"/>
              </a:ext>
            </a:extLst>
          </p:cNvPr>
          <p:cNvSpPr txBox="1">
            <a:spLocks/>
          </p:cNvSpPr>
          <p:nvPr/>
        </p:nvSpPr>
        <p:spPr>
          <a:xfrm>
            <a:off x="870805" y="393690"/>
            <a:ext cx="7396700" cy="44606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kern="1200" spc="-150">
                <a:solidFill>
                  <a:schemeClr val="tx1">
                    <a:lumMod val="85000"/>
                    <a:lumOff val="15000"/>
                  </a:schemeClr>
                </a:solidFill>
                <a:latin typeface="다음_Regular" panose="02000603060000000000" pitchFamily="2" charset="-127"/>
                <a:ea typeface="다음_Regular" panose="02000603060000000000" pitchFamily="2" charset="-127"/>
                <a:cs typeface="+mj-cs"/>
              </a:defRPr>
            </a:lvl1pPr>
          </a:lstStyle>
          <a:p>
            <a:pPr lvl="0">
              <a:defRPr/>
            </a:pPr>
            <a:r>
              <a:rPr lang="ko-KR" altLang="en-US" sz="2800" spc="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향후 계획</a:t>
            </a:r>
            <a:endParaRPr lang="ko-KR" altLang="en-US" sz="2000" spc="0" dirty="0">
              <a:solidFill>
                <a:prstClr val="black">
                  <a:lumMod val="85000"/>
                  <a:lumOff val="1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5" name="모서리가 둥근 직사각형 34"/>
          <p:cNvSpPr/>
          <p:nvPr/>
        </p:nvSpPr>
        <p:spPr>
          <a:xfrm>
            <a:off x="897365" y="1173967"/>
            <a:ext cx="10397270" cy="1728000"/>
          </a:xfrm>
          <a:prstGeom prst="roundRect">
            <a:avLst>
              <a:gd name="adj" fmla="val 8275"/>
            </a:avLst>
          </a:prstGeom>
          <a:noFill/>
          <a:ln w="19050">
            <a:solidFill>
              <a:srgbClr val="F3F3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모서리가 둥근 직사각형 1"/>
          <p:cNvSpPr/>
          <p:nvPr/>
        </p:nvSpPr>
        <p:spPr>
          <a:xfrm>
            <a:off x="1335515" y="1542667"/>
            <a:ext cx="952500" cy="990600"/>
          </a:xfrm>
          <a:prstGeom prst="roundRect">
            <a:avLst>
              <a:gd name="adj" fmla="val 10667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모서리가 둥근 직사각형 36"/>
          <p:cNvSpPr/>
          <p:nvPr/>
        </p:nvSpPr>
        <p:spPr>
          <a:xfrm>
            <a:off x="897365" y="3017383"/>
            <a:ext cx="10397270" cy="1728000"/>
          </a:xfrm>
          <a:prstGeom prst="roundRect">
            <a:avLst>
              <a:gd name="adj" fmla="val 8275"/>
            </a:avLst>
          </a:prstGeom>
          <a:noFill/>
          <a:ln w="19050">
            <a:solidFill>
              <a:srgbClr val="F3F3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모서리가 둥근 직사각형 37"/>
          <p:cNvSpPr/>
          <p:nvPr/>
        </p:nvSpPr>
        <p:spPr>
          <a:xfrm>
            <a:off x="1335515" y="3386083"/>
            <a:ext cx="952500" cy="990600"/>
          </a:xfrm>
          <a:prstGeom prst="roundRect">
            <a:avLst>
              <a:gd name="adj" fmla="val 10667"/>
            </a:avLst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모서리가 둥근 직사각형 38"/>
          <p:cNvSpPr/>
          <p:nvPr/>
        </p:nvSpPr>
        <p:spPr>
          <a:xfrm>
            <a:off x="897365" y="4860798"/>
            <a:ext cx="10397270" cy="1728000"/>
          </a:xfrm>
          <a:prstGeom prst="roundRect">
            <a:avLst>
              <a:gd name="adj" fmla="val 8275"/>
            </a:avLst>
          </a:prstGeom>
          <a:noFill/>
          <a:ln w="19050">
            <a:solidFill>
              <a:srgbClr val="F3F3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모서리가 둥근 직사각형 39"/>
          <p:cNvSpPr/>
          <p:nvPr/>
        </p:nvSpPr>
        <p:spPr>
          <a:xfrm>
            <a:off x="1335515" y="5229498"/>
            <a:ext cx="952500" cy="990600"/>
          </a:xfrm>
          <a:prstGeom prst="roundRect">
            <a:avLst>
              <a:gd name="adj" fmla="val 10667"/>
            </a:avLst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" name="그룹 6"/>
          <p:cNvGrpSpPr/>
          <p:nvPr/>
        </p:nvGrpSpPr>
        <p:grpSpPr>
          <a:xfrm>
            <a:off x="1399043" y="1702162"/>
            <a:ext cx="825444" cy="671610"/>
            <a:chOff x="1313317" y="1659722"/>
            <a:chExt cx="825444" cy="671610"/>
          </a:xfrm>
        </p:grpSpPr>
        <p:sp>
          <p:nvSpPr>
            <p:cNvPr id="45" name="TextBox 44"/>
            <p:cNvSpPr txBox="1"/>
            <p:nvPr/>
          </p:nvSpPr>
          <p:spPr>
            <a:xfrm>
              <a:off x="1313318" y="1659722"/>
              <a:ext cx="825443" cy="3782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1400" b="1" dirty="0" smtClean="0">
                  <a:solidFill>
                    <a:schemeClr val="accent6">
                      <a:lumMod val="75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Level 1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1313317" y="1993932"/>
              <a:ext cx="825443" cy="3374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1200" dirty="0" smtClean="0">
                  <a:solidFill>
                    <a:schemeClr val="accent6">
                      <a:lumMod val="75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MVP</a:t>
              </a:r>
            </a:p>
          </p:txBody>
        </p:sp>
      </p:grpSp>
      <p:grpSp>
        <p:nvGrpSpPr>
          <p:cNvPr id="66" name="그룹 65"/>
          <p:cNvGrpSpPr/>
          <p:nvPr/>
        </p:nvGrpSpPr>
        <p:grpSpPr>
          <a:xfrm>
            <a:off x="1399042" y="3545578"/>
            <a:ext cx="825444" cy="671610"/>
            <a:chOff x="1313317" y="1659722"/>
            <a:chExt cx="825444" cy="671610"/>
          </a:xfrm>
        </p:grpSpPr>
        <p:sp>
          <p:nvSpPr>
            <p:cNvPr id="67" name="TextBox 66"/>
            <p:cNvSpPr txBox="1"/>
            <p:nvPr/>
          </p:nvSpPr>
          <p:spPr>
            <a:xfrm>
              <a:off x="1313318" y="1659722"/>
              <a:ext cx="825443" cy="3782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1400" b="1" dirty="0" smtClean="0">
                  <a:solidFill>
                    <a:schemeClr val="accent4">
                      <a:lumMod val="75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Level 2</a:t>
              </a: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1313317" y="1993932"/>
              <a:ext cx="825443" cy="3374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1200" dirty="0" smtClean="0">
                  <a:solidFill>
                    <a:schemeClr val="accent4">
                      <a:lumMod val="75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본부 확산</a:t>
              </a:r>
              <a:endParaRPr lang="en-US" altLang="ko-KR" sz="1200" dirty="0" smtClean="0">
                <a:solidFill>
                  <a:schemeClr val="accent4">
                    <a:lumMod val="75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</p:grpSp>
      <p:grpSp>
        <p:nvGrpSpPr>
          <p:cNvPr id="72" name="그룹 71"/>
          <p:cNvGrpSpPr/>
          <p:nvPr/>
        </p:nvGrpSpPr>
        <p:grpSpPr>
          <a:xfrm>
            <a:off x="1367277" y="5388993"/>
            <a:ext cx="888971" cy="671610"/>
            <a:chOff x="1281552" y="1659722"/>
            <a:chExt cx="888971" cy="671610"/>
          </a:xfrm>
        </p:grpSpPr>
        <p:sp>
          <p:nvSpPr>
            <p:cNvPr id="73" name="TextBox 72"/>
            <p:cNvSpPr txBox="1"/>
            <p:nvPr/>
          </p:nvSpPr>
          <p:spPr>
            <a:xfrm>
              <a:off x="1313318" y="1659722"/>
              <a:ext cx="825443" cy="3782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1400" b="1" dirty="0" smtClean="0">
                  <a:solidFill>
                    <a:schemeClr val="accent2">
                      <a:lumMod val="75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Level 3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1281552" y="1993932"/>
              <a:ext cx="888971" cy="3374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1200" dirty="0" smtClean="0">
                  <a:solidFill>
                    <a:schemeClr val="accent2">
                      <a:lumMod val="75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품질 고도화</a:t>
              </a:r>
              <a:endParaRPr lang="en-US" altLang="ko-KR" sz="1200" dirty="0" smtClean="0">
                <a:solidFill>
                  <a:schemeClr val="accent2">
                    <a:lumMod val="75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</p:grpSp>
      <p:sp>
        <p:nvSpPr>
          <p:cNvPr id="75" name="TextBox 74"/>
          <p:cNvSpPr txBox="1"/>
          <p:nvPr/>
        </p:nvSpPr>
        <p:spPr>
          <a:xfrm>
            <a:off x="2616775" y="1485877"/>
            <a:ext cx="7811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2026 3Q : </a:t>
            </a:r>
            <a:r>
              <a:rPr lang="ko-KR" altLang="en-US" b="1" dirty="0" err="1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센터장급</a:t>
            </a:r>
            <a:r>
              <a:rPr lang="ko-KR" altLang="en-US" b="1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이상 </a:t>
            </a:r>
            <a:r>
              <a:rPr lang="ko-KR" altLang="en-US" b="1" dirty="0" err="1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보직자</a:t>
            </a:r>
            <a:r>
              <a:rPr lang="ko-KR" altLang="en-US" b="1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대상 배포 실시</a:t>
            </a:r>
            <a:endParaRPr lang="en-US" altLang="ko-KR" b="1" dirty="0" smtClean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2616775" y="1896216"/>
            <a:ext cx="35078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    </a:t>
            </a:r>
            <a:r>
              <a:rPr lang="ko-KR" altLang="en-US" sz="1400" dirty="0" smtClean="0">
                <a:solidFill>
                  <a:schemeClr val="bg1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자동 발송 스케줄 정식 가동</a:t>
            </a:r>
            <a:endParaRPr lang="en-US" altLang="ko-KR" sz="1400" dirty="0" smtClean="0">
              <a:solidFill>
                <a:schemeClr val="bg1">
                  <a:lumMod val="50000"/>
                </a:schemeClr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    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유지보수 매뉴얼 제작</a:t>
            </a:r>
            <a:endParaRPr lang="en-US" altLang="ko-KR" sz="1400" dirty="0">
              <a:solidFill>
                <a:schemeClr val="bg1">
                  <a:lumMod val="50000"/>
                </a:schemeClr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6502378" y="1891284"/>
            <a:ext cx="350780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    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핵심 및 확장 키워드 관리 체계 </a:t>
            </a:r>
            <a:r>
              <a:rPr lang="ko-KR" altLang="en-US" sz="1400" dirty="0" smtClean="0">
                <a:solidFill>
                  <a:schemeClr val="bg1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수립</a:t>
            </a:r>
            <a:endParaRPr lang="en-US" altLang="ko-KR" sz="1400" dirty="0" smtClean="0">
              <a:solidFill>
                <a:schemeClr val="bg1">
                  <a:lumMod val="50000"/>
                </a:schemeClr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     </a:t>
            </a:r>
            <a:r>
              <a:rPr lang="ko-KR" altLang="en-US" sz="1400" dirty="0" smtClean="0">
                <a:solidFill>
                  <a:schemeClr val="bg1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주 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</a:t>
            </a:r>
            <a:r>
              <a:rPr lang="ko-KR" altLang="en-US" sz="1400" dirty="0" smtClean="0">
                <a:solidFill>
                  <a:schemeClr val="bg1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회 사용자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1400" dirty="0" smtClean="0">
                <a:solidFill>
                  <a:schemeClr val="bg1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피드백 반영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</a:t>
            </a:r>
            <a:r>
              <a:rPr lang="ko-KR" altLang="en-US" sz="1400" dirty="0" smtClean="0">
                <a:solidFill>
                  <a:schemeClr val="bg1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시스템 업데이트</a:t>
            </a:r>
            <a:endParaRPr lang="en-US" altLang="ko-KR" sz="1400" dirty="0" smtClean="0">
              <a:solidFill>
                <a:schemeClr val="bg1">
                  <a:lumMod val="50000"/>
                </a:schemeClr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altLang="ko-KR" sz="1400" dirty="0" smtClean="0">
              <a:solidFill>
                <a:schemeClr val="bg1">
                  <a:lumMod val="50000"/>
                </a:schemeClr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cxnSp>
        <p:nvCxnSpPr>
          <p:cNvPr id="9" name="직선 연결선 8"/>
          <p:cNvCxnSpPr/>
          <p:nvPr/>
        </p:nvCxnSpPr>
        <p:spPr>
          <a:xfrm>
            <a:off x="6172200" y="1978202"/>
            <a:ext cx="0" cy="544345"/>
          </a:xfrm>
          <a:prstGeom prst="line">
            <a:avLst/>
          </a:prstGeom>
          <a:ln w="19050">
            <a:solidFill>
              <a:srgbClr val="F3F3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2616775" y="3327433"/>
            <a:ext cx="7811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2026 4Q : </a:t>
            </a:r>
            <a:r>
              <a:rPr lang="ko-KR" altLang="en-US" b="1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보직자</a:t>
            </a:r>
            <a:r>
              <a:rPr lang="ko-KR" altLang="en-US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b="1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전원 대상 </a:t>
            </a:r>
            <a:r>
              <a:rPr lang="ko-KR" altLang="en-US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배포 실시</a:t>
            </a:r>
            <a:endParaRPr lang="en-US" altLang="ko-KR" b="1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2616775" y="3737772"/>
            <a:ext cx="35078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   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사용자 확대에 따른 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API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비용 처리 검토</a:t>
            </a:r>
            <a:endParaRPr lang="en-US" altLang="ko-KR" sz="1400" dirty="0">
              <a:solidFill>
                <a:schemeClr val="bg1">
                  <a:lumMod val="50000"/>
                </a:schemeClr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 smtClean="0">
                <a:solidFill>
                  <a:schemeClr val="bg1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     운영 안정화</a:t>
            </a:r>
            <a:endParaRPr lang="en-US" altLang="ko-KR" sz="1400" dirty="0" smtClean="0">
              <a:solidFill>
                <a:schemeClr val="bg1">
                  <a:lumMod val="50000"/>
                </a:schemeClr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6502378" y="3732840"/>
            <a:ext cx="35078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     </a:t>
            </a:r>
            <a:r>
              <a:rPr lang="ko-KR" altLang="en-US" sz="1400" dirty="0" smtClean="0">
                <a:solidFill>
                  <a:schemeClr val="bg1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기능 섹션 확장 검토</a:t>
            </a:r>
            <a:endParaRPr lang="en-US" altLang="ko-KR" sz="1400" dirty="0" smtClean="0">
              <a:solidFill>
                <a:schemeClr val="bg1">
                  <a:lumMod val="50000"/>
                </a:schemeClr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     </a:t>
            </a:r>
            <a:r>
              <a:rPr lang="ko-KR" altLang="en-US" sz="1400" dirty="0" smtClean="0">
                <a:solidFill>
                  <a:schemeClr val="bg1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주 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회 사용자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피드백 </a:t>
            </a:r>
            <a:r>
              <a:rPr lang="ko-KR" altLang="en-US" sz="1400" dirty="0" smtClean="0">
                <a:solidFill>
                  <a:schemeClr val="bg1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반영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1400" dirty="0" smtClean="0">
                <a:solidFill>
                  <a:schemeClr val="bg1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시스템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업데이트</a:t>
            </a:r>
            <a:endParaRPr lang="en-US" altLang="ko-KR" sz="1400" dirty="0">
              <a:solidFill>
                <a:schemeClr val="bg1">
                  <a:lumMod val="50000"/>
                </a:schemeClr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cxnSp>
        <p:nvCxnSpPr>
          <p:cNvPr id="82" name="직선 연결선 81"/>
          <p:cNvCxnSpPr/>
          <p:nvPr/>
        </p:nvCxnSpPr>
        <p:spPr>
          <a:xfrm>
            <a:off x="6172200" y="3819758"/>
            <a:ext cx="0" cy="544345"/>
          </a:xfrm>
          <a:prstGeom prst="line">
            <a:avLst/>
          </a:prstGeom>
          <a:ln w="19050">
            <a:solidFill>
              <a:srgbClr val="F3F3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3" name="그림 82"/>
          <p:cNvPicPr>
            <a:picLocks noChangeAspect="1"/>
          </p:cNvPicPr>
          <p:nvPr/>
        </p:nvPicPr>
        <p:blipFill rotWithShape="1">
          <a:blip r:embed="rId3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1273" b="55455" l="53774" r="57118">
                        <a14:foregroundMark x1="55703" y1="55030" x2="55446" y2="5539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3473" t="50751" r="42696" b="43971"/>
          <a:stretch/>
        </p:blipFill>
        <p:spPr>
          <a:xfrm>
            <a:off x="2645578" y="2000513"/>
            <a:ext cx="258632" cy="252000"/>
          </a:xfrm>
          <a:prstGeom prst="rect">
            <a:avLst/>
          </a:prstGeom>
        </p:spPr>
      </p:pic>
      <p:pic>
        <p:nvPicPr>
          <p:cNvPr id="84" name="그림 83"/>
          <p:cNvPicPr>
            <a:picLocks noChangeAspect="1"/>
          </p:cNvPicPr>
          <p:nvPr/>
        </p:nvPicPr>
        <p:blipFill rotWithShape="1">
          <a:blip r:embed="rId3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1273" b="55455" l="53774" r="57118">
                        <a14:foregroundMark x1="55703" y1="55030" x2="55446" y2="5539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3473" t="50751" r="42696" b="43971"/>
          <a:stretch/>
        </p:blipFill>
        <p:spPr>
          <a:xfrm>
            <a:off x="2645578" y="2322208"/>
            <a:ext cx="258632" cy="252000"/>
          </a:xfrm>
          <a:prstGeom prst="rect">
            <a:avLst/>
          </a:prstGeom>
        </p:spPr>
      </p:pic>
      <p:pic>
        <p:nvPicPr>
          <p:cNvPr id="85" name="그림 84"/>
          <p:cNvPicPr>
            <a:picLocks noChangeAspect="1"/>
          </p:cNvPicPr>
          <p:nvPr/>
        </p:nvPicPr>
        <p:blipFill rotWithShape="1">
          <a:blip r:embed="rId5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1273" b="55455" l="53774" r="57118">
                        <a14:foregroundMark x1="55703" y1="55030" x2="55446" y2="5539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3473" t="50751" r="42696" b="43971"/>
          <a:stretch/>
        </p:blipFill>
        <p:spPr>
          <a:xfrm>
            <a:off x="6540780" y="1992893"/>
            <a:ext cx="258632" cy="252000"/>
          </a:xfrm>
          <a:prstGeom prst="rect">
            <a:avLst/>
          </a:prstGeom>
        </p:spPr>
      </p:pic>
      <p:pic>
        <p:nvPicPr>
          <p:cNvPr id="86" name="그림 85"/>
          <p:cNvPicPr>
            <a:picLocks noChangeAspect="1"/>
          </p:cNvPicPr>
          <p:nvPr/>
        </p:nvPicPr>
        <p:blipFill rotWithShape="1">
          <a:blip r:embed="rId5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1273" b="55455" l="53774" r="57118">
                        <a14:foregroundMark x1="55703" y1="55030" x2="55446" y2="5539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3473" t="50751" r="42696" b="43971"/>
          <a:stretch/>
        </p:blipFill>
        <p:spPr>
          <a:xfrm>
            <a:off x="6540780" y="2314588"/>
            <a:ext cx="258632" cy="252000"/>
          </a:xfrm>
          <a:prstGeom prst="rect">
            <a:avLst/>
          </a:prstGeom>
        </p:spPr>
      </p:pic>
      <p:pic>
        <p:nvPicPr>
          <p:cNvPr id="88" name="그림 87"/>
          <p:cNvPicPr>
            <a:picLocks noChangeAspect="1"/>
          </p:cNvPicPr>
          <p:nvPr/>
        </p:nvPicPr>
        <p:blipFill rotWithShape="1">
          <a:blip r:embed="rId3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1273" b="55455" l="53774" r="57118">
                        <a14:foregroundMark x1="55703" y1="55030" x2="55446" y2="5539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3473" t="50751" r="42696" b="43971"/>
          <a:stretch/>
        </p:blipFill>
        <p:spPr>
          <a:xfrm>
            <a:off x="2645578" y="3827378"/>
            <a:ext cx="258632" cy="252000"/>
          </a:xfrm>
          <a:prstGeom prst="rect">
            <a:avLst/>
          </a:prstGeom>
        </p:spPr>
      </p:pic>
      <p:pic>
        <p:nvPicPr>
          <p:cNvPr id="89" name="그림 88"/>
          <p:cNvPicPr>
            <a:picLocks noChangeAspect="1"/>
          </p:cNvPicPr>
          <p:nvPr/>
        </p:nvPicPr>
        <p:blipFill rotWithShape="1">
          <a:blip r:embed="rId3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1273" b="55455" l="53774" r="57118">
                        <a14:foregroundMark x1="55703" y1="55030" x2="55446" y2="5539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3473" t="50751" r="42696" b="43971"/>
          <a:stretch/>
        </p:blipFill>
        <p:spPr>
          <a:xfrm>
            <a:off x="2645578" y="4149073"/>
            <a:ext cx="258632" cy="252000"/>
          </a:xfrm>
          <a:prstGeom prst="rect">
            <a:avLst/>
          </a:prstGeom>
        </p:spPr>
      </p:pic>
      <p:pic>
        <p:nvPicPr>
          <p:cNvPr id="90" name="그림 89"/>
          <p:cNvPicPr>
            <a:picLocks noChangeAspect="1"/>
          </p:cNvPicPr>
          <p:nvPr/>
        </p:nvPicPr>
        <p:blipFill rotWithShape="1">
          <a:blip r:embed="rId5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1273" b="55455" l="53774" r="57118">
                        <a14:foregroundMark x1="55703" y1="55030" x2="55446" y2="5539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3473" t="50751" r="42696" b="43971"/>
          <a:stretch/>
        </p:blipFill>
        <p:spPr>
          <a:xfrm>
            <a:off x="6540780" y="3819758"/>
            <a:ext cx="258632" cy="252000"/>
          </a:xfrm>
          <a:prstGeom prst="rect">
            <a:avLst/>
          </a:prstGeom>
        </p:spPr>
      </p:pic>
      <p:pic>
        <p:nvPicPr>
          <p:cNvPr id="91" name="그림 90"/>
          <p:cNvPicPr>
            <a:picLocks noChangeAspect="1"/>
          </p:cNvPicPr>
          <p:nvPr/>
        </p:nvPicPr>
        <p:blipFill rotWithShape="1">
          <a:blip r:embed="rId5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1273" b="55455" l="53774" r="57118">
                        <a14:foregroundMark x1="55703" y1="55030" x2="55446" y2="5539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3473" t="50751" r="42696" b="43971"/>
          <a:stretch/>
        </p:blipFill>
        <p:spPr>
          <a:xfrm>
            <a:off x="6540780" y="4141453"/>
            <a:ext cx="258632" cy="252000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2645578" y="5131468"/>
            <a:ext cx="7811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2027 1Q : </a:t>
            </a:r>
            <a:r>
              <a:rPr lang="ko-KR" altLang="en-US" b="1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본부 전원 대상 배포 추진</a:t>
            </a:r>
            <a:endParaRPr lang="en-US" altLang="ko-KR" b="1" dirty="0" smtClean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2645578" y="5541807"/>
            <a:ext cx="35078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    </a:t>
            </a:r>
            <a:r>
              <a:rPr lang="ko-KR" altLang="en-US" sz="1400" dirty="0" err="1">
                <a:solidFill>
                  <a:schemeClr val="bg1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보</a:t>
            </a:r>
            <a:r>
              <a:rPr lang="ko-KR" altLang="en-US" sz="1400" dirty="0" err="1" smtClean="0">
                <a:solidFill>
                  <a:schemeClr val="bg1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직자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-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프로 검색 </a:t>
            </a:r>
            <a:r>
              <a:rPr lang="ko-KR" altLang="en-US" sz="1400" dirty="0" err="1">
                <a:solidFill>
                  <a:schemeClr val="bg1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히스토리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데이터 이원화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     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    </a:t>
            </a:r>
            <a:r>
              <a:rPr lang="ko-KR" altLang="en-US" sz="1400" dirty="0" smtClean="0">
                <a:solidFill>
                  <a:schemeClr val="bg1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회원 관리 체계 도입</a:t>
            </a:r>
            <a:endParaRPr lang="en-US" altLang="ko-KR" sz="1400" dirty="0" smtClean="0">
              <a:solidFill>
                <a:schemeClr val="bg1">
                  <a:lumMod val="50000"/>
                </a:schemeClr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6531181" y="5536875"/>
            <a:ext cx="35078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     </a:t>
            </a:r>
            <a:r>
              <a:rPr lang="ko-KR" altLang="en-US" sz="1400" dirty="0" smtClean="0">
                <a:solidFill>
                  <a:schemeClr val="bg1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본부 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AI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기반 시스템과의 </a:t>
            </a:r>
            <a:r>
              <a:rPr lang="ko-KR" altLang="en-US" sz="1400" dirty="0" smtClean="0">
                <a:solidFill>
                  <a:schemeClr val="bg1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연계</a:t>
            </a:r>
            <a:endParaRPr lang="en-US" altLang="ko-KR" sz="1400" dirty="0" smtClean="0">
              <a:solidFill>
                <a:schemeClr val="bg1">
                  <a:lumMod val="50000"/>
                </a:schemeClr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     </a:t>
            </a:r>
            <a:r>
              <a:rPr lang="ko-KR" altLang="en-US" sz="1400" dirty="0" smtClean="0">
                <a:solidFill>
                  <a:schemeClr val="bg1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주 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회 사용자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피드백 </a:t>
            </a:r>
            <a:r>
              <a:rPr lang="ko-KR" altLang="en-US" sz="1400" dirty="0" smtClean="0">
                <a:solidFill>
                  <a:schemeClr val="bg1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반영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</a:t>
            </a:r>
            <a:r>
              <a:rPr lang="ko-KR" altLang="en-US" sz="1400" dirty="0" smtClean="0">
                <a:solidFill>
                  <a:schemeClr val="bg1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시스템 업데이트</a:t>
            </a:r>
            <a:endParaRPr lang="en-US" altLang="ko-KR" sz="1400" dirty="0">
              <a:solidFill>
                <a:schemeClr val="bg1">
                  <a:lumMod val="50000"/>
                </a:schemeClr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cxnSp>
        <p:nvCxnSpPr>
          <p:cNvPr id="102" name="직선 연결선 101"/>
          <p:cNvCxnSpPr/>
          <p:nvPr/>
        </p:nvCxnSpPr>
        <p:spPr>
          <a:xfrm>
            <a:off x="6201003" y="5623793"/>
            <a:ext cx="0" cy="544345"/>
          </a:xfrm>
          <a:prstGeom prst="line">
            <a:avLst/>
          </a:prstGeom>
          <a:ln w="19050">
            <a:solidFill>
              <a:srgbClr val="F3F3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" name="그림 102"/>
          <p:cNvPicPr>
            <a:picLocks noChangeAspect="1"/>
          </p:cNvPicPr>
          <p:nvPr/>
        </p:nvPicPr>
        <p:blipFill rotWithShape="1">
          <a:blip r:embed="rId3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1273" b="55455" l="53774" r="57118">
                        <a14:foregroundMark x1="55703" y1="55030" x2="55446" y2="5539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3473" t="50751" r="42696" b="43971"/>
          <a:stretch/>
        </p:blipFill>
        <p:spPr>
          <a:xfrm>
            <a:off x="2674381" y="5631413"/>
            <a:ext cx="258632" cy="252000"/>
          </a:xfrm>
          <a:prstGeom prst="rect">
            <a:avLst/>
          </a:prstGeom>
        </p:spPr>
      </p:pic>
      <p:pic>
        <p:nvPicPr>
          <p:cNvPr id="104" name="그림 103"/>
          <p:cNvPicPr>
            <a:picLocks noChangeAspect="1"/>
          </p:cNvPicPr>
          <p:nvPr/>
        </p:nvPicPr>
        <p:blipFill rotWithShape="1">
          <a:blip r:embed="rId3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1273" b="55455" l="53774" r="57118">
                        <a14:foregroundMark x1="55703" y1="55030" x2="55446" y2="5539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3473" t="50751" r="42696" b="43971"/>
          <a:stretch/>
        </p:blipFill>
        <p:spPr>
          <a:xfrm>
            <a:off x="2674381" y="5953108"/>
            <a:ext cx="258632" cy="252000"/>
          </a:xfrm>
          <a:prstGeom prst="rect">
            <a:avLst/>
          </a:prstGeom>
        </p:spPr>
      </p:pic>
      <p:pic>
        <p:nvPicPr>
          <p:cNvPr id="105" name="그림 104"/>
          <p:cNvPicPr>
            <a:picLocks noChangeAspect="1"/>
          </p:cNvPicPr>
          <p:nvPr/>
        </p:nvPicPr>
        <p:blipFill rotWithShape="1">
          <a:blip r:embed="rId5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1273" b="55455" l="53774" r="57118">
                        <a14:foregroundMark x1="55703" y1="55030" x2="55446" y2="5539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3473" t="50751" r="42696" b="43971"/>
          <a:stretch/>
        </p:blipFill>
        <p:spPr>
          <a:xfrm>
            <a:off x="6569583" y="5623793"/>
            <a:ext cx="258632" cy="252000"/>
          </a:xfrm>
          <a:prstGeom prst="rect">
            <a:avLst/>
          </a:prstGeom>
        </p:spPr>
      </p:pic>
      <p:pic>
        <p:nvPicPr>
          <p:cNvPr id="106" name="그림 105"/>
          <p:cNvPicPr>
            <a:picLocks noChangeAspect="1"/>
          </p:cNvPicPr>
          <p:nvPr/>
        </p:nvPicPr>
        <p:blipFill rotWithShape="1">
          <a:blip r:embed="rId5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1273" b="55455" l="53774" r="57118">
                        <a14:foregroundMark x1="55703" y1="55030" x2="55446" y2="5539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3473" t="50751" r="42696" b="43971"/>
          <a:stretch/>
        </p:blipFill>
        <p:spPr>
          <a:xfrm>
            <a:off x="6569583" y="5945488"/>
            <a:ext cx="258632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815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제목 1">
            <a:extLst>
              <a:ext uri="{FF2B5EF4-FFF2-40B4-BE49-F238E27FC236}">
                <a16:creationId xmlns:a16="http://schemas.microsoft.com/office/drawing/2014/main" id="{8665459D-C324-47E8-A25A-F93EFD004CE0}"/>
              </a:ext>
            </a:extLst>
          </p:cNvPr>
          <p:cNvSpPr txBox="1">
            <a:spLocks/>
          </p:cNvSpPr>
          <p:nvPr/>
        </p:nvSpPr>
        <p:spPr>
          <a:xfrm>
            <a:off x="8965" y="393690"/>
            <a:ext cx="861840" cy="44606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kern="1200" spc="-150">
                <a:solidFill>
                  <a:schemeClr val="tx1">
                    <a:lumMod val="85000"/>
                    <a:lumOff val="15000"/>
                  </a:schemeClr>
                </a:solidFill>
                <a:latin typeface="다음_Regular" panose="02000603060000000000" pitchFamily="2" charset="-127"/>
                <a:ea typeface="다음_Regular" panose="02000603060000000000" pitchFamily="2" charset="-127"/>
                <a:cs typeface="+mj-cs"/>
              </a:defRPr>
            </a:lvl1pPr>
          </a:lstStyle>
          <a:p>
            <a:pPr lvl="0">
              <a:defRPr/>
            </a:pPr>
            <a:r>
              <a:rPr lang="en-US" altLang="ko-KR" sz="2800" spc="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3-2</a:t>
            </a:r>
            <a:endParaRPr lang="ko-KR" altLang="en-US" sz="2000" spc="0" dirty="0">
              <a:solidFill>
                <a:prstClr val="black">
                  <a:lumMod val="85000"/>
                  <a:lumOff val="1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B133345-C92C-40E8-BF3B-D92E22377D6C}"/>
              </a:ext>
            </a:extLst>
          </p:cNvPr>
          <p:cNvSpPr/>
          <p:nvPr/>
        </p:nvSpPr>
        <p:spPr>
          <a:xfrm flipV="1">
            <a:off x="0" y="847230"/>
            <a:ext cx="770282" cy="28800"/>
          </a:xfrm>
          <a:prstGeom prst="rect">
            <a:avLst/>
          </a:prstGeom>
          <a:solidFill>
            <a:srgbClr val="0048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8" name="제목 1">
            <a:extLst>
              <a:ext uri="{FF2B5EF4-FFF2-40B4-BE49-F238E27FC236}">
                <a16:creationId xmlns:a16="http://schemas.microsoft.com/office/drawing/2014/main" id="{8665459D-C324-47E8-A25A-F93EFD004CE0}"/>
              </a:ext>
            </a:extLst>
          </p:cNvPr>
          <p:cNvSpPr txBox="1">
            <a:spLocks/>
          </p:cNvSpPr>
          <p:nvPr/>
        </p:nvSpPr>
        <p:spPr>
          <a:xfrm>
            <a:off x="870805" y="393690"/>
            <a:ext cx="7396700" cy="44606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kern="1200" spc="-150">
                <a:solidFill>
                  <a:schemeClr val="tx1">
                    <a:lumMod val="85000"/>
                    <a:lumOff val="15000"/>
                  </a:schemeClr>
                </a:solidFill>
                <a:latin typeface="다음_Regular" panose="02000603060000000000" pitchFamily="2" charset="-127"/>
                <a:ea typeface="다음_Regular" panose="02000603060000000000" pitchFamily="2" charset="-127"/>
                <a:cs typeface="+mj-cs"/>
              </a:defRPr>
            </a:lvl1pPr>
          </a:lstStyle>
          <a:p>
            <a:pPr lvl="0">
              <a:defRPr/>
            </a:pPr>
            <a:r>
              <a:rPr lang="ko-KR" altLang="en-US" sz="2800" spc="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검토 사항</a:t>
            </a:r>
            <a:endParaRPr lang="ko-KR" altLang="en-US" sz="2000" spc="0" dirty="0">
              <a:solidFill>
                <a:prstClr val="black">
                  <a:lumMod val="85000"/>
                  <a:lumOff val="1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78869" y="1189337"/>
            <a:ext cx="10284876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[</a:t>
            </a:r>
            <a:r>
              <a:rPr lang="ko-KR" altLang="en-US" b="1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토큰 </a:t>
            </a:r>
            <a:r>
              <a:rPr lang="ko-KR" altLang="en-US" b="1" dirty="0" err="1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과금</a:t>
            </a:r>
            <a:r>
              <a:rPr lang="ko-KR" altLang="en-US" b="1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형태</a:t>
            </a:r>
            <a:r>
              <a:rPr lang="en-US" altLang="ko-KR" b="1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]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유료 </a:t>
            </a:r>
            <a:r>
              <a:rPr lang="ko-KR" altLang="en-US" dirty="0" err="1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과금</a:t>
            </a:r>
            <a:endParaRPr lang="en-US" altLang="ko-KR" dirty="0" smtClean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</a:t>
            </a:r>
            <a:r>
              <a:rPr lang="ko-KR" altLang="en-US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회 리서치 실행 시 사용 </a:t>
            </a:r>
            <a:r>
              <a:rPr lang="en-US" altLang="ko-KR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API </a:t>
            </a:r>
            <a:r>
              <a:rPr lang="ko-KR" altLang="en-US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토큰 </a:t>
            </a:r>
            <a:r>
              <a:rPr lang="en-US" altLang="ko-KR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</a:p>
        </p:txBody>
      </p:sp>
    </p:spTree>
    <p:extLst>
      <p:ext uri="{BB962C8B-B14F-4D97-AF65-F5344CB8AC3E}">
        <p14:creationId xmlns:p14="http://schemas.microsoft.com/office/powerpoint/2010/main" val="4153081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제목 1">
            <a:extLst>
              <a:ext uri="{FF2B5EF4-FFF2-40B4-BE49-F238E27FC236}">
                <a16:creationId xmlns:a16="http://schemas.microsoft.com/office/drawing/2014/main" id="{8665459D-C324-47E8-A25A-F93EFD004CE0}"/>
              </a:ext>
            </a:extLst>
          </p:cNvPr>
          <p:cNvSpPr txBox="1">
            <a:spLocks/>
          </p:cNvSpPr>
          <p:nvPr/>
        </p:nvSpPr>
        <p:spPr>
          <a:xfrm>
            <a:off x="8965" y="393690"/>
            <a:ext cx="861840" cy="44606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kern="1200" spc="-150">
                <a:solidFill>
                  <a:schemeClr val="tx1">
                    <a:lumMod val="85000"/>
                    <a:lumOff val="15000"/>
                  </a:schemeClr>
                </a:solidFill>
                <a:latin typeface="다음_Regular" panose="02000603060000000000" pitchFamily="2" charset="-127"/>
                <a:ea typeface="다음_Regular" panose="02000603060000000000" pitchFamily="2" charset="-127"/>
                <a:cs typeface="+mj-cs"/>
              </a:defRPr>
            </a:lvl1pPr>
          </a:lstStyle>
          <a:p>
            <a:pPr lvl="0">
              <a:defRPr/>
            </a:pPr>
            <a:r>
              <a:rPr lang="en-US" altLang="ko-KR" sz="2800" spc="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3-3</a:t>
            </a:r>
            <a:endParaRPr lang="ko-KR" altLang="en-US" sz="2000" spc="0" dirty="0">
              <a:solidFill>
                <a:prstClr val="black">
                  <a:lumMod val="85000"/>
                  <a:lumOff val="1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B133345-C92C-40E8-BF3B-D92E22377D6C}"/>
              </a:ext>
            </a:extLst>
          </p:cNvPr>
          <p:cNvSpPr/>
          <p:nvPr/>
        </p:nvSpPr>
        <p:spPr>
          <a:xfrm flipV="1">
            <a:off x="0" y="847230"/>
            <a:ext cx="770282" cy="28800"/>
          </a:xfrm>
          <a:prstGeom prst="rect">
            <a:avLst/>
          </a:prstGeom>
          <a:solidFill>
            <a:srgbClr val="0048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8" name="제목 1">
            <a:extLst>
              <a:ext uri="{FF2B5EF4-FFF2-40B4-BE49-F238E27FC236}">
                <a16:creationId xmlns:a16="http://schemas.microsoft.com/office/drawing/2014/main" id="{8665459D-C324-47E8-A25A-F93EFD004CE0}"/>
              </a:ext>
            </a:extLst>
          </p:cNvPr>
          <p:cNvSpPr txBox="1">
            <a:spLocks/>
          </p:cNvSpPr>
          <p:nvPr/>
        </p:nvSpPr>
        <p:spPr>
          <a:xfrm>
            <a:off x="870805" y="393690"/>
            <a:ext cx="7396700" cy="44606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kern="1200" spc="-150">
                <a:solidFill>
                  <a:schemeClr val="tx1">
                    <a:lumMod val="85000"/>
                    <a:lumOff val="15000"/>
                  </a:schemeClr>
                </a:solidFill>
                <a:latin typeface="다음_Regular" panose="02000603060000000000" pitchFamily="2" charset="-127"/>
                <a:ea typeface="다음_Regular" panose="02000603060000000000" pitchFamily="2" charset="-127"/>
                <a:cs typeface="+mj-cs"/>
              </a:defRPr>
            </a:lvl1pPr>
          </a:lstStyle>
          <a:p>
            <a:pPr lvl="0">
              <a:defRPr/>
            </a:pPr>
            <a:r>
              <a:rPr lang="ko-KR" altLang="en-US" sz="2800" spc="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기대 효과</a:t>
            </a:r>
            <a:endParaRPr lang="ko-KR" altLang="en-US" sz="2000" spc="0" dirty="0">
              <a:solidFill>
                <a:prstClr val="black">
                  <a:lumMod val="85000"/>
                  <a:lumOff val="1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7" name="모서리가 둥근 직사각형 16"/>
          <p:cNvSpPr/>
          <p:nvPr/>
        </p:nvSpPr>
        <p:spPr>
          <a:xfrm>
            <a:off x="1420926" y="1835539"/>
            <a:ext cx="2716733" cy="2836194"/>
          </a:xfrm>
          <a:prstGeom prst="roundRect">
            <a:avLst>
              <a:gd name="adj" fmla="val 8275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SK-7-text-34"/>
          <p:cNvSpPr/>
          <p:nvPr/>
        </p:nvSpPr>
        <p:spPr>
          <a:xfrm>
            <a:off x="1680159" y="2548750"/>
            <a:ext cx="1765429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ko-KR" altLang="en-US" sz="1400" b="1" dirty="0" smtClean="0">
                <a:solidFill>
                  <a:srgbClr val="1A1C1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개인별 수작업 검색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9" name="SK-7-text-35"/>
          <p:cNvSpPr/>
          <p:nvPr/>
        </p:nvSpPr>
        <p:spPr>
          <a:xfrm>
            <a:off x="1680158" y="2829737"/>
            <a:ext cx="1911071" cy="3732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altLang="ko-KR" sz="1200" dirty="0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sz="1200" dirty="0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 소모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3" name="모서리가 둥근 직사각형 12"/>
          <p:cNvSpPr/>
          <p:nvPr/>
        </p:nvSpPr>
        <p:spPr>
          <a:xfrm>
            <a:off x="5367719" y="1611710"/>
            <a:ext cx="5276036" cy="3313804"/>
          </a:xfrm>
          <a:prstGeom prst="roundRect">
            <a:avLst>
              <a:gd name="adj" fmla="val 8275"/>
            </a:avLst>
          </a:prstGeom>
          <a:solidFill>
            <a:srgbClr val="D5E3FF"/>
          </a:solidFill>
          <a:ln>
            <a:solidFill>
              <a:srgbClr val="F3F3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SK-7-text-34"/>
          <p:cNvSpPr/>
          <p:nvPr/>
        </p:nvSpPr>
        <p:spPr>
          <a:xfrm>
            <a:off x="6012398" y="2548750"/>
            <a:ext cx="3185276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ko-KR" altLang="en-US" sz="1400" b="1" dirty="0" smtClean="0">
                <a:solidFill>
                  <a:srgbClr val="1A1C1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키워드 기반 자료 자동 수집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5" name="SK-7-text-35"/>
          <p:cNvSpPr/>
          <p:nvPr/>
        </p:nvSpPr>
        <p:spPr>
          <a:xfrm>
            <a:off x="6012397" y="2829737"/>
            <a:ext cx="3448051" cy="3732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altLang="ko-KR" sz="1200" dirty="0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sz="1200" dirty="0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리서치 시간 절감</a:t>
            </a:r>
            <a:endParaRPr lang="en-US" altLang="ko-KR" sz="1200" dirty="0" smtClean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1549876" y="1978117"/>
            <a:ext cx="1424345" cy="296298"/>
            <a:chOff x="1554308" y="2078544"/>
            <a:chExt cx="1424345" cy="296298"/>
          </a:xfrm>
        </p:grpSpPr>
        <p:pic>
          <p:nvPicPr>
            <p:cNvPr id="22" name="SK-10-img-5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54308" y="2078544"/>
              <a:ext cx="1424345" cy="296298"/>
            </a:xfrm>
            <a:prstGeom prst="rect">
              <a:avLst/>
            </a:prstGeom>
          </p:spPr>
        </p:pic>
        <p:sp>
          <p:nvSpPr>
            <p:cNvPr id="23" name="SK-10-text-26"/>
            <p:cNvSpPr/>
            <p:nvPr/>
          </p:nvSpPr>
          <p:spPr>
            <a:xfrm>
              <a:off x="1620729" y="2088581"/>
              <a:ext cx="1291504" cy="276225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algn="ctr">
                <a:lnSpc>
                  <a:spcPts val="1575"/>
                </a:lnSpc>
              </a:pPr>
              <a:r>
                <a:rPr lang="en-US" altLang="ko-KR" sz="1200" b="1" dirty="0" smtClean="0">
                  <a:solidFill>
                    <a:srgbClr val="003366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BEFORE</a:t>
              </a:r>
              <a:endPara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24" name="그룹 23"/>
          <p:cNvGrpSpPr/>
          <p:nvPr/>
        </p:nvGrpSpPr>
        <p:grpSpPr>
          <a:xfrm>
            <a:off x="5945976" y="1890663"/>
            <a:ext cx="1424345" cy="296298"/>
            <a:chOff x="1554308" y="2078544"/>
            <a:chExt cx="1424345" cy="296298"/>
          </a:xfrm>
        </p:grpSpPr>
        <p:pic>
          <p:nvPicPr>
            <p:cNvPr id="25" name="SK-10-img-5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54308" y="2078544"/>
              <a:ext cx="1424345" cy="296298"/>
            </a:xfrm>
            <a:prstGeom prst="rect">
              <a:avLst/>
            </a:prstGeom>
          </p:spPr>
        </p:pic>
        <p:sp>
          <p:nvSpPr>
            <p:cNvPr id="26" name="SK-10-text-26"/>
            <p:cNvSpPr/>
            <p:nvPr/>
          </p:nvSpPr>
          <p:spPr>
            <a:xfrm>
              <a:off x="1620729" y="2088581"/>
              <a:ext cx="1291504" cy="276225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algn="ctr">
                <a:lnSpc>
                  <a:spcPts val="1575"/>
                </a:lnSpc>
              </a:pPr>
              <a:r>
                <a:rPr lang="en-US" altLang="ko-KR" sz="1200" b="1" dirty="0" smtClean="0">
                  <a:solidFill>
                    <a:srgbClr val="003366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AFTER</a:t>
              </a:r>
              <a:endPara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27" name="그룹 26"/>
          <p:cNvGrpSpPr/>
          <p:nvPr/>
        </p:nvGrpSpPr>
        <p:grpSpPr>
          <a:xfrm>
            <a:off x="1425358" y="5380000"/>
            <a:ext cx="9391899" cy="709457"/>
            <a:chOff x="1014151" y="1699951"/>
            <a:chExt cx="22251814" cy="1859499"/>
          </a:xfrm>
        </p:grpSpPr>
        <p:sp>
          <p:nvSpPr>
            <p:cNvPr id="28" name="직사각형 27"/>
            <p:cNvSpPr/>
            <p:nvPr/>
          </p:nvSpPr>
          <p:spPr>
            <a:xfrm>
              <a:off x="1014151" y="1704108"/>
              <a:ext cx="22251814" cy="1855342"/>
            </a:xfrm>
            <a:prstGeom prst="rect">
              <a:avLst/>
            </a:prstGeom>
            <a:solidFill>
              <a:srgbClr val="F7F7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직사각형 28"/>
            <p:cNvSpPr/>
            <p:nvPr/>
          </p:nvSpPr>
          <p:spPr>
            <a:xfrm flipH="1">
              <a:off x="1059866" y="1699951"/>
              <a:ext cx="130853" cy="1855343"/>
            </a:xfrm>
            <a:prstGeom prst="rect">
              <a:avLst/>
            </a:prstGeom>
            <a:solidFill>
              <a:srgbClr val="0048D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1831287" y="5580046"/>
            <a:ext cx="85762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표준화된 </a:t>
            </a:r>
            <a:r>
              <a:rPr lang="en-US" altLang="ko-KR" sz="1400" dirty="0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n8n </a:t>
            </a:r>
            <a:r>
              <a:rPr lang="ko-KR" altLang="en-US" sz="1400" dirty="0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워크플로우는 부서별 유사 업무에 확산 가능</a:t>
            </a:r>
            <a:endParaRPr lang="en-US" altLang="ko-KR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31" name="Image 2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1273" y="5657735"/>
            <a:ext cx="190500" cy="152400"/>
          </a:xfrm>
          <a:prstGeom prst="rect">
            <a:avLst/>
          </a:prstGeom>
        </p:spPr>
      </p:pic>
      <p:sp>
        <p:nvSpPr>
          <p:cNvPr id="32" name="SK-7-text-35"/>
          <p:cNvSpPr/>
          <p:nvPr/>
        </p:nvSpPr>
        <p:spPr>
          <a:xfrm>
            <a:off x="1680158" y="3268612"/>
            <a:ext cx="1911071" cy="3732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altLang="ko-KR" sz="1200" dirty="0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sz="1200" dirty="0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품질 편차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3" name="SK-7-text-35"/>
          <p:cNvSpPr/>
          <p:nvPr/>
        </p:nvSpPr>
        <p:spPr>
          <a:xfrm>
            <a:off x="1680157" y="3678108"/>
            <a:ext cx="1911071" cy="3732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altLang="ko-KR" sz="1200" dirty="0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sz="1200" dirty="0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정보 공유 불가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4" name="SK-7-text-35"/>
          <p:cNvSpPr/>
          <p:nvPr/>
        </p:nvSpPr>
        <p:spPr>
          <a:xfrm>
            <a:off x="1680157" y="4087604"/>
            <a:ext cx="1911071" cy="3732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altLang="ko-KR" sz="1200" dirty="0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sz="1200" dirty="0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결과물 자료 가공 필요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0" name="SK-7-text-35"/>
          <p:cNvSpPr/>
          <p:nvPr/>
        </p:nvSpPr>
        <p:spPr>
          <a:xfrm>
            <a:off x="6012397" y="3214827"/>
            <a:ext cx="3448051" cy="3732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altLang="ko-KR" sz="1200" dirty="0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sz="1200" dirty="0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표준화된 정보 상시 제공</a:t>
            </a:r>
            <a:endParaRPr lang="en-US" altLang="ko-KR" sz="1200" dirty="0" smtClean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3" name="SK-7-text-34"/>
          <p:cNvSpPr/>
          <p:nvPr/>
        </p:nvSpPr>
        <p:spPr>
          <a:xfrm>
            <a:off x="6012398" y="3800542"/>
            <a:ext cx="3185276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ko-KR" altLang="en-US" sz="1400" b="1" dirty="0" smtClean="0">
                <a:solidFill>
                  <a:srgbClr val="1A1C1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주간 정기 브리핑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4" name="SK-7-text-35"/>
          <p:cNvSpPr/>
          <p:nvPr/>
        </p:nvSpPr>
        <p:spPr>
          <a:xfrm>
            <a:off x="6012397" y="4081529"/>
            <a:ext cx="3448051" cy="3732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altLang="ko-KR" sz="1200" dirty="0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sz="1200" dirty="0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클라이언트 관련 동향 지속 </a:t>
            </a:r>
            <a:r>
              <a:rPr lang="en-US" altLang="ko-KR" sz="1200" dirty="0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Following </a:t>
            </a:r>
            <a:r>
              <a:rPr lang="ko-KR" altLang="en-US" sz="1200" dirty="0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가능</a:t>
            </a:r>
            <a:endParaRPr lang="en-US" altLang="ko-KR" sz="1200" dirty="0" smtClean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36889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>
            <a:extLst>
              <a:ext uri="{FF2B5EF4-FFF2-40B4-BE49-F238E27FC236}">
                <a16:creationId xmlns:a16="http://schemas.microsoft.com/office/drawing/2014/main" id="{8665459D-C324-47E8-A25A-F93EFD004CE0}"/>
              </a:ext>
            </a:extLst>
          </p:cNvPr>
          <p:cNvSpPr txBox="1">
            <a:spLocks/>
          </p:cNvSpPr>
          <p:nvPr/>
        </p:nvSpPr>
        <p:spPr>
          <a:xfrm>
            <a:off x="0" y="2456405"/>
            <a:ext cx="12192000" cy="1453215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kern="1200" spc="-150">
                <a:solidFill>
                  <a:schemeClr val="tx1">
                    <a:lumMod val="85000"/>
                    <a:lumOff val="15000"/>
                  </a:schemeClr>
                </a:solidFill>
                <a:latin typeface="다음_Regular" panose="02000603060000000000" pitchFamily="2" charset="-127"/>
                <a:ea typeface="다음_Regular" panose="02000603060000000000" pitchFamily="2" charset="-127"/>
                <a:cs typeface="+mj-cs"/>
              </a:defRPr>
            </a:lvl1pPr>
          </a:lstStyle>
          <a:p>
            <a:pPr lvl="0" algn="ctr">
              <a:defRPr/>
            </a:pPr>
            <a:r>
              <a:rPr lang="en-US" altLang="ko-KR" spc="0" dirty="0">
                <a:solidFill>
                  <a:srgbClr val="003399"/>
                </a:solidFill>
                <a:latin typeface="+mj-lt"/>
                <a:ea typeface="+mj-ea"/>
                <a:cs typeface="KoPubWorld돋움체 Bold" panose="00000800000000000000" pitchFamily="2" charset="-127"/>
              </a:rPr>
              <a:t>End of </a:t>
            </a:r>
            <a:r>
              <a:rPr lang="en-US" altLang="ko-KR" spc="0" dirty="0" smtClean="0">
                <a:solidFill>
                  <a:srgbClr val="003399"/>
                </a:solidFill>
                <a:latin typeface="+mj-lt"/>
                <a:ea typeface="+mj-ea"/>
                <a:cs typeface="KoPubWorld돋움체 Bold" panose="00000800000000000000" pitchFamily="2" charset="-127"/>
              </a:rPr>
              <a:t>Document.</a:t>
            </a:r>
            <a:endParaRPr lang="ko-KR" altLang="en-US" spc="0" dirty="0">
              <a:solidFill>
                <a:srgbClr val="003399"/>
              </a:solidFill>
              <a:latin typeface="+mj-lt"/>
              <a:ea typeface="+mj-ea"/>
              <a:cs typeface="KoPubWorld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05517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SemiBold"/>
        <a:ea typeface="Pretendard SemiBold"/>
        <a:cs typeface=""/>
      </a:majorFont>
      <a:minorFont>
        <a:latin typeface="Pretendard Light"/>
        <a:ea typeface="Pretendard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32663</TotalTime>
  <Words>1259</Words>
  <Application>Microsoft Office PowerPoint</Application>
  <PresentationFormat>와이드스크린</PresentationFormat>
  <Paragraphs>273</Paragraphs>
  <Slides>27</Slides>
  <Notes>22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7" baseType="lpstr">
      <vt:lpstr>Pretendard SemiBold</vt:lpstr>
      <vt:lpstr>맑은 고딕</vt:lpstr>
      <vt:lpstr>Pretendard Medium</vt:lpstr>
      <vt:lpstr>Pretendard</vt:lpstr>
      <vt:lpstr>Arial</vt:lpstr>
      <vt:lpstr>Pretendard Light</vt:lpstr>
      <vt:lpstr>KoPubWorld돋움체 Bold</vt:lpstr>
      <vt:lpstr>Noto Sans KR</vt:lpstr>
      <vt:lpstr>Pretendard ExtraBold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이병헌(Byung Heon Lee)</dc:creator>
  <cp:lastModifiedBy>이병헌/ByungHeon Lee</cp:lastModifiedBy>
  <cp:revision>3873</cp:revision>
  <cp:lastPrinted>2025-07-24T05:13:39Z</cp:lastPrinted>
  <dcterms:created xsi:type="dcterms:W3CDTF">2024-12-02T05:24:56Z</dcterms:created>
  <dcterms:modified xsi:type="dcterms:W3CDTF">2026-07-27T09:22:53Z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